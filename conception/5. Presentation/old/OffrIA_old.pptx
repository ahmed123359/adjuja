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4610"/>
  </p:normalViewPr>
  <p:slideViewPr>
    <p:cSldViewPr snapToGrid="0" snapToObjects="1">
      <p:cViewPr>
        <p:scale>
          <a:sx n="153" d="100"/>
          <a:sy n="153" d="100"/>
        </p:scale>
        <p:origin x="168"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61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je vous présente OffrIA, une solution qui va transformer votre approche des marchés publics. Nous ne parlons pas d'un simple outil, mais d'un véritable avantage concurrentiel. Mon objectif n'était pas de créer un chatbot, mais un commercial infatigable. Imaginez un collaborateur qui travaille sans relâche, répondant à des dizaines d'appels d'offres pendant que vous vous concentrez sur l'essentiel. OffrIA, c'est l'intelligence artificielle qui remporte vos marchés, en vous offrant une capacité de réponse inégalée. Passons maintenant au problème que nous résolvons.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Maroc est un marché en pleine transformation, offrant une opportunité unique pour l'investissement public. En 2024, l'investissement public atteindra un volume record de 335 milliards de dirhams, en hausse de 11,6% par rapport à 2023. Cette dynamique est soutenue par une percée des PME, qui ont obtenu 35% des marchés en 2023, dépassant l'objectif légal de 30%. Le marché est vaste, avec plus de 20 000 appels d'offres publiés annuellement via le Portail Marocain des Marchés Publics. La modernisation est également visible dans l'efficacité des processus, avec des délais de paiement réduits à 17,5 jours et des délais de traitement optimisés à 33,9 jours. Ce contexte spécifique rend notre solution encore plus pertinente. Maintenant, imaginez une transformation radicale de ce processus.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vision est simple et audacieuse : et si une IA pouvait lire l'appel d'offres à votre place ? OffrIA transforme 38 heures de travail en moins de deux minutes. Vous nous donnez un PDF, notre IA l'analyse, le comprend, et génère une réponse structurée et professionnelle. Elle ne se contente pas de lire, elle intègre le contexte métier, vos références, et vos atouts. C'est une réponse sur-mesure, prête à être soumise en un temps record. Voyons comment nous y parvenons avec notre solution.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solution est un moteur intelligent qui transforme la façon dont vous répondez aux appels d'offres. Nous commençons par un parsing intelligent, extrayant automatiquement toutes les informations clés de l'AO. Ensuite, notre prompt engineering métier construit des requêtes ultra-contextualisées pour les modèles d'IA. Mais ce qui nous distingue vraiment, c'est l'intégration de la Récupération Augmentée de Génération, ou RAG. Cela signifie que chaque réponse est enrichie par votre propre base de connaissances, garantissant une précision et une cohérence inégalées. Et avec notre architecture multi-LLM, vous choisissez le modèle d'IA le plus adapté à chaque situation, que ce soit pour la complexité, la créativité ou la souveraineté des données. C'est une approche sur mesure pour chaque appel d'offres. Voyons maintenant pourquoi OffrIA se démarque vraiment de la concurrence.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OffrIA n'est pas juste une autre solution d'IA; c'est une longueur d'avance stratégique. Nous avons délibérément conçu OffrIA pour surpasser la concurrence sur des critères essentiels. Nous offrons une flexibilité inégalée avec le multi-provider LLM, vous permettant de choisir le meilleur modèle pour chaque situation. Notre parsing automatique des appels d'offres est le plus avancé du marché, et nous contextualisons chaque réponse avec votre profil d'entreprise unique. De plus, notre API intégrable et l'hébergement souverain avec Mistral garantissent sécurité et adaptabilité. Et tout ça, avec un cœur open-source. C'est pourquoi McKinsey prévoit que les entreprises comme la vôtre, qui adoptent l'IA, capteront 30% de parts de marché supplémentaires d'ici 2026. Ce n'est pas une option, c'est une nécessité. Et les résultats concrets de cette avance, vous allez les voir tout de suite.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différenciateurs se traduisent par un impact direct et mesurable sur votre activité. Nous parlons d'une transformation radicale de votre capacité à répondre aux appels d'offres. Imaginez passer de 38 heures à moins de 2 minutes par réponse. Cela signifie que vous pouvez traiter jusqu'à 25 fois plus d'appels d'offres chaque mois. Et le coût ? Il passe de 3 000 euros à quelques centimes. OffrIA ne remplace pas vos équipes; elle démultiplie leur efficacité. Nous visons un taux de réponse de plus de 80%, vous ouvrant des marchés que vous n'auriez jamais pu envisager auparavant. Mais comment tout cela est-il possible ? C'est grâce à une architecture technique pensée pour la performance et la simplicité.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vu l'impact, parlons argent. La transparence des coûts est essentielle avec OffrIA. Vous choisissez votre fournisseur et voyez exactement ce que vous payez. Un rédacteur humain coûte environ 908 MAD pour une réponse à un appel d'offres. OffrIA, elle, ne coûte que 1,65 MAD pour la même tâche. C'est une réduction de coût de 545 fois. Cela vous permet de scaler vos réponses sans augmenter vos effectifs. La vraie question n'est pas combien OffrIA coûte, mais combien elle vous rapporte. Un seul marché remporté grâce à OffrIA rembourse des années d'utilisation. Cette efficacité est rendue possible par une architecture technique robuste et intelligente.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Derrière ces chiffres impressionnants se cache une architecture technique robuste et élégante, conçue pour être à la fois puissante et facile à déployer. Nous avons bâti OffrIA sur une stack moderne et éprouvée, avec Python, FastAPI et Docker. Le cœur de notre système est un pipeline intelligent qui prend votre appel d'offres, le parse, construit un prompt métier ultra-contextualisé, puis le soumet au meilleur LLM pour générer une réponse structurée. Cette architecture est entièrement basée sur une API REST, ce qui signifie que vous pouvez l'intégrer sans effort dans vos systèmes existants, qu'il s'agisse de votre ERP ou de votre CRM. Et le meilleur ? Grâce à Docker, vous pouvez déployer cette puissance en moins de 5 minutes, que ce soit sur vos serveurs ou dans le cloud. Mais ce n'est que le début de l'aventure.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robuste n'est que le point de départ; notre feuille de route ambitieuse démontre notre engagement envers l'innovation continue. La version 1.0, déjà disponible, pose les bases avec une API REST performante, le parsing automatique des appels d'offres et la flexibilité du multi-LLM. Mais nous ne nous arrêtons pas là. Le prochain trimestre, la version 1.5 introduira une interface web intuitive et un historique des réponses, rendant OffrIA encore plus accessible. En 2025, la version 2.0 permettra le fine-tuning sur vos corpus d'appels d'offres remportés et un scoring prédictif, maximisant vos chances de succès. Chaque étape de cette feuille de route est conçue pour renforcer votre avantage concurrentiel. Êtes-vous prêt à nous rejoindre dans cette transformation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exploré notre vision et notre feuille de route, il est temps de passer à l'action et de transformer votre approche des marchés publics. Démarrer avec OffrIA est incroyablement simple et rapide. En quelques lignes de commande, vous pouvez cloner notre dépôt et lancer votre premier appel d'offres généré en moins de 90 secondes. C'est la promesse d'OffrIA : une efficacité immédiate, une capacité décuplée. Je suis Mohamed Echcharif EL JAZOULI, l'architecte derrière cette solution, et je suis convaincu que chaque appel d'offres mérite une réponse de qualité. Ne laissez plus de marchés vous échapper. Contactez-nous dès aujourd'hui pour une démonstration personnalisée et découvrez comment OffrIA peut révolutionner votre business.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ceux qui souhaitent approfondir les données et les tendances du marché public marocain, nous avons compilé une liste de sources fiables. Ces références confirment l'ampleur de l'investissement public de 335 MMDH et la modernisation en cours. Elles attestent de la percée des PME, du vaste marché de plus de 20 000 appels d'offres annuels, et de l'amélioration des délais de paiement et de traitement. Ces données soulignent l'opportunité immense que représente le marché marocain, et pourquoi une solution comme OffrIA est plus pertinente que jamais pour naviguer ce paysage dynamique.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6286500" cy="5143500"/>
          </a:xfrm>
          <a:prstGeom prst="rect">
            <a:avLst/>
          </a:prstGeom>
          <a:solidFill>
            <a:srgbClr val="000000">
              <a:alpha val="0"/>
            </a:srgbClr>
          </a:solidFill>
          <a:ln/>
        </p:spPr>
        <p:txBody>
          <a:bodyPr/>
          <a:lstStyle/>
          <a:p>
            <a:endParaRPr lang="fr-FR"/>
          </a:p>
        </p:txBody>
      </p:sp>
      <p:sp>
        <p:nvSpPr>
          <p:cNvPr id="5" name="Shape 1"/>
          <p:cNvSpPr/>
          <p:nvPr/>
        </p:nvSpPr>
        <p:spPr>
          <a:xfrm>
            <a:off x="6279356" y="0"/>
            <a:ext cx="7144" cy="5143500"/>
          </a:xfrm>
          <a:prstGeom prst="rect">
            <a:avLst/>
          </a:prstGeom>
          <a:solidFill>
            <a:srgbClr val="E5E5E5"/>
          </a:solidFill>
          <a:ln/>
        </p:spPr>
        <p:txBody>
          <a:bodyPr/>
          <a:lstStyle/>
          <a:p>
            <a:endParaRPr lang="fr-FR"/>
          </a:p>
        </p:txBody>
      </p:sp>
      <p:sp>
        <p:nvSpPr>
          <p:cNvPr id="6" name="Text 2"/>
          <p:cNvSpPr/>
          <p:nvPr/>
        </p:nvSpPr>
        <p:spPr>
          <a:xfrm>
            <a:off x="428625" y="571500"/>
            <a:ext cx="5429250" cy="771525"/>
          </a:xfrm>
          <a:prstGeom prst="rect">
            <a:avLst/>
          </a:prstGeom>
          <a:noFill/>
          <a:ln/>
        </p:spPr>
        <p:txBody>
          <a:bodyPr wrap="none" lIns="0" tIns="0" rIns="0" bIns="0" rtlCol="0" anchor="t">
            <a:spAutoFit/>
          </a:bodyPr>
          <a:lstStyle/>
          <a:p>
            <a:pPr marL="0" indent="0" algn="l">
              <a:lnSpc>
                <a:spcPts val="6100"/>
              </a:lnSpc>
              <a:buNone/>
            </a:pPr>
            <a:r>
              <a:rPr lang="en-US" sz="6218" b="1" kern="0" spc="-2" dirty="0">
                <a:solidFill>
                  <a:srgbClr val="1A1A1A"/>
                </a:solidFill>
                <a:latin typeface="Playfair Display" pitchFamily="34" charset="0"/>
                <a:ea typeface="Playfair Display" pitchFamily="34" charset="-122"/>
                <a:cs typeface="Playfair Display" pitchFamily="34" charset="-120"/>
              </a:rPr>
              <a:t>OffrIA</a:t>
            </a:r>
            <a:endParaRPr lang="en-US" sz="6218" dirty="0"/>
          </a:p>
        </p:txBody>
      </p:sp>
      <p:sp>
        <p:nvSpPr>
          <p:cNvPr id="7" name="Text 3"/>
          <p:cNvSpPr/>
          <p:nvPr/>
        </p:nvSpPr>
        <p:spPr>
          <a:xfrm>
            <a:off x="428625" y="1485900"/>
            <a:ext cx="5429250" cy="22681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L'IA QUI REMPORTE VOS MARCHÉS.</a:t>
            </a:r>
            <a:endParaRPr lang="en-US" sz="1193" dirty="0"/>
          </a:p>
        </p:txBody>
      </p:sp>
      <p:sp>
        <p:nvSpPr>
          <p:cNvPr id="8" name="Text 4"/>
          <p:cNvSpPr/>
          <p:nvPr/>
        </p:nvSpPr>
        <p:spPr>
          <a:xfrm>
            <a:off x="428625" y="4061222"/>
            <a:ext cx="542925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9" name="Text 5"/>
          <p:cNvSpPr/>
          <p:nvPr/>
        </p:nvSpPr>
        <p:spPr>
          <a:xfrm>
            <a:off x="428625" y="4421981"/>
            <a:ext cx="5429250" cy="150019"/>
          </a:xfrm>
          <a:prstGeom prst="rect">
            <a:avLst/>
          </a:prstGeom>
          <a:noFill/>
          <a:ln/>
        </p:spPr>
        <p:txBody>
          <a:bodyPr wrap="none" lIns="0" tIns="0" rIns="0" bIns="0" rtlCol="0" anchor="t">
            <a:spAutoFit/>
          </a:bodyPr>
          <a:lstStyle/>
          <a:p>
            <a:pPr marL="0" indent="0" algn="l">
              <a:lnSpc>
                <a:spcPts val="1100"/>
              </a:lnSpc>
              <a:buNone/>
            </a:pPr>
            <a:r>
              <a:rPr lang="en-US" sz="834" kern="0" spc="1"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0" name="Shape 6"/>
          <p:cNvSpPr/>
          <p:nvPr/>
        </p:nvSpPr>
        <p:spPr>
          <a:xfrm>
            <a:off x="6286500" y="0"/>
            <a:ext cx="2857500" cy="5143500"/>
          </a:xfrm>
          <a:prstGeom prst="rect">
            <a:avLst/>
          </a:prstGeom>
          <a:solidFill>
            <a:srgbClr val="F4F4F5"/>
          </a:solidFill>
          <a:ln/>
        </p:spPr>
        <p:txBody>
          <a:bodyPr/>
          <a:lstStyle/>
          <a:p>
            <a:endParaRPr lang="fr-FR"/>
          </a:p>
        </p:txBody>
      </p:sp>
      <p:sp>
        <p:nvSpPr>
          <p:cNvPr id="11" name="Text 7"/>
          <p:cNvSpPr/>
          <p:nvPr/>
        </p:nvSpPr>
        <p:spPr>
          <a:xfrm>
            <a:off x="6429375" y="1404528"/>
            <a:ext cx="358973" cy="1141214"/>
          </a:xfrm>
          <a:prstGeom prst="rect">
            <a:avLst/>
          </a:prstGeom>
          <a:noFill/>
          <a:ln/>
        </p:spPr>
        <p:txBody>
          <a:bodyPr wrap="none" lIns="0" tIns="0" rIns="0" bIns="0" rtlCol="0" anchor="t">
            <a:spAutoFit/>
          </a:bodyPr>
          <a:lstStyle/>
          <a:p>
            <a:pPr marL="0" indent="0" algn="l">
              <a:lnSpc>
                <a:spcPts val="8100"/>
              </a:lnSpc>
              <a:buNone/>
            </a:pPr>
            <a:r>
              <a:rPr lang="en-US" sz="6615" dirty="0">
                <a:solidFill>
                  <a:srgbClr val="E5E5E5"/>
                </a:solidFill>
                <a:latin typeface="Playfair Display" pitchFamily="34" charset="0"/>
                <a:ea typeface="Playfair Display" pitchFamily="34" charset="-122"/>
                <a:cs typeface="Playfair Display" pitchFamily="34" charset="-120"/>
              </a:rPr>
              <a:t>“</a:t>
            </a:r>
            <a:endParaRPr lang="en-US" sz="6615" dirty="0"/>
          </a:p>
        </p:txBody>
      </p:sp>
      <p:sp>
        <p:nvSpPr>
          <p:cNvPr id="12" name="Text 8"/>
          <p:cNvSpPr/>
          <p:nvPr/>
        </p:nvSpPr>
        <p:spPr>
          <a:xfrm>
            <a:off x="6572250" y="1833153"/>
            <a:ext cx="2286000" cy="1234306"/>
          </a:xfrm>
          <a:prstGeom prst="rect">
            <a:avLst/>
          </a:prstGeom>
          <a:noFill/>
          <a:ln/>
        </p:spPr>
        <p:txBody>
          <a:bodyPr wrap="square" lIns="0" tIns="0" rIns="0" bIns="0" rtlCol="0" anchor="t">
            <a:spAutoFit/>
          </a:bodyPr>
          <a:lstStyle/>
          <a:p>
            <a:pPr marL="0" indent="0" algn="l">
              <a:lnSpc>
                <a:spcPts val="1600"/>
              </a:lnSpc>
              <a:buNone/>
            </a:pPr>
            <a:r>
              <a:rPr lang="en-US" sz="942" i="1" dirty="0">
                <a:solidFill>
                  <a:srgbClr val="1A1A1A"/>
                </a:solidFill>
                <a:latin typeface="JetBrains Mono" pitchFamily="34" charset="0"/>
                <a:ea typeface="JetBrains Mono" pitchFamily="34" charset="-122"/>
                <a:cs typeface="JetBrains Mono" pitchFamily="34" charset="-120"/>
              </a:rPr>
              <a:t>Je n'ai pas créé un chatbot. J'ai créé un commercial qui ne dort jamais, ne se fatigue pas, et répond à 50 appels d'offres pendant que vous dormez.</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428625"/>
            <a:ext cx="3429000" cy="4714875"/>
          </a:xfrm>
          <a:prstGeom prst="rect">
            <a:avLst/>
          </a:prstGeom>
          <a:solidFill>
            <a:srgbClr val="000000">
              <a:alpha val="0"/>
            </a:srgbClr>
          </a:solidFill>
          <a:ln/>
        </p:spPr>
        <p:txBody>
          <a:bodyPr/>
          <a:lstStyle/>
          <a:p>
            <a:endParaRPr lang="fr-FR"/>
          </a:p>
        </p:txBody>
      </p:sp>
      <p:sp>
        <p:nvSpPr>
          <p:cNvPr id="5" name="Shape 1"/>
          <p:cNvSpPr/>
          <p:nvPr/>
        </p:nvSpPr>
        <p:spPr>
          <a:xfrm>
            <a:off x="3421856" y="428625"/>
            <a:ext cx="7144" cy="4714875"/>
          </a:xfrm>
          <a:prstGeom prst="rect">
            <a:avLst/>
          </a:prstGeom>
          <a:solidFill>
            <a:srgbClr val="E5E5E5"/>
          </a:solidFill>
          <a:ln/>
        </p:spPr>
        <p:txBody>
          <a:bodyPr/>
          <a:lstStyle/>
          <a:p>
            <a:endParaRPr lang="fr-FR"/>
          </a:p>
        </p:txBody>
      </p:sp>
      <p:sp>
        <p:nvSpPr>
          <p:cNvPr id="6" name="Text 2"/>
          <p:cNvSpPr/>
          <p:nvPr/>
        </p:nvSpPr>
        <p:spPr>
          <a:xfrm>
            <a:off x="428625" y="428625"/>
            <a:ext cx="2714625" cy="298586"/>
          </a:xfrm>
          <a:prstGeom prst="rect">
            <a:avLst/>
          </a:prstGeom>
          <a:noFill/>
          <a:ln/>
        </p:spPr>
        <p:txBody>
          <a:bodyPr wrap="none" lIns="0" tIns="0" rIns="0" bIns="0" rtlCol="0" anchor="t">
            <a:spAutoFit/>
          </a:bodyPr>
          <a:lstStyle/>
          <a:p>
            <a:pPr marL="0" indent="0" algn="l">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Contexte Marocain</a:t>
            </a:r>
            <a:endParaRPr lang="en-US" sz="1912" dirty="0"/>
          </a:p>
        </p:txBody>
      </p:sp>
      <p:sp>
        <p:nvSpPr>
          <p:cNvPr id="7" name="Text 3"/>
          <p:cNvSpPr/>
          <p:nvPr/>
        </p:nvSpPr>
        <p:spPr>
          <a:xfrm>
            <a:off x="428625" y="941524"/>
            <a:ext cx="2714625" cy="457200"/>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FF4D4D"/>
                </a:solidFill>
                <a:latin typeface="Playfair Display" pitchFamily="34" charset="0"/>
                <a:ea typeface="Playfair Display" pitchFamily="34" charset="-122"/>
                <a:cs typeface="Playfair Display" pitchFamily="34" charset="-120"/>
              </a:rPr>
              <a:t>335 MMDH</a:t>
            </a:r>
            <a:endParaRPr lang="en-US" sz="2436" dirty="0"/>
          </a:p>
        </p:txBody>
      </p:sp>
      <p:sp>
        <p:nvSpPr>
          <p:cNvPr id="8" name="Text 4"/>
          <p:cNvSpPr/>
          <p:nvPr/>
        </p:nvSpPr>
        <p:spPr>
          <a:xfrm>
            <a:off x="428625" y="1470161"/>
            <a:ext cx="2714625" cy="132159"/>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66666"/>
                </a:solidFill>
                <a:latin typeface="JetBrains Mono" pitchFamily="34" charset="0"/>
                <a:ea typeface="JetBrains Mono" pitchFamily="34" charset="-122"/>
                <a:cs typeface="JetBrains Mono" pitchFamily="34" charset="-120"/>
              </a:rPr>
              <a:t>INVESTISSEMENT PUBLIC (2024)</a:t>
            </a:r>
            <a:endParaRPr lang="en-US" sz="727" dirty="0"/>
          </a:p>
        </p:txBody>
      </p:sp>
      <p:sp>
        <p:nvSpPr>
          <p:cNvPr id="9" name="Text 5"/>
          <p:cNvSpPr/>
          <p:nvPr/>
        </p:nvSpPr>
        <p:spPr>
          <a:xfrm>
            <a:off x="428625" y="1959508"/>
            <a:ext cx="1611809" cy="191095"/>
          </a:xfrm>
          <a:prstGeom prst="rect">
            <a:avLst/>
          </a:prstGeom>
          <a:noFill/>
          <a:ln/>
        </p:spPr>
        <p:txBody>
          <a:bodyPr wrap="square" lIns="0" tIns="0" rIns="0" bIns="85090" rtlCol="0" anchor="ctr">
            <a:spAutoFit/>
          </a:bodyPr>
          <a:lstStyle/>
          <a:p>
            <a:pPr marL="0" indent="0" algn="l">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Source (PLF 2024)</a:t>
            </a:r>
            <a:endParaRPr lang="en-US" sz="584" dirty="0"/>
          </a:p>
        </p:txBody>
      </p:sp>
      <p:sp>
        <p:nvSpPr>
          <p:cNvPr id="10" name="Text 6"/>
          <p:cNvSpPr/>
          <p:nvPr/>
        </p:nvSpPr>
        <p:spPr>
          <a:xfrm>
            <a:off x="2040434" y="1959508"/>
            <a:ext cx="678656" cy="191095"/>
          </a:xfrm>
          <a:prstGeom prst="rect">
            <a:avLst/>
          </a:prstGeom>
          <a:noFill/>
          <a:ln/>
        </p:spPr>
        <p:txBody>
          <a:bodyPr wrap="square" lIns="0" tIns="0" rIns="0" bIns="85090" rtlCol="0" anchor="ctr">
            <a:spAutoFit/>
          </a:bodyPr>
          <a:lstStyle/>
          <a:p>
            <a:pPr marL="0" indent="0" algn="l">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Montant</a:t>
            </a:r>
            <a:endParaRPr lang="en-US" sz="584" dirty="0"/>
          </a:p>
        </p:txBody>
      </p:sp>
      <p:sp>
        <p:nvSpPr>
          <p:cNvPr id="11" name="Text 7"/>
          <p:cNvSpPr/>
          <p:nvPr/>
        </p:nvSpPr>
        <p:spPr>
          <a:xfrm>
            <a:off x="2719090" y="1959508"/>
            <a:ext cx="424160" cy="191095"/>
          </a:xfrm>
          <a:prstGeom prst="rect">
            <a:avLst/>
          </a:prstGeom>
          <a:noFill/>
          <a:ln/>
        </p:spPr>
        <p:txBody>
          <a:bodyPr wrap="square" lIns="0" tIns="0" rIns="0" bIns="85090" rtlCol="0" anchor="ctr">
            <a:spAutoFit/>
          </a:bodyPr>
          <a:lstStyle/>
          <a:p>
            <a:pPr marL="0" indent="0" algn="l">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a:t>
            </a:r>
            <a:endParaRPr lang="en-US" sz="584" dirty="0"/>
          </a:p>
        </p:txBody>
      </p:sp>
      <p:sp>
        <p:nvSpPr>
          <p:cNvPr id="12" name="Text 8"/>
          <p:cNvSpPr/>
          <p:nvPr/>
        </p:nvSpPr>
        <p:spPr>
          <a:xfrm>
            <a:off x="428625" y="2150604"/>
            <a:ext cx="1611809" cy="266105"/>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EEP (ONEE, OCP...)</a:t>
            </a:r>
            <a:endParaRPr lang="en-US" sz="621" dirty="0"/>
          </a:p>
        </p:txBody>
      </p:sp>
      <p:sp>
        <p:nvSpPr>
          <p:cNvPr id="13" name="Text 9"/>
          <p:cNvSpPr/>
          <p:nvPr/>
        </p:nvSpPr>
        <p:spPr>
          <a:xfrm>
            <a:off x="2040434" y="2150604"/>
            <a:ext cx="678656" cy="266105"/>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152 MMDH</a:t>
            </a:r>
            <a:endParaRPr lang="en-US" sz="621" dirty="0"/>
          </a:p>
        </p:txBody>
      </p:sp>
      <p:sp>
        <p:nvSpPr>
          <p:cNvPr id="14" name="Text 10"/>
          <p:cNvSpPr/>
          <p:nvPr/>
        </p:nvSpPr>
        <p:spPr>
          <a:xfrm>
            <a:off x="2719090" y="2150604"/>
            <a:ext cx="424160" cy="266105"/>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45,4%</a:t>
            </a:r>
            <a:endParaRPr lang="en-US" sz="621" dirty="0"/>
          </a:p>
        </p:txBody>
      </p:sp>
      <p:sp>
        <p:nvSpPr>
          <p:cNvPr id="15" name="Text 11"/>
          <p:cNvSpPr/>
          <p:nvPr/>
        </p:nvSpPr>
        <p:spPr>
          <a:xfrm>
            <a:off x="428625" y="2416708"/>
            <a:ext cx="1611809"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Budget de l'État</a:t>
            </a:r>
            <a:endParaRPr lang="en-US" sz="621" dirty="0"/>
          </a:p>
        </p:txBody>
      </p:sp>
      <p:sp>
        <p:nvSpPr>
          <p:cNvPr id="16" name="Text 12"/>
          <p:cNvSpPr/>
          <p:nvPr/>
        </p:nvSpPr>
        <p:spPr>
          <a:xfrm>
            <a:off x="2040434" y="2416708"/>
            <a:ext cx="678656"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103 MMDH</a:t>
            </a:r>
            <a:endParaRPr lang="en-US" sz="621" dirty="0"/>
          </a:p>
        </p:txBody>
      </p:sp>
      <p:sp>
        <p:nvSpPr>
          <p:cNvPr id="17" name="Text 13"/>
          <p:cNvSpPr/>
          <p:nvPr/>
        </p:nvSpPr>
        <p:spPr>
          <a:xfrm>
            <a:off x="2719090" y="2416708"/>
            <a:ext cx="424160"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30,7%</a:t>
            </a:r>
            <a:endParaRPr lang="en-US" sz="621" dirty="0"/>
          </a:p>
        </p:txBody>
      </p:sp>
      <p:sp>
        <p:nvSpPr>
          <p:cNvPr id="18" name="Text 14"/>
          <p:cNvSpPr/>
          <p:nvPr/>
        </p:nvSpPr>
        <p:spPr>
          <a:xfrm>
            <a:off x="428625" y="2679241"/>
            <a:ext cx="1611809"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Fonds Mohammed VI</a:t>
            </a:r>
            <a:endParaRPr lang="en-US" sz="621" dirty="0"/>
          </a:p>
        </p:txBody>
      </p:sp>
      <p:sp>
        <p:nvSpPr>
          <p:cNvPr id="19" name="Text 15"/>
          <p:cNvSpPr/>
          <p:nvPr/>
        </p:nvSpPr>
        <p:spPr>
          <a:xfrm>
            <a:off x="2040434" y="2679241"/>
            <a:ext cx="678656"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45 MMDH</a:t>
            </a:r>
            <a:endParaRPr lang="en-US" sz="621" dirty="0"/>
          </a:p>
        </p:txBody>
      </p:sp>
      <p:sp>
        <p:nvSpPr>
          <p:cNvPr id="20" name="Text 16"/>
          <p:cNvSpPr/>
          <p:nvPr/>
        </p:nvSpPr>
        <p:spPr>
          <a:xfrm>
            <a:off x="2719090" y="2679241"/>
            <a:ext cx="424160"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13,4%</a:t>
            </a:r>
            <a:endParaRPr lang="en-US" sz="621" dirty="0"/>
          </a:p>
        </p:txBody>
      </p:sp>
      <p:sp>
        <p:nvSpPr>
          <p:cNvPr id="21" name="Text 17"/>
          <p:cNvSpPr/>
          <p:nvPr/>
        </p:nvSpPr>
        <p:spPr>
          <a:xfrm>
            <a:off x="428625" y="2941774"/>
            <a:ext cx="1611809"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Collectivités Terr.</a:t>
            </a:r>
            <a:endParaRPr lang="en-US" sz="621" dirty="0"/>
          </a:p>
        </p:txBody>
      </p:sp>
      <p:sp>
        <p:nvSpPr>
          <p:cNvPr id="22" name="Text 18"/>
          <p:cNvSpPr/>
          <p:nvPr/>
        </p:nvSpPr>
        <p:spPr>
          <a:xfrm>
            <a:off x="2040434" y="2941774"/>
            <a:ext cx="678656"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20 MMDH</a:t>
            </a:r>
            <a:endParaRPr lang="en-US" sz="621" dirty="0"/>
          </a:p>
        </p:txBody>
      </p:sp>
      <p:sp>
        <p:nvSpPr>
          <p:cNvPr id="23" name="Text 19"/>
          <p:cNvSpPr/>
          <p:nvPr/>
        </p:nvSpPr>
        <p:spPr>
          <a:xfrm>
            <a:off x="2719090" y="2941774"/>
            <a:ext cx="424160" cy="262533"/>
          </a:xfrm>
          <a:prstGeom prst="rect">
            <a:avLst/>
          </a:prstGeom>
          <a:noFill/>
          <a:ln/>
        </p:spPr>
        <p:txBody>
          <a:bodyPr wrap="square" lIns="0" tIns="85090" rIns="0" bIns="85090" rtlCol="0" anchor="ctr">
            <a:spAutoFit/>
          </a:bodyPr>
          <a:lstStyle/>
          <a:p>
            <a:pPr marL="0" indent="0" algn="l">
              <a:lnSpc>
                <a:spcPts val="800"/>
              </a:lnSpc>
              <a:buNone/>
            </a:pPr>
            <a:r>
              <a:rPr lang="en-US" sz="621" dirty="0">
                <a:solidFill>
                  <a:srgbClr val="1A1A1A"/>
                </a:solidFill>
                <a:latin typeface="JetBrains Mono" pitchFamily="34" charset="0"/>
                <a:ea typeface="JetBrains Mono" pitchFamily="34" charset="-122"/>
                <a:cs typeface="JetBrains Mono" pitchFamily="34" charset="-120"/>
              </a:rPr>
              <a:t>6,0%</a:t>
            </a:r>
            <a:endParaRPr lang="en-US" sz="621" dirty="0"/>
          </a:p>
        </p:txBody>
      </p:sp>
      <p:sp>
        <p:nvSpPr>
          <p:cNvPr id="24" name="Shape 20"/>
          <p:cNvSpPr/>
          <p:nvPr/>
        </p:nvSpPr>
        <p:spPr>
          <a:xfrm>
            <a:off x="3429000" y="0"/>
            <a:ext cx="5715000" cy="5143500"/>
          </a:xfrm>
          <a:prstGeom prst="rect">
            <a:avLst/>
          </a:prstGeom>
          <a:solidFill>
            <a:srgbClr val="F9F9FA"/>
          </a:solidFill>
          <a:ln/>
        </p:spPr>
        <p:txBody>
          <a:bodyPr/>
          <a:lstStyle/>
          <a:p>
            <a:endParaRPr lang="fr-FR"/>
          </a:p>
        </p:txBody>
      </p:sp>
      <p:sp>
        <p:nvSpPr>
          <p:cNvPr id="25" name="Text 21"/>
          <p:cNvSpPr/>
          <p:nvPr/>
        </p:nvSpPr>
        <p:spPr>
          <a:xfrm>
            <a:off x="4021931" y="714375"/>
            <a:ext cx="2157413"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35% PME</a:t>
            </a:r>
            <a:endParaRPr lang="en-US" sz="1397" dirty="0"/>
          </a:p>
        </p:txBody>
      </p:sp>
      <p:sp>
        <p:nvSpPr>
          <p:cNvPr id="26" name="Text 22"/>
          <p:cNvSpPr/>
          <p:nvPr/>
        </p:nvSpPr>
        <p:spPr>
          <a:xfrm>
            <a:off x="4021931" y="1016198"/>
            <a:ext cx="2157413"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Part des marchés attribués en 2023 (Objectif légal: 30%).</a:t>
            </a:r>
            <a:endParaRPr lang="en-US" sz="674" dirty="0"/>
          </a:p>
        </p:txBody>
      </p:sp>
      <p:sp>
        <p:nvSpPr>
          <p:cNvPr id="27" name="Text 23"/>
          <p:cNvSpPr/>
          <p:nvPr/>
        </p:nvSpPr>
        <p:spPr>
          <a:xfrm>
            <a:off x="6557963" y="714375"/>
            <a:ext cx="2157413"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20 000 AO</a:t>
            </a:r>
            <a:endParaRPr lang="en-US" sz="1397" dirty="0"/>
          </a:p>
        </p:txBody>
      </p:sp>
      <p:sp>
        <p:nvSpPr>
          <p:cNvPr id="28" name="Text 24"/>
          <p:cNvSpPr/>
          <p:nvPr/>
        </p:nvSpPr>
        <p:spPr>
          <a:xfrm>
            <a:off x="6557963" y="1016198"/>
            <a:ext cx="2157413"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Avis de marché publiés annuellement sur le PMMP.</a:t>
            </a:r>
            <a:endParaRPr lang="en-US" sz="674" dirty="0"/>
          </a:p>
        </p:txBody>
      </p:sp>
      <p:sp>
        <p:nvSpPr>
          <p:cNvPr id="29" name="Text 25"/>
          <p:cNvSpPr/>
          <p:nvPr/>
        </p:nvSpPr>
        <p:spPr>
          <a:xfrm>
            <a:off x="4021931" y="1633407"/>
            <a:ext cx="2157413"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4 Offres</a:t>
            </a:r>
            <a:endParaRPr lang="en-US" sz="1397" dirty="0"/>
          </a:p>
        </p:txBody>
      </p:sp>
      <p:sp>
        <p:nvSpPr>
          <p:cNvPr id="30" name="Text 26"/>
          <p:cNvSpPr/>
          <p:nvPr/>
        </p:nvSpPr>
        <p:spPr>
          <a:xfrm>
            <a:off x="4021931" y="1935231"/>
            <a:ext cx="2157413"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Nombre moyen de soumissionnaires par appel d'offres.</a:t>
            </a:r>
            <a:endParaRPr lang="en-US" sz="674" dirty="0"/>
          </a:p>
        </p:txBody>
      </p:sp>
      <p:sp>
        <p:nvSpPr>
          <p:cNvPr id="31" name="Text 27"/>
          <p:cNvSpPr/>
          <p:nvPr/>
        </p:nvSpPr>
        <p:spPr>
          <a:xfrm>
            <a:off x="6557963" y="1633407"/>
            <a:ext cx="2157413"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Digitalisation</a:t>
            </a:r>
            <a:endParaRPr lang="en-US" sz="1397" dirty="0"/>
          </a:p>
        </p:txBody>
      </p:sp>
      <p:sp>
        <p:nvSpPr>
          <p:cNvPr id="32" name="Text 28"/>
          <p:cNvSpPr/>
          <p:nvPr/>
        </p:nvSpPr>
        <p:spPr>
          <a:xfrm>
            <a:off x="6557963" y="1935231"/>
            <a:ext cx="2157413"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Soumission électronique généralisée via marchespublics.gov.ma.</a:t>
            </a:r>
            <a:endParaRPr lang="en-US" sz="674" dirty="0"/>
          </a:p>
        </p:txBody>
      </p:sp>
      <p:sp>
        <p:nvSpPr>
          <p:cNvPr id="33" name="Shape 29"/>
          <p:cNvSpPr/>
          <p:nvPr/>
        </p:nvSpPr>
        <p:spPr>
          <a:xfrm>
            <a:off x="3857625" y="2623877"/>
            <a:ext cx="4857750" cy="1356587"/>
          </a:xfrm>
          <a:prstGeom prst="rect">
            <a:avLst/>
          </a:prstGeom>
          <a:solidFill>
            <a:srgbClr val="FFFFFF"/>
          </a:solidFill>
          <a:ln w="9144">
            <a:solidFill>
              <a:srgbClr val="E5E5E5"/>
            </a:solidFill>
            <a:prstDash val="solid"/>
          </a:ln>
        </p:spPr>
        <p:txBody>
          <a:bodyPr/>
          <a:lstStyle/>
          <a:p>
            <a:endParaRPr lang="fr-FR"/>
          </a:p>
        </p:txBody>
      </p:sp>
      <p:sp>
        <p:nvSpPr>
          <p:cNvPr id="34" name="Text 30"/>
          <p:cNvSpPr/>
          <p:nvPr/>
        </p:nvSpPr>
        <p:spPr>
          <a:xfrm>
            <a:off x="4071938" y="2838190"/>
            <a:ext cx="4429125"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Efficacité &amp; Modernisation</a:t>
            </a:r>
            <a:endParaRPr lang="en-US" sz="1090" dirty="0"/>
          </a:p>
        </p:txBody>
      </p:sp>
      <p:sp>
        <p:nvSpPr>
          <p:cNvPr id="35" name="Text 31"/>
          <p:cNvSpPr/>
          <p:nvPr/>
        </p:nvSpPr>
        <p:spPr>
          <a:xfrm>
            <a:off x="4071938" y="3190019"/>
            <a:ext cx="2107406"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4D4D"/>
                </a:solidFill>
                <a:latin typeface="Playfair Display" pitchFamily="34" charset="0"/>
                <a:ea typeface="Playfair Display" pitchFamily="34" charset="-122"/>
                <a:cs typeface="Playfair Display" pitchFamily="34" charset="-120"/>
              </a:rPr>
              <a:t>17,5 Jours</a:t>
            </a:r>
            <a:endParaRPr lang="en-US" sz="1397" dirty="0"/>
          </a:p>
        </p:txBody>
      </p:sp>
      <p:sp>
        <p:nvSpPr>
          <p:cNvPr id="36" name="Text 32"/>
          <p:cNvSpPr/>
          <p:nvPr/>
        </p:nvSpPr>
        <p:spPr>
          <a:xfrm>
            <a:off x="4071938" y="3491843"/>
            <a:ext cx="2107406"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Délai moyen de paiement en 2023 (État &amp; Collectivités).</a:t>
            </a:r>
            <a:endParaRPr lang="en-US" sz="674" dirty="0"/>
          </a:p>
        </p:txBody>
      </p:sp>
      <p:sp>
        <p:nvSpPr>
          <p:cNvPr id="37" name="Text 33"/>
          <p:cNvSpPr/>
          <p:nvPr/>
        </p:nvSpPr>
        <p:spPr>
          <a:xfrm>
            <a:off x="6393656" y="3190019"/>
            <a:ext cx="2107406" cy="266105"/>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4D4D"/>
                </a:solidFill>
                <a:latin typeface="Playfair Display" pitchFamily="34" charset="0"/>
                <a:ea typeface="Playfair Display" pitchFamily="34" charset="-122"/>
                <a:cs typeface="Playfair Display" pitchFamily="34" charset="-120"/>
              </a:rPr>
              <a:t>33,9 Jours</a:t>
            </a:r>
            <a:endParaRPr lang="en-US" sz="1397" dirty="0"/>
          </a:p>
        </p:txBody>
      </p:sp>
      <p:sp>
        <p:nvSpPr>
          <p:cNvPr id="38" name="Text 34"/>
          <p:cNvSpPr/>
          <p:nvPr/>
        </p:nvSpPr>
        <p:spPr>
          <a:xfrm>
            <a:off x="6393656" y="3491843"/>
            <a:ext cx="2107406"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Délai de traitement global (contre 58j en 2017).</a:t>
            </a:r>
            <a:endParaRPr lang="en-US" sz="67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1140823"/>
          </a:xfrm>
          <a:prstGeom prst="rect">
            <a:avLst/>
          </a:prstGeom>
          <a:solidFill>
            <a:srgbClr val="000000">
              <a:alpha val="0"/>
            </a:srgbClr>
          </a:solidFill>
          <a:ln/>
        </p:spPr>
        <p:txBody>
          <a:bodyPr/>
          <a:lstStyle/>
          <a:p>
            <a:endParaRPr lang="fr-FR"/>
          </a:p>
        </p:txBody>
      </p:sp>
      <p:sp>
        <p:nvSpPr>
          <p:cNvPr id="5" name="Shape 1"/>
          <p:cNvSpPr/>
          <p:nvPr/>
        </p:nvSpPr>
        <p:spPr>
          <a:xfrm>
            <a:off x="428625" y="428625"/>
            <a:ext cx="28575" cy="1140823"/>
          </a:xfrm>
          <a:prstGeom prst="rect">
            <a:avLst/>
          </a:prstGeom>
          <a:solidFill>
            <a:srgbClr val="FF4D4D"/>
          </a:solidFill>
          <a:ln/>
        </p:spPr>
        <p:txBody>
          <a:bodyPr/>
          <a:lstStyle/>
          <a:p>
            <a:endParaRPr lang="fr-FR"/>
          </a:p>
        </p:txBody>
      </p:sp>
      <p:sp>
        <p:nvSpPr>
          <p:cNvPr id="6" name="Text 2"/>
          <p:cNvSpPr/>
          <p:nvPr/>
        </p:nvSpPr>
        <p:spPr>
          <a:xfrm>
            <a:off x="642938" y="428625"/>
            <a:ext cx="8072438" cy="880077"/>
          </a:xfrm>
          <a:prstGeom prst="rect">
            <a:avLst/>
          </a:prstGeom>
          <a:noFill/>
          <a:ln/>
        </p:spPr>
        <p:txBody>
          <a:bodyPr wrap="square" lIns="0" tIns="0" rIns="0" bIns="0" rtlCol="0" anchor="t">
            <a:spAutoFit/>
          </a:bodyPr>
          <a:lstStyle/>
          <a:p>
            <a:pPr marL="0" indent="0" algn="l">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La vision : et si une IA
lisait l'AO à votre place ?</a:t>
            </a:r>
            <a:endParaRPr lang="en-US" sz="2862" dirty="0"/>
          </a:p>
        </p:txBody>
      </p:sp>
      <p:sp>
        <p:nvSpPr>
          <p:cNvPr id="7" name="Text 3"/>
          <p:cNvSpPr/>
          <p:nvPr/>
        </p:nvSpPr>
        <p:spPr>
          <a:xfrm>
            <a:off x="642938" y="1380139"/>
            <a:ext cx="8072438" cy="189309"/>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666666"/>
                </a:solidFill>
                <a:latin typeface="JetBrains Mono" pitchFamily="34" charset="0"/>
                <a:ea typeface="JetBrains Mono" pitchFamily="34" charset="-122"/>
                <a:cs typeface="JetBrains Mono" pitchFamily="34" charset="-120"/>
              </a:rPr>
              <a:t>OffrIA transforme 38 heures de travail en moins de 2 minutes.</a:t>
            </a:r>
            <a:endParaRPr lang="en-US" sz="1050" dirty="0"/>
          </a:p>
        </p:txBody>
      </p:sp>
      <p:sp>
        <p:nvSpPr>
          <p:cNvPr id="8" name="Shape 4"/>
          <p:cNvSpPr/>
          <p:nvPr/>
        </p:nvSpPr>
        <p:spPr>
          <a:xfrm>
            <a:off x="428625" y="1825730"/>
            <a:ext cx="2143125" cy="1167612"/>
          </a:xfrm>
          <a:prstGeom prst="rect">
            <a:avLst/>
          </a:prstGeom>
          <a:solidFill>
            <a:srgbClr val="FFFFFF"/>
          </a:solidFill>
          <a:ln w="9144">
            <a:solidFill>
              <a:srgbClr val="E5E5E5"/>
            </a:solidFill>
            <a:prstDash val="solid"/>
          </a:ln>
        </p:spPr>
        <p:txBody>
          <a:bodyPr/>
          <a:lstStyle/>
          <a:p>
            <a:endParaRPr lang="fr-FR"/>
          </a:p>
        </p:txBody>
      </p:sp>
      <p:pic>
        <p:nvPicPr>
          <p:cNvPr id="9" name="Image 1" descr="preencoded.png"/>
          <p:cNvPicPr>
            <a:picLocks noChangeAspect="1"/>
          </p:cNvPicPr>
          <p:nvPr/>
        </p:nvPicPr>
        <p:blipFill>
          <a:blip r:embed="rId4"/>
          <a:stretch>
            <a:fillRect/>
          </a:stretch>
        </p:blipFill>
        <p:spPr>
          <a:xfrm>
            <a:off x="1393031" y="1929315"/>
            <a:ext cx="214313" cy="285750"/>
          </a:xfrm>
          <a:prstGeom prst="rect">
            <a:avLst/>
          </a:prstGeom>
        </p:spPr>
      </p:pic>
      <p:sp>
        <p:nvSpPr>
          <p:cNvPr id="10" name="Text 5"/>
          <p:cNvSpPr/>
          <p:nvPr/>
        </p:nvSpPr>
        <p:spPr>
          <a:xfrm>
            <a:off x="514350" y="2334723"/>
            <a:ext cx="1971675" cy="228600"/>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Appel d'offres</a:t>
            </a:r>
            <a:endParaRPr lang="en-US" sz="1193" dirty="0"/>
          </a:p>
        </p:txBody>
      </p:sp>
      <p:sp>
        <p:nvSpPr>
          <p:cNvPr id="11" name="Text 6"/>
          <p:cNvSpPr/>
          <p:nvPr/>
        </p:nvSpPr>
        <p:spPr>
          <a:xfrm>
            <a:off x="514350" y="2620473"/>
            <a:ext cx="1971675"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666666"/>
                </a:solidFill>
                <a:latin typeface="JetBrains Mono" pitchFamily="34" charset="0"/>
                <a:ea typeface="JetBrains Mono" pitchFamily="34" charset="-122"/>
                <a:cs typeface="JetBrains Mono" pitchFamily="34" charset="-120"/>
              </a:rPr>
              <a:t>Document PDF brut
Cahier des charges</a:t>
            </a:r>
            <a:endParaRPr lang="en-US" sz="727" dirty="0"/>
          </a:p>
        </p:txBody>
      </p:sp>
      <p:sp>
        <p:nvSpPr>
          <p:cNvPr id="12" name="Shape 7"/>
          <p:cNvSpPr/>
          <p:nvPr/>
        </p:nvSpPr>
        <p:spPr>
          <a:xfrm>
            <a:off x="3500438" y="1818587"/>
            <a:ext cx="2143125" cy="1181900"/>
          </a:xfrm>
          <a:prstGeom prst="rect">
            <a:avLst/>
          </a:prstGeom>
          <a:solidFill>
            <a:srgbClr val="FF4D4D"/>
          </a:solidFill>
          <a:ln w="18288">
            <a:solidFill>
              <a:srgbClr val="FF4D4D"/>
            </a:solidFill>
            <a:prstDash val="solid"/>
          </a:ln>
        </p:spPr>
        <p:txBody>
          <a:bodyPr/>
          <a:lstStyle/>
          <a:p>
            <a:endParaRPr lang="fr-FR"/>
          </a:p>
        </p:txBody>
      </p:sp>
      <p:pic>
        <p:nvPicPr>
          <p:cNvPr id="13" name="Image 2" descr="preencoded.png"/>
          <p:cNvPicPr>
            <a:picLocks noChangeAspect="1"/>
          </p:cNvPicPr>
          <p:nvPr/>
        </p:nvPicPr>
        <p:blipFill>
          <a:blip r:embed="rId5"/>
          <a:stretch>
            <a:fillRect/>
          </a:stretch>
        </p:blipFill>
        <p:spPr>
          <a:xfrm>
            <a:off x="4429125" y="1929315"/>
            <a:ext cx="285750" cy="285750"/>
          </a:xfrm>
          <a:prstGeom prst="rect">
            <a:avLst/>
          </a:prstGeom>
        </p:spPr>
      </p:pic>
      <p:sp>
        <p:nvSpPr>
          <p:cNvPr id="14" name="Text 8"/>
          <p:cNvSpPr/>
          <p:nvPr/>
        </p:nvSpPr>
        <p:spPr>
          <a:xfrm>
            <a:off x="3586163" y="2334723"/>
            <a:ext cx="1971675" cy="228600"/>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FFFF"/>
                </a:solidFill>
                <a:latin typeface="Playfair Display" pitchFamily="34" charset="0"/>
                <a:ea typeface="Playfair Display" pitchFamily="34" charset="-122"/>
                <a:cs typeface="Playfair Display" pitchFamily="34" charset="-120"/>
              </a:rPr>
              <a:t>OFFRIA AI</a:t>
            </a:r>
            <a:endParaRPr lang="en-US" sz="1193" dirty="0"/>
          </a:p>
        </p:txBody>
      </p:sp>
      <p:sp>
        <p:nvSpPr>
          <p:cNvPr id="15" name="Text 9"/>
          <p:cNvSpPr/>
          <p:nvPr/>
        </p:nvSpPr>
        <p:spPr>
          <a:xfrm>
            <a:off x="3586163" y="2620473"/>
            <a:ext cx="1971675"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Analyse · Comprend · Rédige
Extraction intelligente</a:t>
            </a:r>
            <a:endParaRPr lang="en-US" sz="727" dirty="0"/>
          </a:p>
        </p:txBody>
      </p:sp>
      <p:sp>
        <p:nvSpPr>
          <p:cNvPr id="16" name="Shape 10"/>
          <p:cNvSpPr/>
          <p:nvPr/>
        </p:nvSpPr>
        <p:spPr>
          <a:xfrm>
            <a:off x="6572250" y="1712323"/>
            <a:ext cx="2143125" cy="1394427"/>
          </a:xfrm>
          <a:prstGeom prst="rect">
            <a:avLst/>
          </a:prstGeom>
          <a:solidFill>
            <a:srgbClr val="FFFFFF"/>
          </a:solidFill>
          <a:ln w="9144">
            <a:solidFill>
              <a:srgbClr val="E5E5E5"/>
            </a:solidFill>
            <a:prstDash val="solid"/>
          </a:ln>
        </p:spPr>
        <p:txBody>
          <a:bodyPr/>
          <a:lstStyle/>
          <a:p>
            <a:endParaRPr lang="fr-FR"/>
          </a:p>
        </p:txBody>
      </p:sp>
      <p:pic>
        <p:nvPicPr>
          <p:cNvPr id="17" name="Image 3" descr="preencoded.png"/>
          <p:cNvPicPr>
            <a:picLocks noChangeAspect="1"/>
          </p:cNvPicPr>
          <p:nvPr/>
        </p:nvPicPr>
        <p:blipFill>
          <a:blip r:embed="rId6"/>
          <a:stretch>
            <a:fillRect/>
          </a:stretch>
        </p:blipFill>
        <p:spPr>
          <a:xfrm>
            <a:off x="7536656" y="1808764"/>
            <a:ext cx="214313" cy="285750"/>
          </a:xfrm>
          <a:prstGeom prst="rect">
            <a:avLst/>
          </a:prstGeom>
        </p:spPr>
      </p:pic>
      <p:sp>
        <p:nvSpPr>
          <p:cNvPr id="18" name="Text 11"/>
          <p:cNvSpPr/>
          <p:nvPr/>
        </p:nvSpPr>
        <p:spPr>
          <a:xfrm>
            <a:off x="6657975" y="2214172"/>
            <a:ext cx="1971675" cy="228600"/>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Réponse</a:t>
            </a:r>
            <a:endParaRPr lang="en-US" sz="1193" dirty="0"/>
          </a:p>
        </p:txBody>
      </p:sp>
      <p:sp>
        <p:nvSpPr>
          <p:cNvPr id="19" name="Text 12"/>
          <p:cNvSpPr/>
          <p:nvPr/>
        </p:nvSpPr>
        <p:spPr>
          <a:xfrm>
            <a:off x="6657975" y="2499922"/>
            <a:ext cx="1971675"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666666"/>
                </a:solidFill>
                <a:latin typeface="JetBrains Mono" pitchFamily="34" charset="0"/>
                <a:ea typeface="JetBrains Mono" pitchFamily="34" charset="-122"/>
                <a:cs typeface="JetBrains Mono" pitchFamily="34" charset="-120"/>
              </a:rPr>
              <a:t>Structurée &amp; Professionnelle
Prête à soumettre</a:t>
            </a:r>
            <a:endParaRPr lang="en-US" sz="727" dirty="0"/>
          </a:p>
        </p:txBody>
      </p:sp>
      <p:sp>
        <p:nvSpPr>
          <p:cNvPr id="20" name="Shape 13"/>
          <p:cNvSpPr/>
          <p:nvPr/>
        </p:nvSpPr>
        <p:spPr>
          <a:xfrm>
            <a:off x="7405390" y="2837073"/>
            <a:ext cx="476845" cy="169664"/>
          </a:xfrm>
          <a:prstGeom prst="rect">
            <a:avLst/>
          </a:prstGeom>
          <a:solidFill>
            <a:srgbClr val="1A1A1A"/>
          </a:solidFill>
          <a:ln/>
        </p:spPr>
        <p:txBody>
          <a:bodyPr/>
          <a:lstStyle/>
          <a:p>
            <a:endParaRPr lang="fr-FR"/>
          </a:p>
        </p:txBody>
      </p:sp>
      <p:sp>
        <p:nvSpPr>
          <p:cNvPr id="21" name="Text 14"/>
          <p:cNvSpPr/>
          <p:nvPr/>
        </p:nvSpPr>
        <p:spPr>
          <a:xfrm>
            <a:off x="7405390" y="2837073"/>
            <a:ext cx="476845" cy="169664"/>
          </a:xfrm>
          <a:prstGeom prst="rect">
            <a:avLst/>
          </a:prstGeom>
          <a:noFill/>
          <a:ln/>
        </p:spPr>
        <p:txBody>
          <a:bodyPr wrap="square" lIns="68072" tIns="34036" rIns="68072" bIns="34036" rtlCol="0" anchor="t">
            <a:spAutoFit/>
          </a:bodyPr>
          <a:lstStyle/>
          <a:p>
            <a:pPr marL="0" indent="0" algn="ctr">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&lt; 2 min</a:t>
            </a:r>
            <a:endParaRPr lang="en-US" sz="584" dirty="0"/>
          </a:p>
        </p:txBody>
      </p:sp>
      <p:sp>
        <p:nvSpPr>
          <p:cNvPr id="22" name="Shape 15"/>
          <p:cNvSpPr/>
          <p:nvPr/>
        </p:nvSpPr>
        <p:spPr>
          <a:xfrm>
            <a:off x="428625" y="3178187"/>
            <a:ext cx="8286750" cy="910047"/>
          </a:xfrm>
          <a:prstGeom prst="rect">
            <a:avLst/>
          </a:prstGeom>
          <a:solidFill>
            <a:srgbClr val="000000">
              <a:alpha val="0"/>
            </a:srgbClr>
          </a:solidFill>
          <a:ln/>
        </p:spPr>
        <p:txBody>
          <a:bodyPr/>
          <a:lstStyle/>
          <a:p>
            <a:endParaRPr lang="fr-FR"/>
          </a:p>
        </p:txBody>
      </p:sp>
      <p:sp>
        <p:nvSpPr>
          <p:cNvPr id="23" name="Shape 16"/>
          <p:cNvSpPr/>
          <p:nvPr/>
        </p:nvSpPr>
        <p:spPr>
          <a:xfrm>
            <a:off x="428625" y="3178187"/>
            <a:ext cx="8286750" cy="7144"/>
          </a:xfrm>
          <a:prstGeom prst="rect">
            <a:avLst/>
          </a:prstGeom>
          <a:solidFill>
            <a:srgbClr val="E5E5E5"/>
          </a:solidFill>
          <a:ln/>
        </p:spPr>
        <p:txBody>
          <a:bodyPr/>
          <a:lstStyle/>
          <a:p>
            <a:endParaRPr lang="fr-FR"/>
          </a:p>
        </p:txBody>
      </p:sp>
      <p:sp>
        <p:nvSpPr>
          <p:cNvPr id="24" name="Text 17"/>
          <p:cNvSpPr/>
          <p:nvPr/>
        </p:nvSpPr>
        <p:spPr>
          <a:xfrm>
            <a:off x="428625" y="3349637"/>
            <a:ext cx="3929063" cy="731453"/>
          </a:xfrm>
          <a:prstGeom prst="rect">
            <a:avLst/>
          </a:prstGeom>
          <a:noFill/>
          <a:ln/>
        </p:spPr>
        <p:txBody>
          <a:bodyPr wrap="square" lIns="0" tIns="0" rIns="0" bIns="0" rtlCol="0" anchor="t">
            <a:spAutoFit/>
          </a:bodyPr>
          <a:lstStyle/>
          <a:p>
            <a:pPr marL="0" indent="0" algn="l">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OffrIA</a:t>
            </a:r>
            <a:r>
              <a:rPr lang="en-US" sz="834" dirty="0">
                <a:solidFill>
                  <a:srgbClr val="1A1A1A"/>
                </a:solidFill>
                <a:latin typeface="JetBrains Mono" pitchFamily="34" charset="0"/>
                <a:ea typeface="JetBrains Mono" pitchFamily="34" charset="-122"/>
                <a:cs typeface="JetBrains Mono" pitchFamily="34" charset="-120"/>
              </a:rPr>
              <a:t> est une plateforme d'IA générative spécialisée. Elle ne se contente pas de lire : elle comprend le contexte métier, les exigences techniques et les critères d'évaluation.</a:t>
            </a:r>
            <a:endParaRPr lang="en-US" sz="834" dirty="0"/>
          </a:p>
        </p:txBody>
      </p:sp>
      <p:sp>
        <p:nvSpPr>
          <p:cNvPr id="25" name="Text 18"/>
          <p:cNvSpPr/>
          <p:nvPr/>
        </p:nvSpPr>
        <p:spPr>
          <a:xfrm>
            <a:off x="4786313" y="3349637"/>
            <a:ext cx="392906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génère une réponse </a:t>
            </a:r>
            <a:r>
              <a:rPr lang="en-US" sz="784" b="1" dirty="0">
                <a:solidFill>
                  <a:srgbClr val="FF4D4D"/>
                </a:solidFill>
                <a:latin typeface="JetBrains Mono" pitchFamily="34" charset="0"/>
                <a:ea typeface="JetBrains Mono" pitchFamily="34" charset="-122"/>
                <a:cs typeface="JetBrains Mono" pitchFamily="34" charset="-120"/>
              </a:rPr>
              <a:t>sur-mesure</a:t>
            </a:r>
            <a:r>
              <a:rPr lang="en-US" sz="834" dirty="0">
                <a:solidFill>
                  <a:srgbClr val="1A1A1A"/>
                </a:solidFill>
                <a:latin typeface="JetBrains Mono" pitchFamily="34" charset="0"/>
                <a:ea typeface="JetBrains Mono" pitchFamily="34" charset="-122"/>
                <a:cs typeface="JetBrains Mono" pitchFamily="34" charset="-120"/>
              </a:rPr>
              <a:t>, intégrant vos références et votre savoir-faire, structurée exactement selon les attentes du donneur d'ordre.</a:t>
            </a: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428625"/>
            <a:ext cx="3429000" cy="4714875"/>
          </a:xfrm>
          <a:prstGeom prst="rect">
            <a:avLst/>
          </a:prstGeom>
          <a:solidFill>
            <a:srgbClr val="000000">
              <a:alpha val="0"/>
            </a:srgbClr>
          </a:solidFill>
          <a:ln/>
        </p:spPr>
        <p:txBody>
          <a:bodyPr/>
          <a:lstStyle/>
          <a:p>
            <a:endParaRPr lang="fr-FR"/>
          </a:p>
        </p:txBody>
      </p:sp>
      <p:sp>
        <p:nvSpPr>
          <p:cNvPr id="5" name="Shape 1"/>
          <p:cNvSpPr/>
          <p:nvPr/>
        </p:nvSpPr>
        <p:spPr>
          <a:xfrm>
            <a:off x="3421856" y="428625"/>
            <a:ext cx="7144" cy="4714875"/>
          </a:xfrm>
          <a:prstGeom prst="rect">
            <a:avLst/>
          </a:prstGeom>
          <a:solidFill>
            <a:srgbClr val="E5E5E5"/>
          </a:solidFill>
          <a:ln/>
        </p:spPr>
        <p:txBody>
          <a:bodyPr/>
          <a:lstStyle/>
          <a:p>
            <a:endParaRPr lang="fr-FR"/>
          </a:p>
        </p:txBody>
      </p:sp>
      <p:sp>
        <p:nvSpPr>
          <p:cNvPr id="6" name="Text 2"/>
          <p:cNvSpPr/>
          <p:nvPr/>
        </p:nvSpPr>
        <p:spPr>
          <a:xfrm>
            <a:off x="428625" y="428625"/>
            <a:ext cx="2714625" cy="597173"/>
          </a:xfrm>
          <a:prstGeom prst="rect">
            <a:avLst/>
          </a:prstGeom>
          <a:noFill/>
          <a:ln/>
        </p:spPr>
        <p:txBody>
          <a:bodyPr wrap="square" lIns="0" tIns="0" rIns="0" bIns="0" rtlCol="0" anchor="t">
            <a:spAutoFit/>
          </a:bodyPr>
          <a:lstStyle/>
          <a:p>
            <a:pPr marL="0" indent="0" algn="l">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La solution : un moteur intelligent</a:t>
            </a:r>
            <a:endParaRPr lang="en-US" sz="1912" dirty="0"/>
          </a:p>
        </p:txBody>
      </p:sp>
      <p:sp>
        <p:nvSpPr>
          <p:cNvPr id="7" name="Text 3"/>
          <p:cNvSpPr/>
          <p:nvPr/>
        </p:nvSpPr>
        <p:spPr>
          <a:xfrm>
            <a:off x="600075" y="1311548"/>
            <a:ext cx="2543175" cy="19109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Parsing Intelligent</a:t>
            </a:r>
            <a:endParaRPr lang="en-US" sz="987" dirty="0"/>
          </a:p>
        </p:txBody>
      </p:sp>
      <p:sp>
        <p:nvSpPr>
          <p:cNvPr id="8" name="Text 4"/>
          <p:cNvSpPr/>
          <p:nvPr/>
        </p:nvSpPr>
        <p:spPr>
          <a:xfrm>
            <a:off x="600075" y="1538362"/>
            <a:ext cx="2543175"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Extraction automatique du titre, critères, budget et sections de l'AO.</a:t>
            </a:r>
            <a:endParaRPr lang="en-US" sz="674" dirty="0"/>
          </a:p>
        </p:txBody>
      </p:sp>
      <p:sp>
        <p:nvSpPr>
          <p:cNvPr id="9" name="Text 5"/>
          <p:cNvSpPr/>
          <p:nvPr/>
        </p:nvSpPr>
        <p:spPr>
          <a:xfrm>
            <a:off x="600075" y="1976977"/>
            <a:ext cx="2543175" cy="19109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Génération Multi-appels</a:t>
            </a:r>
            <a:endParaRPr lang="en-US" sz="987" dirty="0"/>
          </a:p>
        </p:txBody>
      </p:sp>
      <p:sp>
        <p:nvSpPr>
          <p:cNvPr id="10" name="Text 6"/>
          <p:cNvSpPr/>
          <p:nvPr/>
        </p:nvSpPr>
        <p:spPr>
          <a:xfrm>
            <a:off x="600075" y="2203791"/>
            <a:ext cx="2543175"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1 brief stratégique + 8 sections rédigées en parallèle (9 appels LLM simultanés).</a:t>
            </a:r>
            <a:endParaRPr lang="en-US" sz="674" dirty="0"/>
          </a:p>
        </p:txBody>
      </p:sp>
      <p:sp>
        <p:nvSpPr>
          <p:cNvPr id="11" name="Text 7"/>
          <p:cNvSpPr/>
          <p:nvPr/>
        </p:nvSpPr>
        <p:spPr>
          <a:xfrm>
            <a:off x="600075" y="2642406"/>
            <a:ext cx="2543175" cy="19109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Base de connaissances RAG</a:t>
            </a:r>
            <a:endParaRPr lang="en-US" sz="987" dirty="0"/>
          </a:p>
        </p:txBody>
      </p:sp>
      <p:sp>
        <p:nvSpPr>
          <p:cNvPr id="12" name="Text 8"/>
          <p:cNvSpPr/>
          <p:nvPr/>
        </p:nvSpPr>
        <p:spPr>
          <a:xfrm>
            <a:off x="600075" y="2869220"/>
            <a:ext cx="2543175"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Enrichissement automatique via vos références et méthodologies (Qdrant).</a:t>
            </a:r>
            <a:endParaRPr lang="en-US" sz="674" dirty="0"/>
          </a:p>
        </p:txBody>
      </p:sp>
      <p:sp>
        <p:nvSpPr>
          <p:cNvPr id="13" name="Text 9"/>
          <p:cNvSpPr/>
          <p:nvPr/>
        </p:nvSpPr>
        <p:spPr>
          <a:xfrm>
            <a:off x="600075" y="3307835"/>
            <a:ext cx="2543175" cy="19109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Prompt Engineering Métier</a:t>
            </a:r>
            <a:endParaRPr lang="en-US" sz="987" dirty="0"/>
          </a:p>
        </p:txBody>
      </p:sp>
      <p:sp>
        <p:nvSpPr>
          <p:cNvPr id="14" name="Text 10"/>
          <p:cNvSpPr/>
          <p:nvPr/>
        </p:nvSpPr>
        <p:spPr>
          <a:xfrm>
            <a:off x="600075" y="3534649"/>
            <a:ext cx="2543175"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666666"/>
                </a:solidFill>
                <a:latin typeface="JetBrains Mono" pitchFamily="34" charset="0"/>
                <a:ea typeface="JetBrains Mono" pitchFamily="34" charset="-122"/>
                <a:cs typeface="JetBrains Mono" pitchFamily="34" charset="-120"/>
              </a:rPr>
              <a:t>Prompts contextualisés intégrant votre profil et vos atouts concurrentiels.</a:t>
            </a:r>
            <a:endParaRPr lang="en-US" sz="674" dirty="0"/>
          </a:p>
        </p:txBody>
      </p:sp>
      <p:sp>
        <p:nvSpPr>
          <p:cNvPr id="15" name="Shape 11"/>
          <p:cNvSpPr/>
          <p:nvPr/>
        </p:nvSpPr>
        <p:spPr>
          <a:xfrm>
            <a:off x="3429000" y="0"/>
            <a:ext cx="5715000" cy="5143500"/>
          </a:xfrm>
          <a:prstGeom prst="rect">
            <a:avLst/>
          </a:prstGeom>
          <a:solidFill>
            <a:srgbClr val="F9F9FA"/>
          </a:solidFill>
          <a:ln/>
        </p:spPr>
        <p:txBody>
          <a:bodyPr/>
          <a:lstStyle/>
          <a:p>
            <a:endParaRPr lang="fr-FR"/>
          </a:p>
        </p:txBody>
      </p:sp>
      <p:sp>
        <p:nvSpPr>
          <p:cNvPr id="16" name="Text 12"/>
          <p:cNvSpPr/>
          <p:nvPr/>
        </p:nvSpPr>
        <p:spPr>
          <a:xfrm>
            <a:off x="3857625" y="1439466"/>
            <a:ext cx="4857750" cy="132159"/>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D4D"/>
                </a:solidFill>
                <a:latin typeface="JetBrains Mono" pitchFamily="34" charset="0"/>
                <a:ea typeface="JetBrains Mono" pitchFamily="34" charset="-122"/>
                <a:cs typeface="JetBrains Mono" pitchFamily="34" charset="-120"/>
              </a:rPr>
              <a:t>ARCHITECTURE FLEXIBLE</a:t>
            </a:r>
            <a:endParaRPr lang="en-US" sz="683" dirty="0"/>
          </a:p>
        </p:txBody>
      </p:sp>
      <p:sp>
        <p:nvSpPr>
          <p:cNvPr id="17" name="Text 13"/>
          <p:cNvSpPr/>
          <p:nvPr/>
        </p:nvSpPr>
        <p:spPr>
          <a:xfrm>
            <a:off x="3857625" y="1714500"/>
            <a:ext cx="485775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Multi-LLM : Choisissez votre modèle</a:t>
            </a:r>
            <a:endParaRPr lang="en-US" sz="1602" dirty="0"/>
          </a:p>
        </p:txBody>
      </p:sp>
      <p:sp>
        <p:nvSpPr>
          <p:cNvPr id="18" name="Text 14"/>
          <p:cNvSpPr/>
          <p:nvPr/>
        </p:nvSpPr>
        <p:spPr>
          <a:xfrm>
            <a:off x="3857625" y="2303859"/>
            <a:ext cx="1214438" cy="282178"/>
          </a:xfrm>
          <a:prstGeom prst="rect">
            <a:avLst/>
          </a:prstGeom>
          <a:noFill/>
          <a:ln/>
        </p:spPr>
        <p:txBody>
          <a:bodyPr wrap="square" lIns="0" tIns="0" rIns="0" bIns="170053" rtlCol="0" anchor="ctr">
            <a:spAutoFit/>
          </a:bodyPr>
          <a:lstStyle/>
          <a:p>
            <a:pPr marL="0" indent="0" algn="l">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PROVIDER</a:t>
            </a:r>
            <a:endParaRPr lang="en-US" sz="683" dirty="0"/>
          </a:p>
        </p:txBody>
      </p:sp>
      <p:sp>
        <p:nvSpPr>
          <p:cNvPr id="19" name="Text 15"/>
          <p:cNvSpPr/>
          <p:nvPr/>
        </p:nvSpPr>
        <p:spPr>
          <a:xfrm>
            <a:off x="5072063" y="2303859"/>
            <a:ext cx="1457325" cy="282178"/>
          </a:xfrm>
          <a:prstGeom prst="rect">
            <a:avLst/>
          </a:prstGeom>
          <a:noFill/>
          <a:ln/>
        </p:spPr>
        <p:txBody>
          <a:bodyPr wrap="square" lIns="0" tIns="0" rIns="0" bIns="170053" rtlCol="0" anchor="ctr">
            <a:spAutoFit/>
          </a:bodyPr>
          <a:lstStyle/>
          <a:p>
            <a:pPr marL="0" indent="0" algn="l">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MODÈLE</a:t>
            </a:r>
            <a:endParaRPr lang="en-US" sz="683" dirty="0"/>
          </a:p>
        </p:txBody>
      </p:sp>
      <p:sp>
        <p:nvSpPr>
          <p:cNvPr id="20" name="Text 16"/>
          <p:cNvSpPr/>
          <p:nvPr/>
        </p:nvSpPr>
        <p:spPr>
          <a:xfrm>
            <a:off x="6529388" y="2303859"/>
            <a:ext cx="2185988" cy="282178"/>
          </a:xfrm>
          <a:prstGeom prst="rect">
            <a:avLst/>
          </a:prstGeom>
          <a:noFill/>
          <a:ln/>
        </p:spPr>
        <p:txBody>
          <a:bodyPr wrap="square" lIns="0" tIns="0" rIns="0" bIns="170053" rtlCol="0" anchor="ctr">
            <a:spAutoFit/>
          </a:bodyPr>
          <a:lstStyle/>
          <a:p>
            <a:pPr marL="0" indent="0" algn="l">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POINT FORT</a:t>
            </a:r>
            <a:endParaRPr lang="en-US" sz="683" dirty="0"/>
          </a:p>
        </p:txBody>
      </p:sp>
      <p:sp>
        <p:nvSpPr>
          <p:cNvPr id="21" name="Text 17"/>
          <p:cNvSpPr/>
          <p:nvPr/>
        </p:nvSpPr>
        <p:spPr>
          <a:xfrm>
            <a:off x="3857625" y="2586038"/>
            <a:ext cx="1214438" cy="560784"/>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Anthropic</a:t>
            </a:r>
            <a:endParaRPr lang="en-US" sz="683" dirty="0"/>
          </a:p>
        </p:txBody>
      </p:sp>
      <p:sp>
        <p:nvSpPr>
          <p:cNvPr id="22" name="Text 18"/>
          <p:cNvSpPr/>
          <p:nvPr/>
        </p:nvSpPr>
        <p:spPr>
          <a:xfrm>
            <a:off x="5072063" y="2586038"/>
            <a:ext cx="1457325" cy="560784"/>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Claude Opus</a:t>
            </a:r>
            <a:endParaRPr lang="en-US" sz="727" dirty="0"/>
          </a:p>
        </p:txBody>
      </p:sp>
      <p:sp>
        <p:nvSpPr>
          <p:cNvPr id="23" name="Text 19"/>
          <p:cNvSpPr/>
          <p:nvPr/>
        </p:nvSpPr>
        <p:spPr>
          <a:xfrm>
            <a:off x="6529388" y="2586038"/>
            <a:ext cx="2185988" cy="560784"/>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Raisonnement long, documents complexes</a:t>
            </a:r>
            <a:endParaRPr lang="en-US" sz="727" dirty="0"/>
          </a:p>
        </p:txBody>
      </p:sp>
      <p:sp>
        <p:nvSpPr>
          <p:cNvPr id="24" name="Text 20"/>
          <p:cNvSpPr/>
          <p:nvPr/>
        </p:nvSpPr>
        <p:spPr>
          <a:xfrm>
            <a:off x="3857625" y="3146822"/>
            <a:ext cx="1214438" cy="425053"/>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OpenAI</a:t>
            </a:r>
            <a:endParaRPr lang="en-US" sz="683" dirty="0"/>
          </a:p>
        </p:txBody>
      </p:sp>
      <p:sp>
        <p:nvSpPr>
          <p:cNvPr id="25" name="Text 21"/>
          <p:cNvSpPr/>
          <p:nvPr/>
        </p:nvSpPr>
        <p:spPr>
          <a:xfrm>
            <a:off x="5072063" y="3146822"/>
            <a:ext cx="1457325" cy="425053"/>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GPT-4o</a:t>
            </a:r>
            <a:endParaRPr lang="en-US" sz="727" dirty="0"/>
          </a:p>
        </p:txBody>
      </p:sp>
      <p:sp>
        <p:nvSpPr>
          <p:cNvPr id="26" name="Text 22"/>
          <p:cNvSpPr/>
          <p:nvPr/>
        </p:nvSpPr>
        <p:spPr>
          <a:xfrm>
            <a:off x="6529388" y="3146822"/>
            <a:ext cx="2185988" cy="425053"/>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Créativité, formulation commerciale</a:t>
            </a:r>
            <a:endParaRPr lang="en-US" sz="727" dirty="0"/>
          </a:p>
        </p:txBody>
      </p:sp>
      <p:sp>
        <p:nvSpPr>
          <p:cNvPr id="27" name="Text 23"/>
          <p:cNvSpPr/>
          <p:nvPr/>
        </p:nvSpPr>
        <p:spPr>
          <a:xfrm>
            <a:off x="3857625" y="3571875"/>
            <a:ext cx="1214438" cy="557213"/>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Mistral AI</a:t>
            </a:r>
            <a:endParaRPr lang="en-US" sz="683" dirty="0"/>
          </a:p>
        </p:txBody>
      </p:sp>
      <p:sp>
        <p:nvSpPr>
          <p:cNvPr id="28" name="Text 24"/>
          <p:cNvSpPr/>
          <p:nvPr/>
        </p:nvSpPr>
        <p:spPr>
          <a:xfrm>
            <a:off x="5072063" y="3571875"/>
            <a:ext cx="1457325" cy="557213"/>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Mistral Large</a:t>
            </a:r>
            <a:endParaRPr lang="en-US" sz="727" dirty="0"/>
          </a:p>
        </p:txBody>
      </p:sp>
      <p:sp>
        <p:nvSpPr>
          <p:cNvPr id="29" name="Text 25"/>
          <p:cNvSpPr/>
          <p:nvPr/>
        </p:nvSpPr>
        <p:spPr>
          <a:xfrm>
            <a:off x="6529388" y="3571875"/>
            <a:ext cx="2185988" cy="570028"/>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Souveraineté des données, </a:t>
            </a:r>
            <a:r>
              <a:rPr lang="en-US" sz="727" dirty="0" err="1">
                <a:solidFill>
                  <a:srgbClr val="1A1A1A"/>
                </a:solidFill>
                <a:latin typeface="JetBrains Mono" pitchFamily="34" charset="0"/>
                <a:ea typeface="JetBrains Mono" pitchFamily="34" charset="-122"/>
                <a:cs typeface="JetBrains Mono" pitchFamily="34" charset="-120"/>
              </a:rPr>
              <a:t>hébergement</a:t>
            </a:r>
            <a:r>
              <a:rPr lang="en-US" sz="727" dirty="0">
                <a:solidFill>
                  <a:srgbClr val="1A1A1A"/>
                </a:solidFill>
                <a:latin typeface="JetBrains Mono" pitchFamily="34" charset="0"/>
                <a:ea typeface="JetBrains Mono" pitchFamily="34" charset="-122"/>
                <a:cs typeface="JetBrains Mono" pitchFamily="34" charset="-120"/>
              </a:rPr>
              <a:t> EU, </a:t>
            </a:r>
            <a:r>
              <a:rPr lang="en-US" sz="727" b="1" i="1" dirty="0" err="1">
                <a:solidFill>
                  <a:srgbClr val="1A1A1A"/>
                </a:solidFill>
                <a:latin typeface="JetBrains Mono" pitchFamily="34" charset="0"/>
                <a:ea typeface="JetBrains Mono" pitchFamily="34" charset="-122"/>
                <a:cs typeface="JetBrains Mono" pitchFamily="34" charset="-120"/>
              </a:rPr>
              <a:t>Partenaire</a:t>
            </a:r>
            <a:r>
              <a:rPr lang="en-US" sz="727" b="1" i="1" dirty="0">
                <a:solidFill>
                  <a:srgbClr val="1A1A1A"/>
                </a:solidFill>
                <a:latin typeface="JetBrains Mono" pitchFamily="34" charset="0"/>
                <a:ea typeface="JetBrains Mono" pitchFamily="34" charset="-122"/>
                <a:cs typeface="JetBrains Mono" pitchFamily="34" charset="-120"/>
              </a:rPr>
              <a:t> du Maroc</a:t>
            </a:r>
            <a:endParaRPr lang="en-US" sz="727" b="1"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83125"/>
          </a:xfrm>
          <a:prstGeom prst="rect">
            <a:avLst/>
          </a:prstGeom>
        </p:spPr>
      </p:pic>
      <p:sp>
        <p:nvSpPr>
          <p:cNvPr id="4" name="Shape 0"/>
          <p:cNvSpPr/>
          <p:nvPr/>
        </p:nvSpPr>
        <p:spPr>
          <a:xfrm>
            <a:off x="428625" y="428625"/>
            <a:ext cx="8286750" cy="768288"/>
          </a:xfrm>
          <a:prstGeom prst="rect">
            <a:avLst/>
          </a:prstGeom>
          <a:solidFill>
            <a:srgbClr val="000000">
              <a:alpha val="0"/>
            </a:srgbClr>
          </a:solidFill>
          <a:ln/>
        </p:spPr>
        <p:txBody>
          <a:bodyPr/>
          <a:lstStyle/>
          <a:p>
            <a:endParaRPr lang="fr-FR"/>
          </a:p>
        </p:txBody>
      </p:sp>
      <p:sp>
        <p:nvSpPr>
          <p:cNvPr id="5" name="Shape 1"/>
          <p:cNvSpPr/>
          <p:nvPr/>
        </p:nvSpPr>
        <p:spPr>
          <a:xfrm>
            <a:off x="428625" y="1189769"/>
            <a:ext cx="8286750" cy="7144"/>
          </a:xfrm>
          <a:prstGeom prst="rect">
            <a:avLst/>
          </a:prstGeom>
          <a:solidFill>
            <a:srgbClr val="E5E5E5"/>
          </a:solidFill>
          <a:ln/>
        </p:spPr>
        <p:txBody>
          <a:bodyPr/>
          <a:lstStyle/>
          <a:p>
            <a:endParaRPr lang="fr-FR"/>
          </a:p>
        </p:txBody>
      </p:sp>
      <p:sp>
        <p:nvSpPr>
          <p:cNvPr id="6" name="Text 2"/>
          <p:cNvSpPr/>
          <p:nvPr/>
        </p:nvSpPr>
        <p:spPr>
          <a:xfrm>
            <a:off x="428625" y="428625"/>
            <a:ext cx="8286750" cy="377168"/>
          </a:xfrm>
          <a:prstGeom prst="rect">
            <a:avLst/>
          </a:prstGeom>
          <a:noFill/>
          <a:ln/>
        </p:spPr>
        <p:txBody>
          <a:bodyPr wrap="none" lIns="0" tIns="0" rIns="0" bIns="0" rtlCol="0" anchor="t">
            <a:spAutoFit/>
          </a:bodyPr>
          <a:lstStyle/>
          <a:p>
            <a:pPr marL="0" indent="0" algn="l">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Pourquoi OffrIA ?</a:t>
            </a:r>
            <a:endParaRPr lang="en-US" sz="2436" dirty="0"/>
          </a:p>
        </p:txBody>
      </p:sp>
      <p:sp>
        <p:nvSpPr>
          <p:cNvPr id="7" name="Text 3"/>
          <p:cNvSpPr/>
          <p:nvPr/>
        </p:nvSpPr>
        <p:spPr>
          <a:xfrm>
            <a:off x="428625" y="877230"/>
            <a:ext cx="2518172" cy="169664"/>
          </a:xfrm>
          <a:prstGeom prst="rect">
            <a:avLst/>
          </a:prstGeom>
          <a:noFill/>
          <a:ln/>
        </p:spPr>
        <p:txBody>
          <a:bodyPr wrap="none" lIns="0" tIns="0" rIns="0" bIns="0" rtlCol="0" anchor="t">
            <a:spAutoFit/>
          </a:bodyPr>
          <a:lstStyle/>
          <a:p>
            <a:pPr marL="0" indent="0" algn="l">
              <a:lnSpc>
                <a:spcPts val="1200"/>
              </a:lnSpc>
              <a:buNone/>
            </a:pPr>
            <a:r>
              <a:rPr lang="en-US" sz="942" kern="0" spc="1" dirty="0">
                <a:solidFill>
                  <a:srgbClr val="666666"/>
                </a:solidFill>
                <a:latin typeface="JetBrains Mono" pitchFamily="34" charset="0"/>
                <a:ea typeface="JetBrains Mono" pitchFamily="34" charset="-122"/>
                <a:cs typeface="JetBrains Mono" pitchFamily="34" charset="-120"/>
              </a:rPr>
              <a:t>UNE LONGUEUR D'AVANCE DÉCISIVE</a:t>
            </a:r>
            <a:endParaRPr lang="en-US" sz="942" dirty="0"/>
          </a:p>
        </p:txBody>
      </p:sp>
      <p:sp>
        <p:nvSpPr>
          <p:cNvPr id="8" name="Text 4"/>
          <p:cNvSpPr/>
          <p:nvPr/>
        </p:nvSpPr>
        <p:spPr>
          <a:xfrm>
            <a:off x="428625" y="1304069"/>
            <a:ext cx="3314700" cy="371475"/>
          </a:xfrm>
          <a:prstGeom prst="rect">
            <a:avLst/>
          </a:prstGeom>
          <a:noFill/>
          <a:ln/>
        </p:spPr>
        <p:txBody>
          <a:bodyPr wrap="square" lIns="170053" tIns="127508" rIns="170053" bIns="127508" rtlCol="0" anchor="ctr">
            <a:spAutoFit/>
          </a:bodyPr>
          <a:lstStyle/>
          <a:p>
            <a:pPr marL="0" indent="0" algn="l">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FONCTIONNALITÉ</a:t>
            </a:r>
            <a:endParaRPr lang="en-US" sz="784" dirty="0"/>
          </a:p>
        </p:txBody>
      </p:sp>
      <p:sp>
        <p:nvSpPr>
          <p:cNvPr id="9" name="Text 5"/>
          <p:cNvSpPr/>
          <p:nvPr/>
        </p:nvSpPr>
        <p:spPr>
          <a:xfrm>
            <a:off x="3743325" y="1304069"/>
            <a:ext cx="2486025" cy="371475"/>
          </a:xfrm>
          <a:prstGeom prst="rect">
            <a:avLst/>
          </a:prstGeom>
          <a:noFill/>
          <a:ln/>
        </p:spPr>
        <p:txBody>
          <a:bodyPr wrap="square" lIns="170053" tIns="127508" rIns="170053" bIns="127508" rtlCol="0" anchor="ctr">
            <a:spAutoFit/>
          </a:bodyPr>
          <a:lstStyle/>
          <a:p>
            <a:pPr marL="0" indent="0" algn="ctr">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CONCURRENTS</a:t>
            </a:r>
            <a:endParaRPr lang="en-US" sz="784" dirty="0"/>
          </a:p>
        </p:txBody>
      </p:sp>
      <p:sp>
        <p:nvSpPr>
          <p:cNvPr id="10" name="Shape 6"/>
          <p:cNvSpPr/>
          <p:nvPr/>
        </p:nvSpPr>
        <p:spPr>
          <a:xfrm>
            <a:off x="6229350" y="1304069"/>
            <a:ext cx="2486025" cy="371475"/>
          </a:xfrm>
          <a:prstGeom prst="rect">
            <a:avLst/>
          </a:prstGeom>
          <a:solidFill>
            <a:srgbClr val="FAFAFA"/>
          </a:solidFill>
          <a:ln/>
        </p:spPr>
        <p:txBody>
          <a:bodyPr/>
          <a:lstStyle/>
          <a:p>
            <a:endParaRPr lang="fr-FR"/>
          </a:p>
        </p:txBody>
      </p:sp>
      <p:sp>
        <p:nvSpPr>
          <p:cNvPr id="11" name="Shape 7"/>
          <p:cNvSpPr/>
          <p:nvPr/>
        </p:nvSpPr>
        <p:spPr>
          <a:xfrm>
            <a:off x="6229350" y="1661257"/>
            <a:ext cx="2486025" cy="14288"/>
          </a:xfrm>
          <a:prstGeom prst="rect">
            <a:avLst/>
          </a:prstGeom>
          <a:solidFill>
            <a:srgbClr val="1A1A1A"/>
          </a:solidFill>
          <a:ln/>
        </p:spPr>
        <p:txBody>
          <a:bodyPr/>
          <a:lstStyle/>
          <a:p>
            <a:endParaRPr lang="fr-FR"/>
          </a:p>
        </p:txBody>
      </p:sp>
      <p:sp>
        <p:nvSpPr>
          <p:cNvPr id="12" name="Text 8"/>
          <p:cNvSpPr/>
          <p:nvPr/>
        </p:nvSpPr>
        <p:spPr>
          <a:xfrm>
            <a:off x="6229350" y="1304069"/>
            <a:ext cx="2486025" cy="371475"/>
          </a:xfrm>
          <a:prstGeom prst="rect">
            <a:avLst/>
          </a:prstGeom>
          <a:noFill/>
          <a:ln/>
        </p:spPr>
        <p:txBody>
          <a:bodyPr wrap="square" lIns="170053" tIns="127508" rIns="170053" bIns="127508" rtlCol="0" anchor="ctr">
            <a:spAutoFit/>
          </a:bodyPr>
          <a:lstStyle/>
          <a:p>
            <a:pPr marL="0" indent="0" algn="ctr">
              <a:lnSpc>
                <a:spcPts val="1100"/>
              </a:lnSpc>
              <a:buNone/>
            </a:pPr>
            <a:r>
              <a:rPr lang="en-US" sz="784" b="1" dirty="0">
                <a:solidFill>
                  <a:srgbClr val="FF4D4D"/>
                </a:solidFill>
                <a:latin typeface="JetBrains Mono" pitchFamily="34" charset="0"/>
                <a:ea typeface="JetBrains Mono" pitchFamily="34" charset="-122"/>
                <a:cs typeface="JetBrains Mono" pitchFamily="34" charset="-120"/>
              </a:rPr>
              <a:t>OFFRIA</a:t>
            </a:r>
            <a:endParaRPr lang="en-US" sz="784" dirty="0"/>
          </a:p>
        </p:txBody>
      </p:sp>
      <p:sp>
        <p:nvSpPr>
          <p:cNvPr id="13" name="Text 9"/>
          <p:cNvSpPr/>
          <p:nvPr/>
        </p:nvSpPr>
        <p:spPr>
          <a:xfrm>
            <a:off x="428625" y="1675544"/>
            <a:ext cx="3314700" cy="394692"/>
          </a:xfrm>
          <a:prstGeom prst="rect">
            <a:avLst/>
          </a:prstGeom>
          <a:noFill/>
          <a:ln/>
        </p:spPr>
        <p:txBody>
          <a:bodyPr wrap="square" lIns="170053" tIns="127508" rIns="170053" bIns="127508" rtlCol="0" anchor="ctr">
            <a:spAutoFit/>
          </a:bodyPr>
          <a:lstStyle/>
          <a:p>
            <a:pPr marL="0" indent="0" algn="l">
              <a:lnSpc>
                <a:spcPts val="1200"/>
              </a:lnSpc>
              <a:buNone/>
            </a:pPr>
            <a:r>
              <a:rPr lang="en-US" sz="942" dirty="0">
                <a:solidFill>
                  <a:srgbClr val="1A1A1A"/>
                </a:solidFill>
                <a:latin typeface="JetBrains Mono" pitchFamily="34" charset="0"/>
                <a:ea typeface="JetBrains Mono" pitchFamily="34" charset="-122"/>
                <a:cs typeface="JetBrains Mono" pitchFamily="34" charset="-120"/>
              </a:rPr>
              <a:t>Multi-provider LLM</a:t>
            </a:r>
            <a:endParaRPr lang="en-US" sz="942" dirty="0"/>
          </a:p>
        </p:txBody>
      </p:sp>
      <p:pic>
        <p:nvPicPr>
          <p:cNvPr id="14" name="Image 1" descr="preencoded.png"/>
          <p:cNvPicPr>
            <a:picLocks noChangeAspect="1"/>
          </p:cNvPicPr>
          <p:nvPr/>
        </p:nvPicPr>
        <p:blipFill>
          <a:blip r:embed="rId4"/>
          <a:stretch>
            <a:fillRect/>
          </a:stretch>
        </p:blipFill>
        <p:spPr>
          <a:xfrm>
            <a:off x="4955084" y="1832707"/>
            <a:ext cx="62508" cy="100013"/>
          </a:xfrm>
          <a:prstGeom prst="rect">
            <a:avLst/>
          </a:prstGeom>
        </p:spPr>
      </p:pic>
      <p:sp>
        <p:nvSpPr>
          <p:cNvPr id="15" name="Shape 10"/>
          <p:cNvSpPr/>
          <p:nvPr/>
        </p:nvSpPr>
        <p:spPr>
          <a:xfrm>
            <a:off x="6229350" y="1675544"/>
            <a:ext cx="2486025" cy="394692"/>
          </a:xfrm>
          <a:prstGeom prst="rect">
            <a:avLst/>
          </a:prstGeom>
          <a:solidFill>
            <a:srgbClr val="FAFAFA"/>
          </a:solidFill>
          <a:ln/>
        </p:spPr>
        <p:txBody>
          <a:bodyPr/>
          <a:lstStyle/>
          <a:p>
            <a:endParaRPr lang="fr-FR"/>
          </a:p>
        </p:txBody>
      </p:sp>
      <p:sp>
        <p:nvSpPr>
          <p:cNvPr id="16" name="Shape 11"/>
          <p:cNvSpPr/>
          <p:nvPr/>
        </p:nvSpPr>
        <p:spPr>
          <a:xfrm>
            <a:off x="6229350" y="2063093"/>
            <a:ext cx="2486025" cy="7144"/>
          </a:xfrm>
          <a:prstGeom prst="rect">
            <a:avLst/>
          </a:prstGeom>
          <a:solidFill>
            <a:srgbClr val="E5E5E5"/>
          </a:solidFill>
          <a:ln/>
        </p:spPr>
        <p:txBody>
          <a:bodyPr/>
          <a:lstStyle/>
          <a:p>
            <a:endParaRPr lang="fr-FR"/>
          </a:p>
        </p:txBody>
      </p:sp>
      <p:pic>
        <p:nvPicPr>
          <p:cNvPr id="17" name="Image 2" descr="preencoded.png"/>
          <p:cNvPicPr>
            <a:picLocks noChangeAspect="1"/>
          </p:cNvPicPr>
          <p:nvPr/>
        </p:nvPicPr>
        <p:blipFill>
          <a:blip r:embed="rId5"/>
          <a:stretch>
            <a:fillRect/>
          </a:stretch>
        </p:blipFill>
        <p:spPr>
          <a:xfrm>
            <a:off x="7408069" y="1805918"/>
            <a:ext cx="128588" cy="128588"/>
          </a:xfrm>
          <a:prstGeom prst="rect">
            <a:avLst/>
          </a:prstGeom>
        </p:spPr>
      </p:pic>
      <p:sp>
        <p:nvSpPr>
          <p:cNvPr id="18" name="Text 12"/>
          <p:cNvSpPr/>
          <p:nvPr/>
        </p:nvSpPr>
        <p:spPr>
          <a:xfrm>
            <a:off x="428625" y="2070236"/>
            <a:ext cx="3314700" cy="391120"/>
          </a:xfrm>
          <a:prstGeom prst="rect">
            <a:avLst/>
          </a:prstGeom>
          <a:noFill/>
          <a:ln/>
        </p:spPr>
        <p:txBody>
          <a:bodyPr wrap="square" lIns="170053" tIns="127508" rIns="170053" bIns="127508" rtlCol="0" anchor="ctr">
            <a:spAutoFit/>
          </a:bodyPr>
          <a:lstStyle/>
          <a:p>
            <a:pPr marL="0" indent="0" algn="l">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Parsing AO automatique</a:t>
            </a:r>
            <a:endParaRPr lang="en-US" sz="942" dirty="0"/>
          </a:p>
        </p:txBody>
      </p:sp>
      <p:sp>
        <p:nvSpPr>
          <p:cNvPr id="19" name="Text 13"/>
          <p:cNvSpPr/>
          <p:nvPr/>
        </p:nvSpPr>
        <p:spPr>
          <a:xfrm>
            <a:off x="3743325" y="2070236"/>
            <a:ext cx="2486025" cy="391120"/>
          </a:xfrm>
          <a:prstGeom prst="rect">
            <a:avLst/>
          </a:prstGeom>
          <a:noFill/>
          <a:ln/>
        </p:spPr>
        <p:txBody>
          <a:bodyPr wrap="square" lIns="170053" tIns="127508" rIns="170053" bIns="127508" rtlCol="0" anchor="ctr">
            <a:spAutoFit/>
          </a:bodyPr>
          <a:lstStyle/>
          <a:p>
            <a:pPr marL="0" indent="0" algn="ctr">
              <a:lnSpc>
                <a:spcPts val="1200"/>
              </a:lnSpc>
              <a:buNone/>
            </a:pPr>
            <a:r>
              <a:rPr lang="en-US" sz="942" dirty="0">
                <a:solidFill>
                  <a:srgbClr val="999999"/>
                </a:solidFill>
                <a:latin typeface="JetBrains Mono" pitchFamily="34" charset="0"/>
                <a:ea typeface="JetBrains Mono" pitchFamily="34" charset="-122"/>
                <a:cs typeface="JetBrains Mono" pitchFamily="34" charset="-120"/>
              </a:rPr>
              <a:t>Partiel</a:t>
            </a:r>
            <a:endParaRPr lang="en-US" sz="942" dirty="0"/>
          </a:p>
        </p:txBody>
      </p:sp>
      <p:sp>
        <p:nvSpPr>
          <p:cNvPr id="20" name="Shape 14"/>
          <p:cNvSpPr/>
          <p:nvPr/>
        </p:nvSpPr>
        <p:spPr>
          <a:xfrm>
            <a:off x="6229350" y="2070236"/>
            <a:ext cx="2486025" cy="391120"/>
          </a:xfrm>
          <a:prstGeom prst="rect">
            <a:avLst/>
          </a:prstGeom>
          <a:solidFill>
            <a:srgbClr val="FAFAFA"/>
          </a:solidFill>
          <a:ln/>
        </p:spPr>
        <p:txBody>
          <a:bodyPr/>
          <a:lstStyle/>
          <a:p>
            <a:endParaRPr lang="fr-FR"/>
          </a:p>
        </p:txBody>
      </p:sp>
      <p:sp>
        <p:nvSpPr>
          <p:cNvPr id="21" name="Shape 15"/>
          <p:cNvSpPr/>
          <p:nvPr/>
        </p:nvSpPr>
        <p:spPr>
          <a:xfrm>
            <a:off x="6229350" y="2454213"/>
            <a:ext cx="2486025" cy="7144"/>
          </a:xfrm>
          <a:prstGeom prst="rect">
            <a:avLst/>
          </a:prstGeom>
          <a:solidFill>
            <a:srgbClr val="E5E5E5"/>
          </a:solidFill>
          <a:ln/>
        </p:spPr>
        <p:txBody>
          <a:bodyPr/>
          <a:lstStyle/>
          <a:p>
            <a:endParaRPr lang="fr-FR"/>
          </a:p>
        </p:txBody>
      </p:sp>
      <p:pic>
        <p:nvPicPr>
          <p:cNvPr id="22" name="Image 3" descr="preencoded.png"/>
          <p:cNvPicPr>
            <a:picLocks noChangeAspect="1"/>
          </p:cNvPicPr>
          <p:nvPr/>
        </p:nvPicPr>
        <p:blipFill>
          <a:blip r:embed="rId5"/>
          <a:stretch>
            <a:fillRect/>
          </a:stretch>
        </p:blipFill>
        <p:spPr>
          <a:xfrm>
            <a:off x="7408069" y="2198824"/>
            <a:ext cx="128588" cy="128588"/>
          </a:xfrm>
          <a:prstGeom prst="rect">
            <a:avLst/>
          </a:prstGeom>
        </p:spPr>
      </p:pic>
      <p:sp>
        <p:nvSpPr>
          <p:cNvPr id="23" name="Text 16"/>
          <p:cNvSpPr/>
          <p:nvPr/>
        </p:nvSpPr>
        <p:spPr>
          <a:xfrm>
            <a:off x="428625" y="2461357"/>
            <a:ext cx="3314700" cy="391120"/>
          </a:xfrm>
          <a:prstGeom prst="rect">
            <a:avLst/>
          </a:prstGeom>
          <a:noFill/>
          <a:ln/>
        </p:spPr>
        <p:txBody>
          <a:bodyPr wrap="square" lIns="170053" tIns="127508" rIns="170053" bIns="127508" rtlCol="0" anchor="ctr">
            <a:spAutoFit/>
          </a:bodyPr>
          <a:lstStyle/>
          <a:p>
            <a:pPr marL="0" indent="0" algn="l">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Profil entreprise contextualisé</a:t>
            </a:r>
            <a:endParaRPr lang="en-US" sz="942" dirty="0"/>
          </a:p>
        </p:txBody>
      </p:sp>
      <p:pic>
        <p:nvPicPr>
          <p:cNvPr id="24" name="Image 4" descr="preencoded.png"/>
          <p:cNvPicPr>
            <a:picLocks noChangeAspect="1"/>
          </p:cNvPicPr>
          <p:nvPr/>
        </p:nvPicPr>
        <p:blipFill>
          <a:blip r:embed="rId6"/>
          <a:stretch>
            <a:fillRect/>
          </a:stretch>
        </p:blipFill>
        <p:spPr>
          <a:xfrm>
            <a:off x="4955084" y="2614947"/>
            <a:ext cx="62508" cy="100013"/>
          </a:xfrm>
          <a:prstGeom prst="rect">
            <a:avLst/>
          </a:prstGeom>
        </p:spPr>
      </p:pic>
      <p:sp>
        <p:nvSpPr>
          <p:cNvPr id="25" name="Shape 17"/>
          <p:cNvSpPr/>
          <p:nvPr/>
        </p:nvSpPr>
        <p:spPr>
          <a:xfrm>
            <a:off x="6229350" y="2461357"/>
            <a:ext cx="2486025" cy="391120"/>
          </a:xfrm>
          <a:prstGeom prst="rect">
            <a:avLst/>
          </a:prstGeom>
          <a:solidFill>
            <a:srgbClr val="FAFAFA"/>
          </a:solidFill>
          <a:ln/>
        </p:spPr>
        <p:txBody>
          <a:bodyPr/>
          <a:lstStyle/>
          <a:p>
            <a:endParaRPr lang="fr-FR"/>
          </a:p>
        </p:txBody>
      </p:sp>
      <p:sp>
        <p:nvSpPr>
          <p:cNvPr id="26" name="Shape 18"/>
          <p:cNvSpPr/>
          <p:nvPr/>
        </p:nvSpPr>
        <p:spPr>
          <a:xfrm>
            <a:off x="6229350" y="2845333"/>
            <a:ext cx="2486025" cy="7144"/>
          </a:xfrm>
          <a:prstGeom prst="rect">
            <a:avLst/>
          </a:prstGeom>
          <a:solidFill>
            <a:srgbClr val="E5E5E5"/>
          </a:solidFill>
          <a:ln/>
        </p:spPr>
        <p:txBody>
          <a:bodyPr/>
          <a:lstStyle/>
          <a:p>
            <a:endParaRPr lang="fr-FR"/>
          </a:p>
        </p:txBody>
      </p:sp>
      <p:pic>
        <p:nvPicPr>
          <p:cNvPr id="27" name="Image 5" descr="preencoded.png"/>
          <p:cNvPicPr>
            <a:picLocks noChangeAspect="1"/>
          </p:cNvPicPr>
          <p:nvPr/>
        </p:nvPicPr>
        <p:blipFill>
          <a:blip r:embed="rId7"/>
          <a:stretch>
            <a:fillRect/>
          </a:stretch>
        </p:blipFill>
        <p:spPr>
          <a:xfrm>
            <a:off x="7408069" y="2589944"/>
            <a:ext cx="128588" cy="128588"/>
          </a:xfrm>
          <a:prstGeom prst="rect">
            <a:avLst/>
          </a:prstGeom>
        </p:spPr>
      </p:pic>
      <p:sp>
        <p:nvSpPr>
          <p:cNvPr id="28" name="Text 19"/>
          <p:cNvSpPr/>
          <p:nvPr/>
        </p:nvSpPr>
        <p:spPr>
          <a:xfrm>
            <a:off x="428625" y="2852477"/>
            <a:ext cx="3314700" cy="391120"/>
          </a:xfrm>
          <a:prstGeom prst="rect">
            <a:avLst/>
          </a:prstGeom>
          <a:noFill/>
          <a:ln/>
        </p:spPr>
        <p:txBody>
          <a:bodyPr wrap="square" lIns="170053" tIns="127508" rIns="170053" bIns="127508" rtlCol="0" anchor="ctr">
            <a:spAutoFit/>
          </a:bodyPr>
          <a:lstStyle/>
          <a:p>
            <a:pPr marL="0" indent="0" algn="l">
              <a:lnSpc>
                <a:spcPts val="1200"/>
              </a:lnSpc>
              <a:buNone/>
            </a:pPr>
            <a:r>
              <a:rPr lang="en-US" sz="942" dirty="0">
                <a:solidFill>
                  <a:srgbClr val="1A1A1A"/>
                </a:solidFill>
                <a:latin typeface="JetBrains Mono" pitchFamily="34" charset="0"/>
                <a:ea typeface="JetBrains Mono" pitchFamily="34" charset="-122"/>
                <a:cs typeface="JetBrains Mono" pitchFamily="34" charset="-120"/>
              </a:rPr>
              <a:t>API intégrable (REST)</a:t>
            </a:r>
            <a:endParaRPr lang="en-US" sz="942" dirty="0"/>
          </a:p>
        </p:txBody>
      </p:sp>
      <p:pic>
        <p:nvPicPr>
          <p:cNvPr id="29" name="Image 6" descr="preencoded.png"/>
          <p:cNvPicPr>
            <a:picLocks noChangeAspect="1"/>
          </p:cNvPicPr>
          <p:nvPr/>
        </p:nvPicPr>
        <p:blipFill>
          <a:blip r:embed="rId8"/>
          <a:stretch>
            <a:fillRect/>
          </a:stretch>
        </p:blipFill>
        <p:spPr>
          <a:xfrm>
            <a:off x="4955084" y="3006068"/>
            <a:ext cx="62508" cy="100013"/>
          </a:xfrm>
          <a:prstGeom prst="rect">
            <a:avLst/>
          </a:prstGeom>
        </p:spPr>
      </p:pic>
      <p:sp>
        <p:nvSpPr>
          <p:cNvPr id="30" name="Shape 20"/>
          <p:cNvSpPr/>
          <p:nvPr/>
        </p:nvSpPr>
        <p:spPr>
          <a:xfrm>
            <a:off x="6229350" y="2852477"/>
            <a:ext cx="2486025" cy="391120"/>
          </a:xfrm>
          <a:prstGeom prst="rect">
            <a:avLst/>
          </a:prstGeom>
          <a:solidFill>
            <a:srgbClr val="FAFAFA"/>
          </a:solidFill>
          <a:ln/>
        </p:spPr>
        <p:txBody>
          <a:bodyPr/>
          <a:lstStyle/>
          <a:p>
            <a:endParaRPr lang="fr-FR"/>
          </a:p>
        </p:txBody>
      </p:sp>
      <p:sp>
        <p:nvSpPr>
          <p:cNvPr id="31" name="Shape 21"/>
          <p:cNvSpPr/>
          <p:nvPr/>
        </p:nvSpPr>
        <p:spPr>
          <a:xfrm>
            <a:off x="6229350" y="3236454"/>
            <a:ext cx="2486025" cy="7144"/>
          </a:xfrm>
          <a:prstGeom prst="rect">
            <a:avLst/>
          </a:prstGeom>
          <a:solidFill>
            <a:srgbClr val="E5E5E5"/>
          </a:solidFill>
          <a:ln/>
        </p:spPr>
        <p:txBody>
          <a:bodyPr/>
          <a:lstStyle/>
          <a:p>
            <a:endParaRPr lang="fr-FR"/>
          </a:p>
        </p:txBody>
      </p:sp>
      <p:pic>
        <p:nvPicPr>
          <p:cNvPr id="32" name="Image 7" descr="preencoded.png"/>
          <p:cNvPicPr>
            <a:picLocks noChangeAspect="1"/>
          </p:cNvPicPr>
          <p:nvPr/>
        </p:nvPicPr>
        <p:blipFill>
          <a:blip r:embed="rId9"/>
          <a:stretch>
            <a:fillRect/>
          </a:stretch>
        </p:blipFill>
        <p:spPr>
          <a:xfrm>
            <a:off x="7408069" y="2981065"/>
            <a:ext cx="128588" cy="128588"/>
          </a:xfrm>
          <a:prstGeom prst="rect">
            <a:avLst/>
          </a:prstGeom>
        </p:spPr>
      </p:pic>
      <p:sp>
        <p:nvSpPr>
          <p:cNvPr id="33" name="Text 22"/>
          <p:cNvSpPr/>
          <p:nvPr/>
        </p:nvSpPr>
        <p:spPr>
          <a:xfrm>
            <a:off x="428625" y="3243597"/>
            <a:ext cx="3314700" cy="391120"/>
          </a:xfrm>
          <a:prstGeom prst="rect">
            <a:avLst/>
          </a:prstGeom>
          <a:noFill/>
          <a:ln/>
        </p:spPr>
        <p:txBody>
          <a:bodyPr wrap="square" lIns="170053" tIns="127508" rIns="170053" bIns="127508" rtlCol="0" anchor="ctr">
            <a:spAutoFit/>
          </a:bodyPr>
          <a:lstStyle/>
          <a:p>
            <a:pPr marL="0" indent="0" algn="l">
              <a:lnSpc>
                <a:spcPts val="1200"/>
              </a:lnSpc>
              <a:buNone/>
            </a:pPr>
            <a:r>
              <a:rPr lang="en-US" sz="942" dirty="0">
                <a:solidFill>
                  <a:srgbClr val="1A1A1A"/>
                </a:solidFill>
                <a:latin typeface="JetBrains Mono" pitchFamily="34" charset="0"/>
                <a:ea typeface="JetBrains Mono" pitchFamily="34" charset="-122"/>
                <a:cs typeface="JetBrains Mono" pitchFamily="34" charset="-120"/>
              </a:rPr>
              <a:t>Hébergement souverain (Mistral)</a:t>
            </a:r>
            <a:endParaRPr lang="en-US" sz="942" dirty="0"/>
          </a:p>
        </p:txBody>
      </p:sp>
      <p:pic>
        <p:nvPicPr>
          <p:cNvPr id="34" name="Image 8" descr="preencoded.png"/>
          <p:cNvPicPr>
            <a:picLocks noChangeAspect="1"/>
          </p:cNvPicPr>
          <p:nvPr/>
        </p:nvPicPr>
        <p:blipFill>
          <a:blip r:embed="rId4"/>
          <a:stretch>
            <a:fillRect/>
          </a:stretch>
        </p:blipFill>
        <p:spPr>
          <a:xfrm>
            <a:off x="4955084" y="3397188"/>
            <a:ext cx="62508" cy="100013"/>
          </a:xfrm>
          <a:prstGeom prst="rect">
            <a:avLst/>
          </a:prstGeom>
        </p:spPr>
      </p:pic>
      <p:sp>
        <p:nvSpPr>
          <p:cNvPr id="35" name="Shape 23"/>
          <p:cNvSpPr/>
          <p:nvPr/>
        </p:nvSpPr>
        <p:spPr>
          <a:xfrm>
            <a:off x="6229350" y="3243597"/>
            <a:ext cx="2486025" cy="391120"/>
          </a:xfrm>
          <a:prstGeom prst="rect">
            <a:avLst/>
          </a:prstGeom>
          <a:solidFill>
            <a:srgbClr val="FAFAFA"/>
          </a:solidFill>
          <a:ln/>
        </p:spPr>
        <p:txBody>
          <a:bodyPr/>
          <a:lstStyle/>
          <a:p>
            <a:endParaRPr lang="fr-FR"/>
          </a:p>
        </p:txBody>
      </p:sp>
      <p:sp>
        <p:nvSpPr>
          <p:cNvPr id="36" name="Shape 24"/>
          <p:cNvSpPr/>
          <p:nvPr/>
        </p:nvSpPr>
        <p:spPr>
          <a:xfrm>
            <a:off x="6229350" y="3627574"/>
            <a:ext cx="2486025" cy="7144"/>
          </a:xfrm>
          <a:prstGeom prst="rect">
            <a:avLst/>
          </a:prstGeom>
          <a:solidFill>
            <a:srgbClr val="E5E5E5"/>
          </a:solidFill>
          <a:ln/>
        </p:spPr>
        <p:txBody>
          <a:bodyPr/>
          <a:lstStyle/>
          <a:p>
            <a:endParaRPr lang="fr-FR"/>
          </a:p>
        </p:txBody>
      </p:sp>
      <p:pic>
        <p:nvPicPr>
          <p:cNvPr id="37" name="Image 9" descr="preencoded.png"/>
          <p:cNvPicPr>
            <a:picLocks noChangeAspect="1"/>
          </p:cNvPicPr>
          <p:nvPr/>
        </p:nvPicPr>
        <p:blipFill>
          <a:blip r:embed="rId10"/>
          <a:stretch>
            <a:fillRect/>
          </a:stretch>
        </p:blipFill>
        <p:spPr>
          <a:xfrm>
            <a:off x="7408069" y="3372185"/>
            <a:ext cx="128588" cy="128588"/>
          </a:xfrm>
          <a:prstGeom prst="rect">
            <a:avLst/>
          </a:prstGeom>
        </p:spPr>
      </p:pic>
      <p:sp>
        <p:nvSpPr>
          <p:cNvPr id="38" name="Text 25"/>
          <p:cNvSpPr/>
          <p:nvPr/>
        </p:nvSpPr>
        <p:spPr>
          <a:xfrm>
            <a:off x="428625" y="3634718"/>
            <a:ext cx="3314700" cy="391120"/>
          </a:xfrm>
          <a:prstGeom prst="rect">
            <a:avLst/>
          </a:prstGeom>
          <a:noFill/>
          <a:ln/>
        </p:spPr>
        <p:txBody>
          <a:bodyPr wrap="square" lIns="170053" tIns="127508" rIns="170053" bIns="127508" rtlCol="0" anchor="ctr">
            <a:spAutoFit/>
          </a:bodyPr>
          <a:lstStyle/>
          <a:p>
            <a:pPr marL="0" indent="0" algn="l">
              <a:lnSpc>
                <a:spcPts val="1200"/>
              </a:lnSpc>
              <a:buNone/>
            </a:pPr>
            <a:r>
              <a:rPr lang="en-US" sz="942" dirty="0">
                <a:solidFill>
                  <a:srgbClr val="1A1A1A"/>
                </a:solidFill>
                <a:latin typeface="JetBrains Mono" pitchFamily="34" charset="0"/>
                <a:ea typeface="JetBrains Mono" pitchFamily="34" charset="-122"/>
                <a:cs typeface="JetBrains Mono" pitchFamily="34" charset="-120"/>
              </a:rPr>
              <a:t>Open-source core</a:t>
            </a:r>
            <a:endParaRPr lang="en-US" sz="942" dirty="0"/>
          </a:p>
        </p:txBody>
      </p:sp>
      <p:pic>
        <p:nvPicPr>
          <p:cNvPr id="39" name="Image 10" descr="preencoded.png"/>
          <p:cNvPicPr>
            <a:picLocks noChangeAspect="1"/>
          </p:cNvPicPr>
          <p:nvPr/>
        </p:nvPicPr>
        <p:blipFill>
          <a:blip r:embed="rId11"/>
          <a:stretch>
            <a:fillRect/>
          </a:stretch>
        </p:blipFill>
        <p:spPr>
          <a:xfrm>
            <a:off x="4955084" y="3788308"/>
            <a:ext cx="62508" cy="100013"/>
          </a:xfrm>
          <a:prstGeom prst="rect">
            <a:avLst/>
          </a:prstGeom>
        </p:spPr>
      </p:pic>
      <p:sp>
        <p:nvSpPr>
          <p:cNvPr id="40" name="Shape 26"/>
          <p:cNvSpPr/>
          <p:nvPr/>
        </p:nvSpPr>
        <p:spPr>
          <a:xfrm>
            <a:off x="6229350" y="3634718"/>
            <a:ext cx="2486025" cy="391120"/>
          </a:xfrm>
          <a:prstGeom prst="rect">
            <a:avLst/>
          </a:prstGeom>
          <a:solidFill>
            <a:srgbClr val="FAFAFA"/>
          </a:solidFill>
          <a:ln/>
        </p:spPr>
        <p:txBody>
          <a:bodyPr/>
          <a:lstStyle/>
          <a:p>
            <a:endParaRPr lang="fr-FR"/>
          </a:p>
        </p:txBody>
      </p:sp>
      <p:sp>
        <p:nvSpPr>
          <p:cNvPr id="41" name="Shape 27"/>
          <p:cNvSpPr/>
          <p:nvPr/>
        </p:nvSpPr>
        <p:spPr>
          <a:xfrm>
            <a:off x="6229350" y="4018694"/>
            <a:ext cx="2486025" cy="7144"/>
          </a:xfrm>
          <a:prstGeom prst="rect">
            <a:avLst/>
          </a:prstGeom>
          <a:solidFill>
            <a:srgbClr val="E5E5E5"/>
          </a:solidFill>
          <a:ln/>
        </p:spPr>
        <p:txBody>
          <a:bodyPr/>
          <a:lstStyle/>
          <a:p>
            <a:endParaRPr lang="fr-FR"/>
          </a:p>
        </p:txBody>
      </p:sp>
      <p:pic>
        <p:nvPicPr>
          <p:cNvPr id="42" name="Image 11" descr="preencoded.png"/>
          <p:cNvPicPr>
            <a:picLocks noChangeAspect="1"/>
          </p:cNvPicPr>
          <p:nvPr/>
        </p:nvPicPr>
        <p:blipFill>
          <a:blip r:embed="rId5"/>
          <a:stretch>
            <a:fillRect/>
          </a:stretch>
        </p:blipFill>
        <p:spPr>
          <a:xfrm>
            <a:off x="7408069" y="3763305"/>
            <a:ext cx="128588" cy="128588"/>
          </a:xfrm>
          <a:prstGeom prst="rect">
            <a:avLst/>
          </a:prstGeom>
        </p:spPr>
      </p:pic>
      <p:sp>
        <p:nvSpPr>
          <p:cNvPr id="43" name="Shape 28"/>
          <p:cNvSpPr/>
          <p:nvPr/>
        </p:nvSpPr>
        <p:spPr>
          <a:xfrm>
            <a:off x="428625" y="4315160"/>
            <a:ext cx="8286750" cy="603647"/>
          </a:xfrm>
          <a:prstGeom prst="rect">
            <a:avLst/>
          </a:prstGeom>
          <a:solidFill>
            <a:srgbClr val="000000">
              <a:alpha val="0"/>
            </a:srgbClr>
          </a:solidFill>
          <a:ln/>
        </p:spPr>
        <p:txBody>
          <a:bodyPr/>
          <a:lstStyle/>
          <a:p>
            <a:endParaRPr lang="fr-FR"/>
          </a:p>
        </p:txBody>
      </p:sp>
      <p:sp>
        <p:nvSpPr>
          <p:cNvPr id="44" name="Shape 29"/>
          <p:cNvSpPr/>
          <p:nvPr/>
        </p:nvSpPr>
        <p:spPr>
          <a:xfrm>
            <a:off x="428625" y="4315160"/>
            <a:ext cx="28575" cy="603647"/>
          </a:xfrm>
          <a:prstGeom prst="rect">
            <a:avLst/>
          </a:prstGeom>
          <a:solidFill>
            <a:srgbClr val="FF4D4D"/>
          </a:solidFill>
          <a:ln/>
        </p:spPr>
        <p:txBody>
          <a:bodyPr/>
          <a:lstStyle/>
          <a:p>
            <a:endParaRPr lang="fr-FR"/>
          </a:p>
        </p:txBody>
      </p:sp>
      <p:sp>
        <p:nvSpPr>
          <p:cNvPr id="45" name="Text 30"/>
          <p:cNvSpPr/>
          <p:nvPr/>
        </p:nvSpPr>
        <p:spPr>
          <a:xfrm>
            <a:off x="571500" y="4315160"/>
            <a:ext cx="8143875" cy="400050"/>
          </a:xfrm>
          <a:prstGeom prst="rect">
            <a:avLst/>
          </a:prstGeom>
          <a:noFill/>
          <a:ln/>
        </p:spPr>
        <p:txBody>
          <a:bodyPr wrap="square" lIns="0" tIns="0" rIns="0" bIns="0" rtlCol="0" anchor="t">
            <a:spAutoFit/>
          </a:bodyPr>
          <a:lstStyle/>
          <a:p>
            <a:pPr marL="0" indent="0" algn="l">
              <a:lnSpc>
                <a:spcPts val="1600"/>
              </a:lnSpc>
              <a:buNone/>
            </a:pPr>
            <a:r>
              <a:rPr lang="en-US" sz="1050" i="1" dirty="0">
                <a:solidFill>
                  <a:srgbClr val="1A1A1A"/>
                </a:solidFill>
                <a:latin typeface="Playfair Display" pitchFamily="34" charset="0"/>
                <a:ea typeface="Playfair Display" pitchFamily="34" charset="-122"/>
                <a:cs typeface="Playfair Display" pitchFamily="34" charset="-120"/>
              </a:rPr>
              <a:t>"Les entreprises qui adopteront l'IA dans leurs processus commerciaux d'ici 2026 captureront 30 % de parts de marché supplémentaires sur les marchés publics."</a:t>
            </a:r>
            <a:endParaRPr lang="en-US" sz="1050" dirty="0"/>
          </a:p>
        </p:txBody>
      </p:sp>
      <p:sp>
        <p:nvSpPr>
          <p:cNvPr id="46" name="Text 31"/>
          <p:cNvSpPr/>
          <p:nvPr/>
        </p:nvSpPr>
        <p:spPr>
          <a:xfrm>
            <a:off x="571500" y="4786647"/>
            <a:ext cx="8143875"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 McKinsey, 2024</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995437"/>
          </a:xfrm>
          <a:prstGeom prst="rect">
            <a:avLst/>
          </a:prstGeom>
          <a:solidFill>
            <a:srgbClr val="000000">
              <a:alpha val="0"/>
            </a:srgbClr>
          </a:solidFill>
          <a:ln/>
        </p:spPr>
        <p:txBody>
          <a:bodyPr/>
          <a:lstStyle/>
          <a:p>
            <a:endParaRPr lang="fr-FR"/>
          </a:p>
        </p:txBody>
      </p:sp>
      <p:sp>
        <p:nvSpPr>
          <p:cNvPr id="5" name="Shape 1"/>
          <p:cNvSpPr/>
          <p:nvPr/>
        </p:nvSpPr>
        <p:spPr>
          <a:xfrm>
            <a:off x="428625" y="428625"/>
            <a:ext cx="28575" cy="995437"/>
          </a:xfrm>
          <a:prstGeom prst="rect">
            <a:avLst/>
          </a:prstGeom>
          <a:solidFill>
            <a:srgbClr val="FF4D4D"/>
          </a:solidFill>
          <a:ln/>
        </p:spPr>
        <p:txBody>
          <a:bodyPr/>
          <a:lstStyle/>
          <a:p>
            <a:endParaRPr lang="fr-FR"/>
          </a:p>
        </p:txBody>
      </p:sp>
      <p:sp>
        <p:nvSpPr>
          <p:cNvPr id="6" name="Text 2"/>
          <p:cNvSpPr/>
          <p:nvPr/>
        </p:nvSpPr>
        <p:spPr>
          <a:xfrm>
            <a:off x="642938" y="428625"/>
            <a:ext cx="8072438" cy="754335"/>
          </a:xfrm>
          <a:prstGeom prst="rect">
            <a:avLst/>
          </a:prstGeom>
          <a:noFill/>
          <a:ln/>
        </p:spPr>
        <p:txBody>
          <a:bodyPr wrap="square" lIns="0" tIns="0" rIns="0" bIns="0" rtlCol="0" anchor="t">
            <a:spAutoFit/>
          </a:bodyPr>
          <a:lstStyle/>
          <a:p>
            <a:pPr marL="0" indent="0" algn="l">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L'impact : x25 sur le volume,
coût divisé par 100</a:t>
            </a:r>
            <a:endParaRPr lang="en-US" sz="2436" dirty="0"/>
          </a:p>
        </p:txBody>
      </p:sp>
      <p:sp>
        <p:nvSpPr>
          <p:cNvPr id="7" name="Text 3"/>
          <p:cNvSpPr/>
          <p:nvPr/>
        </p:nvSpPr>
        <p:spPr>
          <a:xfrm>
            <a:off x="642938" y="1254398"/>
            <a:ext cx="3021806" cy="169664"/>
          </a:xfrm>
          <a:prstGeom prst="rect">
            <a:avLst/>
          </a:prstGeom>
          <a:noFill/>
          <a:ln/>
        </p:spPr>
        <p:txBody>
          <a:bodyPr wrap="none" lIns="0" tIns="0" rIns="0" bIns="0" rtlCol="0" anchor="t">
            <a:spAutoFit/>
          </a:bodyPr>
          <a:lstStyle/>
          <a:p>
            <a:pPr marL="0" indent="0" algn="l">
              <a:lnSpc>
                <a:spcPts val="1200"/>
              </a:lnSpc>
              <a:buNone/>
            </a:pPr>
            <a:r>
              <a:rPr lang="en-US" sz="942" kern="0" spc="1" dirty="0">
                <a:solidFill>
                  <a:srgbClr val="666666"/>
                </a:solidFill>
                <a:latin typeface="JetBrains Mono" pitchFamily="34" charset="0"/>
                <a:ea typeface="JetBrains Mono" pitchFamily="34" charset="-122"/>
                <a:cs typeface="JetBrains Mono" pitchFamily="34" charset="-120"/>
              </a:rPr>
              <a:t>DES CHIFFRES QUI PARLENT D'EUX-MÊMES</a:t>
            </a:r>
            <a:endParaRPr lang="en-US" sz="942" dirty="0"/>
          </a:p>
        </p:txBody>
      </p:sp>
      <p:sp>
        <p:nvSpPr>
          <p:cNvPr id="8" name="Shape 4"/>
          <p:cNvSpPr/>
          <p:nvPr/>
        </p:nvSpPr>
        <p:spPr>
          <a:xfrm>
            <a:off x="428625" y="1538362"/>
            <a:ext cx="8286750" cy="2093119"/>
          </a:xfrm>
          <a:prstGeom prst="rect">
            <a:avLst/>
          </a:prstGeom>
          <a:solidFill>
            <a:srgbClr val="000000">
              <a:alpha val="0"/>
            </a:srgbClr>
          </a:solidFill>
          <a:ln/>
        </p:spPr>
        <p:txBody>
          <a:bodyPr/>
          <a:lstStyle/>
          <a:p>
            <a:endParaRPr lang="fr-FR"/>
          </a:p>
        </p:txBody>
      </p:sp>
      <p:sp>
        <p:nvSpPr>
          <p:cNvPr id="9" name="Shape 5"/>
          <p:cNvSpPr/>
          <p:nvPr/>
        </p:nvSpPr>
        <p:spPr>
          <a:xfrm>
            <a:off x="428625" y="1538362"/>
            <a:ext cx="8286750" cy="14288"/>
          </a:xfrm>
          <a:prstGeom prst="rect">
            <a:avLst/>
          </a:prstGeom>
          <a:solidFill>
            <a:srgbClr val="1A1A1A"/>
          </a:solidFill>
          <a:ln/>
        </p:spPr>
        <p:txBody>
          <a:bodyPr/>
          <a:lstStyle/>
          <a:p>
            <a:endParaRPr lang="fr-FR"/>
          </a:p>
        </p:txBody>
      </p:sp>
      <p:sp>
        <p:nvSpPr>
          <p:cNvPr id="10" name="Text 6"/>
          <p:cNvSpPr/>
          <p:nvPr/>
        </p:nvSpPr>
        <p:spPr>
          <a:xfrm>
            <a:off x="428625" y="1679451"/>
            <a:ext cx="3551448"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Temps par réponse</a:t>
            </a:r>
            <a:endParaRPr lang="en-US" sz="1193" dirty="0"/>
          </a:p>
        </p:txBody>
      </p:sp>
      <p:sp>
        <p:nvSpPr>
          <p:cNvPr id="11" name="Text 7"/>
          <p:cNvSpPr/>
          <p:nvPr/>
        </p:nvSpPr>
        <p:spPr>
          <a:xfrm>
            <a:off x="3980073" y="1628552"/>
            <a:ext cx="2367651" cy="330398"/>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16 – 38 heures</a:t>
            </a:r>
            <a:endParaRPr lang="en-US" sz="1050" dirty="0"/>
          </a:p>
        </p:txBody>
      </p:sp>
      <p:sp>
        <p:nvSpPr>
          <p:cNvPr id="12" name="Text 8"/>
          <p:cNvSpPr/>
          <p:nvPr/>
        </p:nvSpPr>
        <p:spPr>
          <a:xfrm>
            <a:off x="6347724" y="1609799"/>
            <a:ext cx="2367623" cy="367903"/>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&lt; 2 minutes</a:t>
            </a:r>
            <a:endParaRPr lang="en-US" sz="1193" dirty="0"/>
          </a:p>
        </p:txBody>
      </p:sp>
      <p:sp>
        <p:nvSpPr>
          <p:cNvPr id="13" name="Text 9"/>
          <p:cNvSpPr/>
          <p:nvPr/>
        </p:nvSpPr>
        <p:spPr>
          <a:xfrm>
            <a:off x="428625" y="2197373"/>
            <a:ext cx="3551448"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Volume mensuel</a:t>
            </a:r>
            <a:endParaRPr lang="en-US" sz="1193" dirty="0"/>
          </a:p>
        </p:txBody>
      </p:sp>
      <p:sp>
        <p:nvSpPr>
          <p:cNvPr id="14" name="Text 10"/>
          <p:cNvSpPr/>
          <p:nvPr/>
        </p:nvSpPr>
        <p:spPr>
          <a:xfrm>
            <a:off x="3980073" y="2146474"/>
            <a:ext cx="2367651" cy="170175"/>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3 à 5 AO</a:t>
            </a:r>
            <a:endParaRPr lang="en-US" sz="1050" dirty="0"/>
          </a:p>
        </p:txBody>
      </p:sp>
      <p:sp>
        <p:nvSpPr>
          <p:cNvPr id="15" name="Text 11"/>
          <p:cNvSpPr/>
          <p:nvPr/>
        </p:nvSpPr>
        <p:spPr>
          <a:xfrm>
            <a:off x="6347724" y="2127721"/>
            <a:ext cx="2367623" cy="367903"/>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10 à 50 AO</a:t>
            </a:r>
            <a:endParaRPr lang="en-US" sz="1193" dirty="0"/>
          </a:p>
        </p:txBody>
      </p:sp>
      <p:sp>
        <p:nvSpPr>
          <p:cNvPr id="16" name="Text 12"/>
          <p:cNvSpPr/>
          <p:nvPr/>
        </p:nvSpPr>
        <p:spPr>
          <a:xfrm>
            <a:off x="428625" y="2715295"/>
            <a:ext cx="3551448"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Coût moyen</a:t>
            </a:r>
            <a:endParaRPr lang="en-US" sz="1193" dirty="0"/>
          </a:p>
        </p:txBody>
      </p:sp>
      <p:sp>
        <p:nvSpPr>
          <p:cNvPr id="17" name="Text 13"/>
          <p:cNvSpPr/>
          <p:nvPr/>
        </p:nvSpPr>
        <p:spPr>
          <a:xfrm>
            <a:off x="3980073" y="2664396"/>
            <a:ext cx="2367651" cy="170175"/>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10 000 MAD</a:t>
            </a:r>
            <a:endParaRPr lang="en-US" sz="1050" dirty="0"/>
          </a:p>
        </p:txBody>
      </p:sp>
      <p:sp>
        <p:nvSpPr>
          <p:cNvPr id="18" name="Text 14"/>
          <p:cNvSpPr/>
          <p:nvPr/>
        </p:nvSpPr>
        <p:spPr>
          <a:xfrm>
            <a:off x="6347724" y="2645643"/>
            <a:ext cx="2367623" cy="194284"/>
          </a:xfrm>
          <a:prstGeom prst="rect">
            <a:avLst/>
          </a:prstGeom>
          <a:noFill/>
          <a:ln/>
        </p:spPr>
        <p:txBody>
          <a:bodyPr wrap="square" lIns="0" tIns="0" rIns="0" bIns="0" rtlCol="0" anchor="t">
            <a:spAutoFit/>
          </a:bodyPr>
          <a:lstStyle/>
          <a:p>
            <a:pPr marL="0" indent="0" algn="l">
              <a:lnSpc>
                <a:spcPts val="1600"/>
              </a:lnSpc>
              <a:buNone/>
            </a:pPr>
            <a:r>
              <a:rPr lang="en-US" sz="1193" b="1" dirty="0" err="1">
                <a:solidFill>
                  <a:srgbClr val="FF4D4D"/>
                </a:solidFill>
                <a:latin typeface="JetBrains Mono" pitchFamily="34" charset="0"/>
                <a:ea typeface="JetBrains Mono" pitchFamily="34" charset="-122"/>
                <a:cs typeface="JetBrains Mono" pitchFamily="34" charset="-120"/>
              </a:rPr>
              <a:t>Quelques</a:t>
            </a:r>
            <a:r>
              <a:rPr lang="en-US" sz="1193" b="1" dirty="0">
                <a:solidFill>
                  <a:srgbClr val="FF4D4D"/>
                </a:solidFill>
                <a:latin typeface="JetBrains Mono" pitchFamily="34" charset="0"/>
                <a:ea typeface="JetBrains Mono" pitchFamily="34" charset="-122"/>
                <a:cs typeface="JetBrains Mono" pitchFamily="34" charset="-120"/>
              </a:rPr>
              <a:t> Dirhams</a:t>
            </a:r>
            <a:endParaRPr lang="en-US" sz="1193" dirty="0"/>
          </a:p>
        </p:txBody>
      </p:sp>
      <p:sp>
        <p:nvSpPr>
          <p:cNvPr id="19" name="Text 15"/>
          <p:cNvSpPr/>
          <p:nvPr/>
        </p:nvSpPr>
        <p:spPr>
          <a:xfrm>
            <a:off x="428625" y="3233217"/>
            <a:ext cx="3551448"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Taux de réponse</a:t>
            </a:r>
            <a:endParaRPr lang="en-US" sz="1193" dirty="0"/>
          </a:p>
        </p:txBody>
      </p:sp>
      <p:sp>
        <p:nvSpPr>
          <p:cNvPr id="20" name="Text 16"/>
          <p:cNvSpPr/>
          <p:nvPr/>
        </p:nvSpPr>
        <p:spPr>
          <a:xfrm>
            <a:off x="3980073" y="3182317"/>
            <a:ext cx="2367651" cy="330398"/>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20 %</a:t>
            </a:r>
            <a:endParaRPr lang="en-US" sz="1050" dirty="0"/>
          </a:p>
        </p:txBody>
      </p:sp>
      <p:sp>
        <p:nvSpPr>
          <p:cNvPr id="21" name="Text 17"/>
          <p:cNvSpPr/>
          <p:nvPr/>
        </p:nvSpPr>
        <p:spPr>
          <a:xfrm>
            <a:off x="6347724" y="3163565"/>
            <a:ext cx="2367623" cy="367903"/>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Objectif 80 %+</a:t>
            </a:r>
            <a:endParaRPr lang="en-US" sz="1193" dirty="0"/>
          </a:p>
        </p:txBody>
      </p:sp>
      <p:sp>
        <p:nvSpPr>
          <p:cNvPr id="22" name="Shape 18"/>
          <p:cNvSpPr/>
          <p:nvPr/>
        </p:nvSpPr>
        <p:spPr>
          <a:xfrm>
            <a:off x="428625" y="4332015"/>
            <a:ext cx="8286750" cy="668610"/>
          </a:xfrm>
          <a:prstGeom prst="rect">
            <a:avLst/>
          </a:prstGeom>
          <a:solidFill>
            <a:srgbClr val="F4F4F5"/>
          </a:solidFill>
          <a:ln/>
        </p:spPr>
        <p:txBody>
          <a:bodyPr/>
          <a:lstStyle/>
          <a:p>
            <a:endParaRPr lang="fr-FR"/>
          </a:p>
        </p:txBody>
      </p:sp>
      <p:sp>
        <p:nvSpPr>
          <p:cNvPr id="23" name="Text 19"/>
          <p:cNvSpPr/>
          <p:nvPr/>
        </p:nvSpPr>
        <p:spPr>
          <a:xfrm>
            <a:off x="542925" y="4446315"/>
            <a:ext cx="8058150" cy="201530"/>
          </a:xfrm>
          <a:prstGeom prst="rect">
            <a:avLst/>
          </a:prstGeom>
          <a:noFill/>
          <a:ln/>
        </p:spPr>
        <p:txBody>
          <a:bodyPr wrap="square" lIns="0" tIns="0" rIns="0" bIns="0" rtlCol="0" anchor="t">
            <a:spAutoFit/>
          </a:bodyPr>
          <a:lstStyle/>
          <a:p>
            <a:pPr marL="0" indent="0" algn="l">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OffrIA ne remplace pas vos équipes — elle leur donne une </a:t>
            </a:r>
            <a:r>
              <a:rPr lang="en-US" sz="1090" b="1" dirty="0">
                <a:solidFill>
                  <a:srgbClr val="FF4D4D"/>
                </a:solidFill>
                <a:latin typeface="Playfair Display" pitchFamily="34" charset="0"/>
                <a:ea typeface="Playfair Display" pitchFamily="34" charset="-122"/>
                <a:cs typeface="Playfair Display" pitchFamily="34" charset="-120"/>
              </a:rPr>
              <a:t>capacité de </a:t>
            </a:r>
            <a:r>
              <a:rPr lang="en-US" sz="1090" b="1" dirty="0" err="1">
                <a:solidFill>
                  <a:srgbClr val="FF4D4D"/>
                </a:solidFill>
                <a:latin typeface="Playfair Display" pitchFamily="34" charset="0"/>
                <a:ea typeface="Playfair Display" pitchFamily="34" charset="-122"/>
                <a:cs typeface="Playfair Display" pitchFamily="34" charset="-120"/>
              </a:rPr>
              <a:t>réponse</a:t>
            </a:r>
            <a:r>
              <a:rPr lang="en-US" sz="1090" b="1" dirty="0">
                <a:solidFill>
                  <a:srgbClr val="FF4D4D"/>
                </a:solidFill>
                <a:latin typeface="Playfair Display" pitchFamily="34" charset="0"/>
                <a:ea typeface="Playfair Display" pitchFamily="34" charset="-122"/>
                <a:cs typeface="Playfair Display" pitchFamily="34" charset="-120"/>
              </a:rPr>
              <a:t> x10</a:t>
            </a:r>
            <a:r>
              <a:rPr lang="en-US" sz="1159" i="1" dirty="0">
                <a:solidFill>
                  <a:srgbClr val="1A1A1A"/>
                </a:solidFill>
                <a:latin typeface="Playfair Display" pitchFamily="34" charset="0"/>
                <a:ea typeface="Playfair Display" pitchFamily="34" charset="-122"/>
                <a:cs typeface="Playfair Display" pitchFamily="34" charset="-120"/>
              </a:rPr>
              <a:t>, pour un coût marginal quasi nul.</a:t>
            </a:r>
            <a:endParaRPr lang="en-US" sz="115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428625"/>
            <a:ext cx="3929063" cy="4714875"/>
          </a:xfrm>
          <a:prstGeom prst="rect">
            <a:avLst/>
          </a:prstGeom>
          <a:solidFill>
            <a:srgbClr val="000000">
              <a:alpha val="0"/>
            </a:srgbClr>
          </a:solidFill>
          <a:ln/>
        </p:spPr>
        <p:txBody>
          <a:bodyPr/>
          <a:lstStyle/>
          <a:p>
            <a:endParaRPr lang="fr-FR"/>
          </a:p>
        </p:txBody>
      </p:sp>
      <p:sp>
        <p:nvSpPr>
          <p:cNvPr id="5" name="Shape 1"/>
          <p:cNvSpPr/>
          <p:nvPr/>
        </p:nvSpPr>
        <p:spPr>
          <a:xfrm>
            <a:off x="3921919" y="428625"/>
            <a:ext cx="7144" cy="4714875"/>
          </a:xfrm>
          <a:prstGeom prst="rect">
            <a:avLst/>
          </a:prstGeom>
          <a:solidFill>
            <a:srgbClr val="E5E5E5"/>
          </a:solidFill>
          <a:ln/>
        </p:spPr>
        <p:txBody>
          <a:bodyPr/>
          <a:lstStyle/>
          <a:p>
            <a:endParaRPr lang="fr-FR"/>
          </a:p>
        </p:txBody>
      </p:sp>
      <p:sp>
        <p:nvSpPr>
          <p:cNvPr id="6" name="Text 2"/>
          <p:cNvSpPr/>
          <p:nvPr/>
        </p:nvSpPr>
        <p:spPr>
          <a:xfrm>
            <a:off x="428625" y="428625"/>
            <a:ext cx="3214688" cy="298586"/>
          </a:xfrm>
          <a:prstGeom prst="rect">
            <a:avLst/>
          </a:prstGeom>
          <a:noFill/>
          <a:ln/>
        </p:spPr>
        <p:txBody>
          <a:bodyPr wrap="none" lIns="0" tIns="0" rIns="0" bIns="0" rtlCol="0" anchor="t">
            <a:spAutoFit/>
          </a:bodyPr>
          <a:lstStyle/>
          <a:p>
            <a:pPr marL="0" indent="0" algn="l">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Ce que ça coûte vraiment</a:t>
            </a:r>
            <a:endParaRPr lang="en-US" sz="1912" dirty="0"/>
          </a:p>
        </p:txBody>
      </p:sp>
      <p:sp>
        <p:nvSpPr>
          <p:cNvPr id="7" name="Text 3"/>
          <p:cNvSpPr/>
          <p:nvPr/>
        </p:nvSpPr>
        <p:spPr>
          <a:xfrm>
            <a:off x="428625" y="941524"/>
            <a:ext cx="932259" cy="226814"/>
          </a:xfrm>
          <a:prstGeom prst="rect">
            <a:avLst/>
          </a:prstGeom>
          <a:noFill/>
          <a:ln/>
        </p:spPr>
        <p:txBody>
          <a:bodyPr wrap="square" lIns="0" tIns="0" rIns="0" bIns="127508" rtlCol="0" anchor="ctr">
            <a:spAutoFit/>
          </a:bodyPr>
          <a:lstStyle/>
          <a:p>
            <a:pPr marL="0" indent="0" algn="l">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PROVIDER / MODÈLE</a:t>
            </a:r>
            <a:endParaRPr lang="en-US" sz="584" dirty="0"/>
          </a:p>
        </p:txBody>
      </p:sp>
      <p:sp>
        <p:nvSpPr>
          <p:cNvPr id="8" name="Text 4"/>
          <p:cNvSpPr/>
          <p:nvPr/>
        </p:nvSpPr>
        <p:spPr>
          <a:xfrm>
            <a:off x="1360884" y="941524"/>
            <a:ext cx="932259" cy="226814"/>
          </a:xfrm>
          <a:prstGeom prst="rect">
            <a:avLst/>
          </a:prstGeom>
          <a:noFill/>
          <a:ln/>
        </p:spPr>
        <p:txBody>
          <a:bodyPr wrap="square" lIns="0" tIns="0" rIns="0" bIns="127508" rtlCol="0" anchor="ctr">
            <a:spAutoFit/>
          </a:bodyPr>
          <a:lstStyle/>
          <a:p>
            <a:pPr marL="0" indent="0" algn="l">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COÛT / GÉNÉRATION</a:t>
            </a:r>
            <a:endParaRPr lang="en-US" sz="584" dirty="0"/>
          </a:p>
        </p:txBody>
      </p:sp>
      <p:sp>
        <p:nvSpPr>
          <p:cNvPr id="9" name="Text 5"/>
          <p:cNvSpPr/>
          <p:nvPr/>
        </p:nvSpPr>
        <p:spPr>
          <a:xfrm>
            <a:off x="2293144" y="941524"/>
            <a:ext cx="1350169" cy="226814"/>
          </a:xfrm>
          <a:prstGeom prst="rect">
            <a:avLst/>
          </a:prstGeom>
          <a:noFill/>
          <a:ln/>
        </p:spPr>
        <p:txBody>
          <a:bodyPr wrap="square" lIns="0" tIns="0" rIns="0" bIns="127508" rtlCol="0" anchor="ctr">
            <a:spAutoFit/>
          </a:bodyPr>
          <a:lstStyle/>
          <a:p>
            <a:pPr marL="0" indent="0" algn="l">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IDÉAL POUR</a:t>
            </a:r>
            <a:endParaRPr lang="en-US" sz="584" dirty="0"/>
          </a:p>
        </p:txBody>
      </p:sp>
      <p:sp>
        <p:nvSpPr>
          <p:cNvPr id="10" name="Text 6"/>
          <p:cNvSpPr/>
          <p:nvPr/>
        </p:nvSpPr>
        <p:spPr>
          <a:xfrm>
            <a:off x="428625" y="1168338"/>
            <a:ext cx="932259" cy="357188"/>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Claude Sonnet</a:t>
            </a:r>
            <a:endParaRPr lang="en-US" sz="727" dirty="0"/>
          </a:p>
        </p:txBody>
      </p:sp>
      <p:sp>
        <p:nvSpPr>
          <p:cNvPr id="11" name="Text 7"/>
          <p:cNvSpPr/>
          <p:nvPr/>
        </p:nvSpPr>
        <p:spPr>
          <a:xfrm>
            <a:off x="1360884" y="1168338"/>
            <a:ext cx="932259" cy="357188"/>
          </a:xfrm>
          <a:prstGeom prst="rect">
            <a:avLst/>
          </a:prstGeom>
          <a:noFill/>
          <a:ln/>
        </p:spPr>
        <p:txBody>
          <a:bodyPr wrap="square" lIns="0" tIns="127508" rIns="0" bIns="127508" rtlCol="0" anchor="ctr">
            <a:spAutoFit/>
          </a:bodyPr>
          <a:lstStyle/>
          <a:p>
            <a:pPr marL="0" indent="0" algn="l">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~1,65 MAD</a:t>
            </a:r>
            <a:endParaRPr lang="en-US" sz="683" dirty="0"/>
          </a:p>
        </p:txBody>
      </p:sp>
      <p:sp>
        <p:nvSpPr>
          <p:cNvPr id="12" name="Text 8"/>
          <p:cNvSpPr/>
          <p:nvPr/>
        </p:nvSpPr>
        <p:spPr>
          <a:xfrm>
            <a:off x="2293144" y="1168338"/>
            <a:ext cx="1350169" cy="357188"/>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Usage quotidien</a:t>
            </a:r>
            <a:endParaRPr lang="en-US" sz="727" dirty="0"/>
          </a:p>
        </p:txBody>
      </p:sp>
      <p:sp>
        <p:nvSpPr>
          <p:cNvPr id="13" name="Text 9"/>
          <p:cNvSpPr/>
          <p:nvPr/>
        </p:nvSpPr>
        <p:spPr>
          <a:xfrm>
            <a:off x="428625" y="1525525"/>
            <a:ext cx="932259" cy="353616"/>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Claude Opus</a:t>
            </a:r>
            <a:endParaRPr lang="en-US" sz="727" dirty="0"/>
          </a:p>
        </p:txBody>
      </p:sp>
      <p:sp>
        <p:nvSpPr>
          <p:cNvPr id="14" name="Text 10"/>
          <p:cNvSpPr/>
          <p:nvPr/>
        </p:nvSpPr>
        <p:spPr>
          <a:xfrm>
            <a:off x="1360884" y="1525525"/>
            <a:ext cx="932259" cy="353616"/>
          </a:xfrm>
          <a:prstGeom prst="rect">
            <a:avLst/>
          </a:prstGeom>
          <a:noFill/>
          <a:ln/>
        </p:spPr>
        <p:txBody>
          <a:bodyPr wrap="square" lIns="0" tIns="127508" rIns="0" bIns="127508" rtlCol="0" anchor="ctr">
            <a:spAutoFit/>
          </a:bodyPr>
          <a:lstStyle/>
          <a:p>
            <a:pPr marL="0" indent="0" algn="l">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~8,25 MAD</a:t>
            </a:r>
            <a:endParaRPr lang="en-US" sz="683" dirty="0"/>
          </a:p>
        </p:txBody>
      </p:sp>
      <p:sp>
        <p:nvSpPr>
          <p:cNvPr id="15" name="Text 11"/>
          <p:cNvSpPr/>
          <p:nvPr/>
        </p:nvSpPr>
        <p:spPr>
          <a:xfrm>
            <a:off x="2293144" y="1525525"/>
            <a:ext cx="1350169" cy="353616"/>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AO complexes</a:t>
            </a:r>
            <a:endParaRPr lang="en-US" sz="727" dirty="0"/>
          </a:p>
        </p:txBody>
      </p:sp>
      <p:sp>
        <p:nvSpPr>
          <p:cNvPr id="16" name="Text 12"/>
          <p:cNvSpPr/>
          <p:nvPr/>
        </p:nvSpPr>
        <p:spPr>
          <a:xfrm>
            <a:off x="428625" y="1879141"/>
            <a:ext cx="932259" cy="353616"/>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GPT-4o</a:t>
            </a:r>
            <a:endParaRPr lang="en-US" sz="727" dirty="0"/>
          </a:p>
        </p:txBody>
      </p:sp>
      <p:sp>
        <p:nvSpPr>
          <p:cNvPr id="17" name="Text 13"/>
          <p:cNvSpPr/>
          <p:nvPr/>
        </p:nvSpPr>
        <p:spPr>
          <a:xfrm>
            <a:off x="1360884" y="1879141"/>
            <a:ext cx="932259" cy="353616"/>
          </a:xfrm>
          <a:prstGeom prst="rect">
            <a:avLst/>
          </a:prstGeom>
          <a:noFill/>
          <a:ln/>
        </p:spPr>
        <p:txBody>
          <a:bodyPr wrap="square" lIns="0" tIns="127508" rIns="0" bIns="127508" rtlCol="0" anchor="ctr">
            <a:spAutoFit/>
          </a:bodyPr>
          <a:lstStyle/>
          <a:p>
            <a:pPr marL="0" indent="0" algn="l">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~2,20 MAD</a:t>
            </a:r>
            <a:endParaRPr lang="en-US" sz="683" dirty="0"/>
          </a:p>
        </p:txBody>
      </p:sp>
      <p:sp>
        <p:nvSpPr>
          <p:cNvPr id="18" name="Text 14"/>
          <p:cNvSpPr/>
          <p:nvPr/>
        </p:nvSpPr>
        <p:spPr>
          <a:xfrm>
            <a:off x="2293144" y="1879141"/>
            <a:ext cx="1350169" cy="353616"/>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Commercial</a:t>
            </a:r>
            <a:endParaRPr lang="en-US" sz="727" dirty="0"/>
          </a:p>
        </p:txBody>
      </p:sp>
      <p:sp>
        <p:nvSpPr>
          <p:cNvPr id="19" name="Text 15"/>
          <p:cNvSpPr/>
          <p:nvPr/>
        </p:nvSpPr>
        <p:spPr>
          <a:xfrm>
            <a:off x="428625" y="2232757"/>
            <a:ext cx="932259" cy="353616"/>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Mistral Large</a:t>
            </a:r>
            <a:endParaRPr lang="en-US" sz="727" dirty="0"/>
          </a:p>
        </p:txBody>
      </p:sp>
      <p:sp>
        <p:nvSpPr>
          <p:cNvPr id="20" name="Text 16"/>
          <p:cNvSpPr/>
          <p:nvPr/>
        </p:nvSpPr>
        <p:spPr>
          <a:xfrm>
            <a:off x="1360884" y="2232757"/>
            <a:ext cx="932259" cy="353616"/>
          </a:xfrm>
          <a:prstGeom prst="rect">
            <a:avLst/>
          </a:prstGeom>
          <a:noFill/>
          <a:ln/>
        </p:spPr>
        <p:txBody>
          <a:bodyPr wrap="square" lIns="0" tIns="127508" rIns="0" bIns="127508" rtlCol="0" anchor="ctr">
            <a:spAutoFit/>
          </a:bodyPr>
          <a:lstStyle/>
          <a:p>
            <a:pPr marL="0" indent="0" algn="l">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~0,90 MAD</a:t>
            </a:r>
            <a:endParaRPr lang="en-US" sz="683" dirty="0"/>
          </a:p>
        </p:txBody>
      </p:sp>
      <p:sp>
        <p:nvSpPr>
          <p:cNvPr id="21" name="Text 17"/>
          <p:cNvSpPr/>
          <p:nvPr/>
        </p:nvSpPr>
        <p:spPr>
          <a:xfrm>
            <a:off x="2293144" y="2232757"/>
            <a:ext cx="1350169" cy="353616"/>
          </a:xfrm>
          <a:prstGeom prst="rect">
            <a:avLst/>
          </a:prstGeom>
          <a:noFill/>
          <a:ln/>
        </p:spPr>
        <p:txBody>
          <a:bodyPr wrap="square" lIns="0" tIns="127508" rIns="0" bIns="127508" rtlCol="0" anchor="ctr">
            <a:spAutoFit/>
          </a:bodyPr>
          <a:lstStyle/>
          <a:p>
            <a:pPr marL="0" indent="0" algn="l">
              <a:lnSpc>
                <a:spcPts val="900"/>
              </a:lnSpc>
              <a:buNone/>
            </a:pPr>
            <a:r>
              <a:rPr lang="en-US" sz="727" dirty="0">
                <a:solidFill>
                  <a:srgbClr val="1A1A1A"/>
                </a:solidFill>
                <a:latin typeface="JetBrains Mono" pitchFamily="34" charset="0"/>
                <a:ea typeface="JetBrains Mono" pitchFamily="34" charset="-122"/>
                <a:cs typeface="JetBrains Mono" pitchFamily="34" charset="-120"/>
              </a:rPr>
              <a:t>Volume / Souveraineté</a:t>
            </a:r>
            <a:endParaRPr lang="en-US" sz="727" dirty="0"/>
          </a:p>
        </p:txBody>
      </p:sp>
      <p:sp>
        <p:nvSpPr>
          <p:cNvPr id="22" name="Text 18"/>
          <p:cNvSpPr/>
          <p:nvPr/>
        </p:nvSpPr>
        <p:spPr>
          <a:xfrm>
            <a:off x="428625" y="2732819"/>
            <a:ext cx="3214688" cy="220005"/>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999999"/>
                </a:solidFill>
                <a:latin typeface="JetBrains Mono" pitchFamily="34" charset="0"/>
                <a:ea typeface="JetBrains Mono" pitchFamily="34" charset="-122"/>
                <a:cs typeface="JetBrains Mono" pitchFamily="34" charset="-120"/>
              </a:rPr>
              <a:t>*Estimations basées sur ~25 000 tokens par génération.
 Taux de change : 1 € ≈ 11 MAD. Prix indicatifs, mars 2026.</a:t>
            </a:r>
            <a:endParaRPr lang="en-US" sz="568" dirty="0"/>
          </a:p>
        </p:txBody>
      </p:sp>
      <p:sp>
        <p:nvSpPr>
          <p:cNvPr id="23" name="Shape 19"/>
          <p:cNvSpPr/>
          <p:nvPr/>
        </p:nvSpPr>
        <p:spPr>
          <a:xfrm>
            <a:off x="3929063" y="0"/>
            <a:ext cx="5214938" cy="5143500"/>
          </a:xfrm>
          <a:prstGeom prst="rect">
            <a:avLst/>
          </a:prstGeom>
          <a:solidFill>
            <a:srgbClr val="F9F9FA"/>
          </a:solidFill>
          <a:ln/>
        </p:spPr>
        <p:txBody>
          <a:bodyPr/>
          <a:lstStyle/>
          <a:p>
            <a:endParaRPr lang="fr-FR"/>
          </a:p>
        </p:txBody>
      </p:sp>
      <p:sp>
        <p:nvSpPr>
          <p:cNvPr id="24" name="Text 20"/>
          <p:cNvSpPr/>
          <p:nvPr/>
        </p:nvSpPr>
        <p:spPr>
          <a:xfrm>
            <a:off x="4357688" y="714375"/>
            <a:ext cx="4357688"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Détail du coût humain</a:t>
            </a:r>
            <a:endParaRPr lang="en-US" sz="1193" dirty="0"/>
          </a:p>
        </p:txBody>
      </p:sp>
      <p:sp>
        <p:nvSpPr>
          <p:cNvPr id="25" name="Text 21"/>
          <p:cNvSpPr/>
          <p:nvPr/>
        </p:nvSpPr>
        <p:spPr>
          <a:xfrm>
            <a:off x="4514850" y="1085850"/>
            <a:ext cx="1821656"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Salaire mensuel (Rédacteur AO)</a:t>
            </a:r>
            <a:endParaRPr lang="en-US" sz="727" dirty="0"/>
          </a:p>
        </p:txBody>
      </p:sp>
      <p:sp>
        <p:nvSpPr>
          <p:cNvPr id="26" name="Text 22"/>
          <p:cNvSpPr/>
          <p:nvPr/>
        </p:nvSpPr>
        <p:spPr>
          <a:xfrm>
            <a:off x="8108156" y="1085850"/>
            <a:ext cx="607219" cy="132159"/>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10 000 MAD</a:t>
            </a:r>
            <a:endParaRPr lang="en-US" sz="683" dirty="0"/>
          </a:p>
        </p:txBody>
      </p:sp>
      <p:sp>
        <p:nvSpPr>
          <p:cNvPr id="27" name="Text 23"/>
          <p:cNvSpPr/>
          <p:nvPr/>
        </p:nvSpPr>
        <p:spPr>
          <a:xfrm>
            <a:off x="4514850" y="1325166"/>
            <a:ext cx="1275159"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Jours ouvrés par mois</a:t>
            </a:r>
            <a:endParaRPr lang="en-US" sz="727" dirty="0"/>
          </a:p>
        </p:txBody>
      </p:sp>
      <p:sp>
        <p:nvSpPr>
          <p:cNvPr id="28" name="Text 24"/>
          <p:cNvSpPr/>
          <p:nvPr/>
        </p:nvSpPr>
        <p:spPr>
          <a:xfrm>
            <a:off x="8229600" y="1325166"/>
            <a:ext cx="485775" cy="132159"/>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22 Jours</a:t>
            </a:r>
            <a:endParaRPr lang="en-US" sz="683" dirty="0"/>
          </a:p>
        </p:txBody>
      </p:sp>
      <p:sp>
        <p:nvSpPr>
          <p:cNvPr id="29" name="Text 25"/>
          <p:cNvSpPr/>
          <p:nvPr/>
        </p:nvSpPr>
        <p:spPr>
          <a:xfrm>
            <a:off x="4514850" y="1564481"/>
            <a:ext cx="1760934"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Coût journalier (10 000 / 22)</a:t>
            </a:r>
            <a:endParaRPr lang="en-US" sz="727" dirty="0"/>
          </a:p>
        </p:txBody>
      </p:sp>
      <p:sp>
        <p:nvSpPr>
          <p:cNvPr id="30" name="Text 26"/>
          <p:cNvSpPr/>
          <p:nvPr/>
        </p:nvSpPr>
        <p:spPr>
          <a:xfrm>
            <a:off x="8229600" y="1564481"/>
            <a:ext cx="485775" cy="132159"/>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~454 MAD</a:t>
            </a:r>
            <a:endParaRPr lang="en-US" sz="683" dirty="0"/>
          </a:p>
        </p:txBody>
      </p:sp>
      <p:sp>
        <p:nvSpPr>
          <p:cNvPr id="31" name="Text 27"/>
          <p:cNvSpPr/>
          <p:nvPr/>
        </p:nvSpPr>
        <p:spPr>
          <a:xfrm>
            <a:off x="4514850" y="1803797"/>
            <a:ext cx="1578769" cy="132159"/>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Temps moyen par réponse AO</a:t>
            </a:r>
            <a:endParaRPr lang="en-US" sz="727" dirty="0"/>
          </a:p>
        </p:txBody>
      </p:sp>
      <p:sp>
        <p:nvSpPr>
          <p:cNvPr id="32" name="Text 28"/>
          <p:cNvSpPr/>
          <p:nvPr/>
        </p:nvSpPr>
        <p:spPr>
          <a:xfrm>
            <a:off x="8290322" y="1803797"/>
            <a:ext cx="425053" cy="132159"/>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2 Jours</a:t>
            </a:r>
            <a:endParaRPr lang="en-US" sz="683" dirty="0"/>
          </a:p>
        </p:txBody>
      </p:sp>
      <p:sp>
        <p:nvSpPr>
          <p:cNvPr id="33" name="Shape 29"/>
          <p:cNvSpPr/>
          <p:nvPr/>
        </p:nvSpPr>
        <p:spPr>
          <a:xfrm>
            <a:off x="4357688" y="2257425"/>
            <a:ext cx="4357688" cy="800100"/>
          </a:xfrm>
          <a:prstGeom prst="rect">
            <a:avLst/>
          </a:prstGeom>
          <a:solidFill>
            <a:srgbClr val="1A1A1A"/>
          </a:solidFill>
          <a:ln/>
        </p:spPr>
        <p:txBody>
          <a:bodyPr/>
          <a:lstStyle/>
          <a:p>
            <a:endParaRPr lang="fr-FR"/>
          </a:p>
        </p:txBody>
      </p:sp>
      <p:sp>
        <p:nvSpPr>
          <p:cNvPr id="34" name="Text 30"/>
          <p:cNvSpPr/>
          <p:nvPr/>
        </p:nvSpPr>
        <p:spPr>
          <a:xfrm>
            <a:off x="4536281" y="2436019"/>
            <a:ext cx="1189434" cy="103584"/>
          </a:xfrm>
          <a:prstGeom prst="rect">
            <a:avLst/>
          </a:prstGeom>
          <a:noFill/>
          <a:ln/>
        </p:spPr>
        <p:txBody>
          <a:bodyPr wrap="none" lIns="0" tIns="0" rIns="0" bIns="0" rtlCol="0" anchor="t">
            <a:spAutoFit/>
          </a:bodyPr>
          <a:lstStyle/>
          <a:p>
            <a:pPr marL="0" indent="0" algn="ctr">
              <a:lnSpc>
                <a:spcPts val="700"/>
              </a:lnSpc>
              <a:buNone/>
            </a:pPr>
            <a:r>
              <a:rPr lang="en-US" sz="568" kern="0" spc="1" dirty="0">
                <a:solidFill>
                  <a:srgbClr val="FFFFFF">
                    <a:alpha val="70000"/>
                  </a:srgbClr>
                </a:solidFill>
                <a:latin typeface="JetBrains Mono" pitchFamily="34" charset="0"/>
                <a:ea typeface="JetBrains Mono" pitchFamily="34" charset="-122"/>
                <a:cs typeface="JetBrains Mono" pitchFamily="34" charset="-120"/>
              </a:rPr>
              <a:t>COÛT HUMAIN</a:t>
            </a:r>
            <a:endParaRPr lang="en-US" sz="568" dirty="0"/>
          </a:p>
        </p:txBody>
      </p:sp>
      <p:sp>
        <p:nvSpPr>
          <p:cNvPr id="35" name="Text 31"/>
          <p:cNvSpPr/>
          <p:nvPr/>
        </p:nvSpPr>
        <p:spPr>
          <a:xfrm>
            <a:off x="4536281" y="2575322"/>
            <a:ext cx="1189434" cy="303609"/>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FFFF"/>
                </a:solidFill>
                <a:latin typeface="Playfair Display" pitchFamily="34" charset="0"/>
                <a:ea typeface="Playfair Display" pitchFamily="34" charset="-122"/>
                <a:cs typeface="Playfair Display" pitchFamily="34" charset="-120"/>
              </a:rPr>
              <a:t>~908 MAD</a:t>
            </a:r>
            <a:endParaRPr lang="en-US" sz="1602" dirty="0"/>
          </a:p>
        </p:txBody>
      </p:sp>
      <p:sp>
        <p:nvSpPr>
          <p:cNvPr id="36" name="Text 32"/>
          <p:cNvSpPr/>
          <p:nvPr/>
        </p:nvSpPr>
        <p:spPr>
          <a:xfrm>
            <a:off x="6471903" y="2558355"/>
            <a:ext cx="152447" cy="198239"/>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FFFFFF">
                    <a:alpha val="50000"/>
                  </a:srgbClr>
                </a:solidFill>
                <a:latin typeface="Times New Roman" pitchFamily="34" charset="0"/>
                <a:ea typeface="Times New Roman" pitchFamily="34" charset="-122"/>
                <a:cs typeface="Times New Roman" pitchFamily="34" charset="-120"/>
              </a:rPr>
              <a:t>vs</a:t>
            </a:r>
            <a:endParaRPr lang="en-US" sz="1269" dirty="0"/>
          </a:p>
        </p:txBody>
      </p:sp>
      <p:sp>
        <p:nvSpPr>
          <p:cNvPr id="37" name="Text 33"/>
          <p:cNvSpPr/>
          <p:nvPr/>
        </p:nvSpPr>
        <p:spPr>
          <a:xfrm>
            <a:off x="7370536" y="2436019"/>
            <a:ext cx="1166217" cy="103584"/>
          </a:xfrm>
          <a:prstGeom prst="rect">
            <a:avLst/>
          </a:prstGeom>
          <a:noFill/>
          <a:ln/>
        </p:spPr>
        <p:txBody>
          <a:bodyPr wrap="none" lIns="0" tIns="0" rIns="0" bIns="0" rtlCol="0" anchor="t">
            <a:spAutoFit/>
          </a:bodyPr>
          <a:lstStyle/>
          <a:p>
            <a:pPr marL="0" indent="0" algn="ctr">
              <a:lnSpc>
                <a:spcPts val="700"/>
              </a:lnSpc>
              <a:buNone/>
            </a:pPr>
            <a:r>
              <a:rPr lang="en-US" sz="568" kern="0" spc="1" dirty="0">
                <a:solidFill>
                  <a:srgbClr val="FFFFFF">
                    <a:alpha val="70000"/>
                  </a:srgbClr>
                </a:solidFill>
                <a:latin typeface="JetBrains Mono" pitchFamily="34" charset="0"/>
                <a:ea typeface="JetBrains Mono" pitchFamily="34" charset="-122"/>
                <a:cs typeface="JetBrains Mono" pitchFamily="34" charset="-120"/>
              </a:rPr>
              <a:t>COÛT OFFRIA</a:t>
            </a:r>
            <a:endParaRPr lang="en-US" sz="568" dirty="0"/>
          </a:p>
        </p:txBody>
      </p:sp>
      <p:sp>
        <p:nvSpPr>
          <p:cNvPr id="38" name="Text 34"/>
          <p:cNvSpPr/>
          <p:nvPr/>
        </p:nvSpPr>
        <p:spPr>
          <a:xfrm>
            <a:off x="7370536" y="2575322"/>
            <a:ext cx="1166217" cy="303609"/>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FF4D4D"/>
                </a:solidFill>
                <a:latin typeface="Playfair Display" pitchFamily="34" charset="0"/>
                <a:ea typeface="Playfair Display" pitchFamily="34" charset="-122"/>
                <a:cs typeface="Playfair Display" pitchFamily="34" charset="-120"/>
              </a:rPr>
              <a:t>~1,65 MAD</a:t>
            </a:r>
            <a:endParaRPr lang="en-US" sz="1602" dirty="0"/>
          </a:p>
        </p:txBody>
      </p:sp>
      <p:sp>
        <p:nvSpPr>
          <p:cNvPr id="39" name="Text 35"/>
          <p:cNvSpPr/>
          <p:nvPr/>
        </p:nvSpPr>
        <p:spPr>
          <a:xfrm>
            <a:off x="4357688" y="3200400"/>
            <a:ext cx="4357688" cy="457200"/>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FF4D4D"/>
                </a:solidFill>
                <a:latin typeface="Playfair Display" pitchFamily="34" charset="0"/>
                <a:ea typeface="Playfair Display" pitchFamily="34" charset="-122"/>
                <a:cs typeface="Playfair Display" pitchFamily="34" charset="-120"/>
              </a:rPr>
              <a:t>×545</a:t>
            </a:r>
            <a:endParaRPr lang="en-US" sz="2436" dirty="0"/>
          </a:p>
        </p:txBody>
      </p:sp>
      <p:sp>
        <p:nvSpPr>
          <p:cNvPr id="40" name="Text 36"/>
          <p:cNvSpPr/>
          <p:nvPr/>
        </p:nvSpPr>
        <p:spPr>
          <a:xfrm>
            <a:off x="4357688" y="3657600"/>
            <a:ext cx="4357688" cy="112514"/>
          </a:xfrm>
          <a:prstGeom prst="rect">
            <a:avLst/>
          </a:prstGeom>
          <a:noFill/>
          <a:ln/>
        </p:spPr>
        <p:txBody>
          <a:bodyPr wrap="none" lIns="0" tIns="0" rIns="0" bIns="0" rtlCol="0" anchor="t">
            <a:spAutoFit/>
          </a:bodyPr>
          <a:lstStyle/>
          <a:p>
            <a:pPr marL="0" indent="0" algn="ctr">
              <a:lnSpc>
                <a:spcPts val="800"/>
              </a:lnSpc>
              <a:buNone/>
            </a:pPr>
            <a:r>
              <a:rPr lang="en-US" sz="621" kern="0" spc="1" dirty="0">
                <a:solidFill>
                  <a:srgbClr val="999999"/>
                </a:solidFill>
                <a:latin typeface="JetBrains Mono" pitchFamily="34" charset="0"/>
                <a:ea typeface="JetBrains Mono" pitchFamily="34" charset="-122"/>
                <a:cs typeface="JetBrains Mono" pitchFamily="34" charset="-120"/>
              </a:rPr>
              <a:t>RAPPORT DE RENTABILITÉ</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6095991" cy="5143500"/>
          </a:xfrm>
          <a:prstGeom prst="rect">
            <a:avLst/>
          </a:prstGeom>
          <a:solidFill>
            <a:srgbClr val="000000">
              <a:alpha val="0"/>
            </a:srgbClr>
          </a:solidFill>
          <a:ln/>
        </p:spPr>
        <p:txBody>
          <a:bodyPr/>
          <a:lstStyle/>
          <a:p>
            <a:endParaRPr lang="fr-FR"/>
          </a:p>
        </p:txBody>
      </p:sp>
      <p:sp>
        <p:nvSpPr>
          <p:cNvPr id="5" name="Shape 1"/>
          <p:cNvSpPr/>
          <p:nvPr/>
        </p:nvSpPr>
        <p:spPr>
          <a:xfrm>
            <a:off x="6088847" y="0"/>
            <a:ext cx="7144" cy="5143500"/>
          </a:xfrm>
          <a:prstGeom prst="rect">
            <a:avLst/>
          </a:prstGeom>
          <a:solidFill>
            <a:srgbClr val="E5E5E5"/>
          </a:solidFill>
          <a:ln/>
        </p:spPr>
        <p:txBody>
          <a:bodyPr/>
          <a:lstStyle/>
          <a:p>
            <a:endParaRPr lang="fr-FR"/>
          </a:p>
        </p:txBody>
      </p:sp>
      <p:sp>
        <p:nvSpPr>
          <p:cNvPr id="6" name="Shape 2"/>
          <p:cNvSpPr/>
          <p:nvPr/>
        </p:nvSpPr>
        <p:spPr>
          <a:xfrm>
            <a:off x="2255025" y="673298"/>
            <a:ext cx="1585913" cy="360759"/>
          </a:xfrm>
          <a:prstGeom prst="rect">
            <a:avLst/>
          </a:prstGeom>
          <a:solidFill>
            <a:srgbClr val="FFFFFF"/>
          </a:solidFill>
          <a:ln w="9144">
            <a:solidFill>
              <a:srgbClr val="1A1A1A"/>
            </a:solidFill>
            <a:prstDash val="solid"/>
          </a:ln>
        </p:spPr>
        <p:txBody>
          <a:bodyPr/>
          <a:lstStyle/>
          <a:p>
            <a:endParaRPr lang="fr-FR"/>
          </a:p>
        </p:txBody>
      </p:sp>
      <p:sp>
        <p:nvSpPr>
          <p:cNvPr id="7" name="Text 3"/>
          <p:cNvSpPr/>
          <p:nvPr/>
        </p:nvSpPr>
        <p:spPr>
          <a:xfrm>
            <a:off x="2255025" y="673298"/>
            <a:ext cx="1585913" cy="360759"/>
          </a:xfrm>
          <a:prstGeom prst="rect">
            <a:avLst/>
          </a:prstGeom>
          <a:noFill/>
          <a:ln/>
        </p:spPr>
        <p:txBody>
          <a:bodyPr wrap="square" lIns="212598" tIns="127508" rIns="212598" bIns="127508" rtlCol="0" anchor="t">
            <a:spAutoFit/>
          </a:bodyPr>
          <a:lstStyle/>
          <a:p>
            <a:pPr marL="0" indent="0" algn="ctr">
              <a:lnSpc>
                <a:spcPts val="900"/>
              </a:lnSpc>
              <a:buNone/>
            </a:pPr>
            <a:r>
              <a:rPr lang="en-US" sz="727" dirty="0">
                <a:solidFill>
                  <a:srgbClr val="000000"/>
                </a:solidFill>
                <a:latin typeface="JetBrains Mono" pitchFamily="34" charset="0"/>
                <a:ea typeface="JetBrains Mono" pitchFamily="34" charset="-122"/>
                <a:cs typeface="JetBrains Mono" pitchFamily="34" charset="-120"/>
              </a:rPr>
              <a:t>Client (React / ERP)</a:t>
            </a:r>
            <a:endParaRPr lang="en-US" sz="727" dirty="0"/>
          </a:p>
        </p:txBody>
      </p:sp>
      <p:sp>
        <p:nvSpPr>
          <p:cNvPr id="8" name="Shape 4"/>
          <p:cNvSpPr/>
          <p:nvPr/>
        </p:nvSpPr>
        <p:spPr>
          <a:xfrm>
            <a:off x="2444335" y="1384102"/>
            <a:ext cx="1207294" cy="346472"/>
          </a:xfrm>
          <a:prstGeom prst="rect">
            <a:avLst/>
          </a:prstGeom>
          <a:solidFill>
            <a:srgbClr val="FF4D4D"/>
          </a:solidFill>
          <a:ln/>
        </p:spPr>
        <p:txBody>
          <a:bodyPr/>
          <a:lstStyle/>
          <a:p>
            <a:endParaRPr lang="fr-FR"/>
          </a:p>
        </p:txBody>
      </p:sp>
      <p:sp>
        <p:nvSpPr>
          <p:cNvPr id="9" name="Text 5"/>
          <p:cNvSpPr/>
          <p:nvPr/>
        </p:nvSpPr>
        <p:spPr>
          <a:xfrm>
            <a:off x="2444335" y="1384102"/>
            <a:ext cx="1207294" cy="346472"/>
          </a:xfrm>
          <a:prstGeom prst="rect">
            <a:avLst/>
          </a:prstGeom>
          <a:noFill/>
          <a:ln/>
        </p:spPr>
        <p:txBody>
          <a:bodyPr wrap="square" lIns="212598" tIns="127508" rIns="212598" bIns="127508" rtlCol="0" anchor="t">
            <a:spAutoFit/>
          </a:bodyPr>
          <a:lstStyle/>
          <a:p>
            <a:pPr marL="0" indent="0" algn="ctr">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FastAPI Router</a:t>
            </a:r>
            <a:endParaRPr lang="en-US" sz="683" dirty="0"/>
          </a:p>
        </p:txBody>
      </p:sp>
      <p:sp>
        <p:nvSpPr>
          <p:cNvPr id="10" name="Shape 6"/>
          <p:cNvSpPr/>
          <p:nvPr/>
        </p:nvSpPr>
        <p:spPr>
          <a:xfrm>
            <a:off x="1799611" y="2087761"/>
            <a:ext cx="2496741" cy="360759"/>
          </a:xfrm>
          <a:prstGeom prst="rect">
            <a:avLst/>
          </a:prstGeom>
          <a:solidFill>
            <a:srgbClr val="FFFFFF"/>
          </a:solidFill>
          <a:ln w="9144">
            <a:solidFill>
              <a:srgbClr val="1A1A1A"/>
            </a:solidFill>
            <a:prstDash val="solid"/>
          </a:ln>
        </p:spPr>
        <p:txBody>
          <a:bodyPr/>
          <a:lstStyle/>
          <a:p>
            <a:endParaRPr lang="fr-FR"/>
          </a:p>
        </p:txBody>
      </p:sp>
      <p:sp>
        <p:nvSpPr>
          <p:cNvPr id="11" name="Text 7"/>
          <p:cNvSpPr/>
          <p:nvPr/>
        </p:nvSpPr>
        <p:spPr>
          <a:xfrm>
            <a:off x="1799611" y="2087761"/>
            <a:ext cx="2496741" cy="360759"/>
          </a:xfrm>
          <a:prstGeom prst="rect">
            <a:avLst/>
          </a:prstGeom>
          <a:noFill/>
          <a:ln/>
        </p:spPr>
        <p:txBody>
          <a:bodyPr wrap="square" lIns="212598" tIns="127508" rIns="212598" bIns="127508" rtlCol="0" anchor="t">
            <a:spAutoFit/>
          </a:bodyPr>
          <a:lstStyle/>
          <a:p>
            <a:pPr marL="0" indent="0" algn="ctr">
              <a:lnSpc>
                <a:spcPts val="900"/>
              </a:lnSpc>
              <a:buNone/>
            </a:pPr>
            <a:r>
              <a:rPr lang="en-US" sz="727" dirty="0">
                <a:solidFill>
                  <a:srgbClr val="000000"/>
                </a:solidFill>
                <a:latin typeface="JetBrains Mono" pitchFamily="34" charset="0"/>
                <a:ea typeface="JetBrains Mono" pitchFamily="34" charset="-122"/>
                <a:cs typeface="JetBrains Mono" pitchFamily="34" charset="-120"/>
              </a:rPr>
              <a:t>AOParserService + Brief Stratégique</a:t>
            </a:r>
            <a:endParaRPr lang="en-US" sz="727" dirty="0"/>
          </a:p>
        </p:txBody>
      </p:sp>
      <p:sp>
        <p:nvSpPr>
          <p:cNvPr id="12" name="Shape 8"/>
          <p:cNvSpPr/>
          <p:nvPr/>
        </p:nvSpPr>
        <p:spPr>
          <a:xfrm>
            <a:off x="2183141" y="2870002"/>
            <a:ext cx="1437680" cy="112514"/>
          </a:xfrm>
          <a:prstGeom prst="rect">
            <a:avLst/>
          </a:prstGeom>
          <a:solidFill>
            <a:srgbClr val="FFFFFF"/>
          </a:solidFill>
          <a:ln/>
        </p:spPr>
        <p:txBody>
          <a:bodyPr/>
          <a:lstStyle/>
          <a:p>
            <a:endParaRPr lang="fr-FR"/>
          </a:p>
        </p:txBody>
      </p:sp>
      <p:sp>
        <p:nvSpPr>
          <p:cNvPr id="13" name="Text 9"/>
          <p:cNvSpPr/>
          <p:nvPr/>
        </p:nvSpPr>
        <p:spPr>
          <a:xfrm>
            <a:off x="2183141" y="2870002"/>
            <a:ext cx="1437680" cy="112514"/>
          </a:xfrm>
          <a:prstGeom prst="rect">
            <a:avLst/>
          </a:prstGeom>
          <a:noFill/>
          <a:ln/>
        </p:spPr>
        <p:txBody>
          <a:bodyPr wrap="none" lIns="85090" tIns="0" rIns="85090" bIns="0" rtlCol="0" anchor="t">
            <a:spAutoFit/>
          </a:bodyPr>
          <a:lstStyle/>
          <a:p>
            <a:pPr marL="0" indent="0" algn="l">
              <a:lnSpc>
                <a:spcPts val="800"/>
              </a:lnSpc>
              <a:buNone/>
            </a:pPr>
            <a:r>
              <a:rPr lang="en-US" sz="584" b="1" dirty="0">
                <a:solidFill>
                  <a:srgbClr val="FF4D4D"/>
                </a:solidFill>
                <a:latin typeface="JetBrains Mono" pitchFamily="34" charset="0"/>
                <a:ea typeface="JetBrains Mono" pitchFamily="34" charset="-122"/>
                <a:cs typeface="JetBrains Mono" pitchFamily="34" charset="-120"/>
              </a:rPr>
              <a:t>× 8 Sections en Parallèle</a:t>
            </a:r>
            <a:endParaRPr lang="en-US" sz="584" dirty="0"/>
          </a:p>
        </p:txBody>
      </p:sp>
      <p:sp>
        <p:nvSpPr>
          <p:cNvPr id="14" name="Shape 10"/>
          <p:cNvSpPr/>
          <p:nvPr/>
        </p:nvSpPr>
        <p:spPr>
          <a:xfrm>
            <a:off x="2183141" y="3098602"/>
            <a:ext cx="591564" cy="339328"/>
          </a:xfrm>
          <a:prstGeom prst="rect">
            <a:avLst/>
          </a:prstGeom>
          <a:solidFill>
            <a:srgbClr val="F4F4F5"/>
          </a:solidFill>
          <a:ln w="9144">
            <a:solidFill>
              <a:srgbClr val="E5E5E5"/>
            </a:solidFill>
            <a:prstDash val="solid"/>
          </a:ln>
        </p:spPr>
        <p:txBody>
          <a:bodyPr/>
          <a:lstStyle/>
          <a:p>
            <a:endParaRPr lang="fr-FR"/>
          </a:p>
        </p:txBody>
      </p:sp>
      <p:sp>
        <p:nvSpPr>
          <p:cNvPr id="15" name="Text 11"/>
          <p:cNvSpPr/>
          <p:nvPr/>
        </p:nvSpPr>
        <p:spPr>
          <a:xfrm>
            <a:off x="2183141" y="3098602"/>
            <a:ext cx="591564" cy="339328"/>
          </a:xfrm>
          <a:prstGeom prst="rect">
            <a:avLst/>
          </a:prstGeom>
          <a:noFill/>
          <a:ln/>
        </p:spPr>
        <p:txBody>
          <a:bodyPr wrap="square" lIns="85090" tIns="85090" rIns="85090" bIns="85090" rtlCol="0" anchor="t">
            <a:spAutoFit/>
          </a:bodyPr>
          <a:lstStyle/>
          <a:p>
            <a:pPr marL="0" indent="0" algn="l">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RAG Context
(Qdrant)</a:t>
            </a:r>
            <a:endParaRPr lang="en-US" sz="568" dirty="0"/>
          </a:p>
        </p:txBody>
      </p:sp>
      <p:sp>
        <p:nvSpPr>
          <p:cNvPr id="16" name="Shape 12"/>
          <p:cNvSpPr/>
          <p:nvPr/>
        </p:nvSpPr>
        <p:spPr>
          <a:xfrm>
            <a:off x="2838999" y="3098602"/>
            <a:ext cx="392878" cy="339328"/>
          </a:xfrm>
          <a:prstGeom prst="rect">
            <a:avLst/>
          </a:prstGeom>
          <a:solidFill>
            <a:srgbClr val="F4F4F5"/>
          </a:solidFill>
          <a:ln w="9144">
            <a:solidFill>
              <a:srgbClr val="E5E5E5"/>
            </a:solidFill>
            <a:prstDash val="solid"/>
          </a:ln>
        </p:spPr>
        <p:txBody>
          <a:bodyPr/>
          <a:lstStyle/>
          <a:p>
            <a:endParaRPr lang="fr-FR"/>
          </a:p>
        </p:txBody>
      </p:sp>
      <p:sp>
        <p:nvSpPr>
          <p:cNvPr id="17" name="Text 13"/>
          <p:cNvSpPr/>
          <p:nvPr/>
        </p:nvSpPr>
        <p:spPr>
          <a:xfrm>
            <a:off x="2838999" y="3098602"/>
            <a:ext cx="392878" cy="339328"/>
          </a:xfrm>
          <a:prstGeom prst="rect">
            <a:avLst/>
          </a:prstGeom>
          <a:noFill/>
          <a:ln/>
        </p:spPr>
        <p:txBody>
          <a:bodyPr wrap="square" lIns="85090" tIns="85090" rIns="85090" bIns="85090" rtlCol="0" anchor="t">
            <a:spAutoFit/>
          </a:bodyPr>
          <a:lstStyle/>
          <a:p>
            <a:pPr marL="0" indent="0" algn="l">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Prompt
Builder</a:t>
            </a:r>
            <a:endParaRPr lang="en-US" sz="568" dirty="0"/>
          </a:p>
        </p:txBody>
      </p:sp>
      <p:sp>
        <p:nvSpPr>
          <p:cNvPr id="18" name="Shape 14"/>
          <p:cNvSpPr/>
          <p:nvPr/>
        </p:nvSpPr>
        <p:spPr>
          <a:xfrm>
            <a:off x="3296171" y="3098602"/>
            <a:ext cx="602391" cy="339328"/>
          </a:xfrm>
          <a:prstGeom prst="rect">
            <a:avLst/>
          </a:prstGeom>
          <a:solidFill>
            <a:srgbClr val="F4F4F5"/>
          </a:solidFill>
          <a:ln w="9144">
            <a:solidFill>
              <a:srgbClr val="E5E5E5"/>
            </a:solidFill>
            <a:prstDash val="solid"/>
          </a:ln>
        </p:spPr>
        <p:txBody>
          <a:bodyPr/>
          <a:lstStyle/>
          <a:p>
            <a:endParaRPr lang="fr-FR"/>
          </a:p>
        </p:txBody>
      </p:sp>
      <p:sp>
        <p:nvSpPr>
          <p:cNvPr id="19" name="Text 15"/>
          <p:cNvSpPr/>
          <p:nvPr/>
        </p:nvSpPr>
        <p:spPr>
          <a:xfrm>
            <a:off x="3296171" y="3098602"/>
            <a:ext cx="602391" cy="339328"/>
          </a:xfrm>
          <a:prstGeom prst="rect">
            <a:avLst/>
          </a:prstGeom>
          <a:noFill/>
          <a:ln/>
        </p:spPr>
        <p:txBody>
          <a:bodyPr wrap="square" lIns="85090" tIns="85090" rIns="85090" bIns="85090" rtlCol="0" anchor="t">
            <a:spAutoFit/>
          </a:bodyPr>
          <a:lstStyle/>
          <a:p>
            <a:pPr marL="0" indent="0" algn="l">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Appel LLM
(Claude/GPT)</a:t>
            </a:r>
            <a:endParaRPr lang="en-US" sz="568" dirty="0"/>
          </a:p>
        </p:txBody>
      </p:sp>
      <p:sp>
        <p:nvSpPr>
          <p:cNvPr id="20" name="Shape 16"/>
          <p:cNvSpPr/>
          <p:nvPr/>
        </p:nvSpPr>
        <p:spPr>
          <a:xfrm>
            <a:off x="2042499" y="3945136"/>
            <a:ext cx="2010966" cy="360759"/>
          </a:xfrm>
          <a:prstGeom prst="rect">
            <a:avLst/>
          </a:prstGeom>
          <a:solidFill>
            <a:srgbClr val="FFFFFF"/>
          </a:solidFill>
          <a:ln w="9144">
            <a:solidFill>
              <a:srgbClr val="1A1A1A"/>
            </a:solidFill>
            <a:prstDash val="solid"/>
          </a:ln>
        </p:spPr>
        <p:txBody>
          <a:bodyPr/>
          <a:lstStyle/>
          <a:p>
            <a:endParaRPr lang="fr-FR"/>
          </a:p>
        </p:txBody>
      </p:sp>
      <p:sp>
        <p:nvSpPr>
          <p:cNvPr id="21" name="Text 17"/>
          <p:cNvSpPr/>
          <p:nvPr/>
        </p:nvSpPr>
        <p:spPr>
          <a:xfrm>
            <a:off x="2042499" y="3945136"/>
            <a:ext cx="2010966" cy="360759"/>
          </a:xfrm>
          <a:prstGeom prst="rect">
            <a:avLst/>
          </a:prstGeom>
          <a:noFill/>
          <a:ln/>
        </p:spPr>
        <p:txBody>
          <a:bodyPr wrap="square" lIns="212598" tIns="127508" rIns="212598" bIns="127508" rtlCol="0" anchor="t">
            <a:spAutoFit/>
          </a:bodyPr>
          <a:lstStyle/>
          <a:p>
            <a:pPr marL="0" indent="0" algn="ctr">
              <a:lnSpc>
                <a:spcPts val="900"/>
              </a:lnSpc>
              <a:buNone/>
            </a:pPr>
            <a:r>
              <a:rPr lang="en-US" sz="727" dirty="0">
                <a:solidFill>
                  <a:srgbClr val="000000"/>
                </a:solidFill>
                <a:latin typeface="JetBrains Mono" pitchFamily="34" charset="0"/>
                <a:ea typeface="JetBrains Mono" pitchFamily="34" charset="-122"/>
                <a:cs typeface="JetBrains Mono" pitchFamily="34" charset="-120"/>
              </a:rPr>
              <a:t>GenerationResult (Markdown)</a:t>
            </a:r>
            <a:endParaRPr lang="en-US" sz="727" dirty="0"/>
          </a:p>
        </p:txBody>
      </p:sp>
      <p:sp>
        <p:nvSpPr>
          <p:cNvPr id="22" name="Shape 18"/>
          <p:cNvSpPr/>
          <p:nvPr/>
        </p:nvSpPr>
        <p:spPr>
          <a:xfrm>
            <a:off x="6095991" y="0"/>
            <a:ext cx="3047981" cy="5143500"/>
          </a:xfrm>
          <a:prstGeom prst="rect">
            <a:avLst/>
          </a:prstGeom>
          <a:solidFill>
            <a:srgbClr val="F9F9FA"/>
          </a:solidFill>
          <a:ln/>
        </p:spPr>
        <p:txBody>
          <a:bodyPr/>
          <a:lstStyle/>
          <a:p>
            <a:endParaRPr lang="fr-FR"/>
          </a:p>
        </p:txBody>
      </p:sp>
      <p:sp>
        <p:nvSpPr>
          <p:cNvPr id="23" name="Text 19"/>
          <p:cNvSpPr/>
          <p:nvPr/>
        </p:nvSpPr>
        <p:spPr>
          <a:xfrm>
            <a:off x="6381741" y="896903"/>
            <a:ext cx="2476481" cy="660071"/>
          </a:xfrm>
          <a:prstGeom prst="rect">
            <a:avLst/>
          </a:prstGeom>
          <a:noFill/>
          <a:ln/>
        </p:spPr>
        <p:txBody>
          <a:bodyPr wrap="square" lIns="0" tIns="0" rIns="0" bIns="0" rtlCol="0" anchor="t">
            <a:spAutoFit/>
          </a:bodyPr>
          <a:lstStyle/>
          <a:p>
            <a:pPr marL="0" indent="0" algn="l">
              <a:lnSpc>
                <a:spcPts val="2600"/>
              </a:lnSpc>
              <a:buNone/>
            </a:pPr>
            <a:r>
              <a:rPr lang="en-US" sz="2121" b="1" dirty="0">
                <a:solidFill>
                  <a:srgbClr val="1A1A1A"/>
                </a:solidFill>
                <a:latin typeface="Playfair Display" pitchFamily="34" charset="0"/>
                <a:ea typeface="Playfair Display" pitchFamily="34" charset="-122"/>
                <a:cs typeface="Playfair Display" pitchFamily="34" charset="-120"/>
              </a:rPr>
              <a:t>Architecture Globale</a:t>
            </a:r>
            <a:endParaRPr lang="en-US" sz="2121" dirty="0"/>
          </a:p>
        </p:txBody>
      </p:sp>
      <p:sp>
        <p:nvSpPr>
          <p:cNvPr id="24" name="Text 20"/>
          <p:cNvSpPr/>
          <p:nvPr/>
        </p:nvSpPr>
        <p:spPr>
          <a:xfrm>
            <a:off x="6381741" y="1842725"/>
            <a:ext cx="2476481" cy="22860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Stack Technique</a:t>
            </a:r>
            <a:endParaRPr lang="en-US" sz="1193" dirty="0"/>
          </a:p>
        </p:txBody>
      </p:sp>
      <p:sp>
        <p:nvSpPr>
          <p:cNvPr id="25" name="Text 21"/>
          <p:cNvSpPr/>
          <p:nvPr/>
        </p:nvSpPr>
        <p:spPr>
          <a:xfrm>
            <a:off x="6381741" y="2214200"/>
            <a:ext cx="2476481" cy="150019"/>
          </a:xfrm>
          <a:prstGeom prst="rect">
            <a:avLst/>
          </a:prstGeom>
          <a:noFill/>
          <a:ln/>
        </p:spPr>
        <p:txBody>
          <a:bodyPr wrap="none" lIns="170053" tIns="0" rIns="0" bIns="0" rtlCol="0" anchor="t">
            <a:spAutoFit/>
          </a:bodyPr>
          <a:lstStyle/>
          <a:p>
            <a:pPr marL="0" indent="0" algn="l">
              <a:lnSpc>
                <a:spcPts val="1100"/>
              </a:lnSpc>
              <a:buNone/>
            </a:pPr>
            <a:r>
              <a:rPr lang="en-US" sz="834" dirty="0">
                <a:solidFill>
                  <a:srgbClr val="666666"/>
                </a:solidFill>
                <a:latin typeface="JetBrains Mono" pitchFamily="34" charset="0"/>
                <a:ea typeface="JetBrains Mono" pitchFamily="34" charset="-122"/>
                <a:cs typeface="JetBrains Mono" pitchFamily="34" charset="-120"/>
              </a:rPr>
              <a:t>Python 3.12 · FastAPI</a:t>
            </a:r>
            <a:endParaRPr lang="en-US" sz="834" dirty="0"/>
          </a:p>
        </p:txBody>
      </p:sp>
      <p:sp>
        <p:nvSpPr>
          <p:cNvPr id="26" name="Text 22"/>
          <p:cNvSpPr/>
          <p:nvPr/>
        </p:nvSpPr>
        <p:spPr>
          <a:xfrm>
            <a:off x="6381741" y="2471375"/>
            <a:ext cx="2476481" cy="150019"/>
          </a:xfrm>
          <a:prstGeom prst="rect">
            <a:avLst/>
          </a:prstGeom>
          <a:noFill/>
          <a:ln/>
        </p:spPr>
        <p:txBody>
          <a:bodyPr wrap="none" lIns="170053" tIns="0" rIns="0" bIns="0" rtlCol="0" anchor="t">
            <a:spAutoFit/>
          </a:bodyPr>
          <a:lstStyle/>
          <a:p>
            <a:pPr marL="0" indent="0" algn="l">
              <a:lnSpc>
                <a:spcPts val="1100"/>
              </a:lnSpc>
              <a:buNone/>
            </a:pPr>
            <a:r>
              <a:rPr lang="en-US" sz="834" dirty="0">
                <a:solidFill>
                  <a:srgbClr val="666666"/>
                </a:solidFill>
                <a:latin typeface="JetBrains Mono" pitchFamily="34" charset="0"/>
                <a:ea typeface="JetBrains Mono" pitchFamily="34" charset="-122"/>
                <a:cs typeface="JetBrains Mono" pitchFamily="34" charset="-120"/>
              </a:rPr>
              <a:t>React · Vite · Tailwind</a:t>
            </a:r>
            <a:endParaRPr lang="en-US" sz="834" dirty="0"/>
          </a:p>
        </p:txBody>
      </p:sp>
      <p:sp>
        <p:nvSpPr>
          <p:cNvPr id="27" name="Text 23"/>
          <p:cNvSpPr/>
          <p:nvPr/>
        </p:nvSpPr>
        <p:spPr>
          <a:xfrm>
            <a:off x="6381741" y="2728550"/>
            <a:ext cx="2476481" cy="150019"/>
          </a:xfrm>
          <a:prstGeom prst="rect">
            <a:avLst/>
          </a:prstGeom>
          <a:noFill/>
          <a:ln/>
        </p:spPr>
        <p:txBody>
          <a:bodyPr wrap="none" lIns="170053" tIns="0" rIns="0" bIns="0" rtlCol="0" anchor="t">
            <a:spAutoFit/>
          </a:bodyPr>
          <a:lstStyle/>
          <a:p>
            <a:pPr marL="0" indent="0" algn="l">
              <a:lnSpc>
                <a:spcPts val="1100"/>
              </a:lnSpc>
              <a:buNone/>
            </a:pPr>
            <a:r>
              <a:rPr lang="en-US" sz="834" dirty="0">
                <a:solidFill>
                  <a:srgbClr val="666666"/>
                </a:solidFill>
                <a:latin typeface="JetBrains Mono" pitchFamily="34" charset="0"/>
                <a:ea typeface="JetBrains Mono" pitchFamily="34" charset="-122"/>
                <a:cs typeface="JetBrains Mono" pitchFamily="34" charset="-120"/>
              </a:rPr>
              <a:t>Qdrant (Vector DB)</a:t>
            </a:r>
            <a:endParaRPr lang="en-US" sz="834" dirty="0"/>
          </a:p>
        </p:txBody>
      </p:sp>
      <p:sp>
        <p:nvSpPr>
          <p:cNvPr id="28" name="Text 24"/>
          <p:cNvSpPr/>
          <p:nvPr/>
        </p:nvSpPr>
        <p:spPr>
          <a:xfrm>
            <a:off x="6381741" y="2985725"/>
            <a:ext cx="2476481" cy="150019"/>
          </a:xfrm>
          <a:prstGeom prst="rect">
            <a:avLst/>
          </a:prstGeom>
          <a:noFill/>
          <a:ln/>
        </p:spPr>
        <p:txBody>
          <a:bodyPr wrap="none" lIns="170053" tIns="0" rIns="0" bIns="0" rtlCol="0" anchor="t">
            <a:spAutoFit/>
          </a:bodyPr>
          <a:lstStyle/>
          <a:p>
            <a:pPr marL="0" indent="0" algn="l">
              <a:lnSpc>
                <a:spcPts val="1100"/>
              </a:lnSpc>
              <a:buNone/>
            </a:pPr>
            <a:r>
              <a:rPr lang="en-US" sz="834" dirty="0">
                <a:solidFill>
                  <a:srgbClr val="666666"/>
                </a:solidFill>
                <a:latin typeface="JetBrains Mono" pitchFamily="34" charset="0"/>
                <a:ea typeface="JetBrains Mono" pitchFamily="34" charset="-122"/>
                <a:cs typeface="JetBrains Mono" pitchFamily="34" charset="-120"/>
              </a:rPr>
              <a:t>Docker · Multi-LLM</a:t>
            </a:r>
            <a:endParaRPr lang="en-US" sz="834" dirty="0"/>
          </a:p>
        </p:txBody>
      </p:sp>
      <p:sp>
        <p:nvSpPr>
          <p:cNvPr id="29" name="Shape 25"/>
          <p:cNvSpPr/>
          <p:nvPr/>
        </p:nvSpPr>
        <p:spPr>
          <a:xfrm>
            <a:off x="6381741" y="3528650"/>
            <a:ext cx="2476481" cy="717947"/>
          </a:xfrm>
          <a:prstGeom prst="rect">
            <a:avLst/>
          </a:prstGeom>
          <a:solidFill>
            <a:srgbClr val="FFFFFF"/>
          </a:solidFill>
          <a:ln w="9144">
            <a:solidFill>
              <a:srgbClr val="E5E5E5"/>
            </a:solidFill>
            <a:prstDash val="solid"/>
          </a:ln>
        </p:spPr>
        <p:txBody>
          <a:bodyPr/>
          <a:lstStyle/>
          <a:p>
            <a:endParaRPr lang="fr-FR"/>
          </a:p>
        </p:txBody>
      </p:sp>
      <p:sp>
        <p:nvSpPr>
          <p:cNvPr id="30" name="Text 26"/>
          <p:cNvSpPr/>
          <p:nvPr/>
        </p:nvSpPr>
        <p:spPr>
          <a:xfrm>
            <a:off x="6524616" y="3678668"/>
            <a:ext cx="2190731" cy="417909"/>
          </a:xfrm>
          <a:prstGeom prst="rect">
            <a:avLst/>
          </a:prstGeom>
          <a:noFill/>
          <a:ln/>
        </p:spPr>
        <p:txBody>
          <a:bodyPr wrap="square" lIns="0" tIns="0" rIns="0" bIns="0" rtlCol="0" anchor="t">
            <a:spAutoFit/>
          </a:bodyPr>
          <a:lstStyle/>
          <a:p>
            <a:pPr marL="0" indent="0" algn="l">
              <a:lnSpc>
                <a:spcPts val="1100"/>
              </a:lnSpc>
              <a:buNone/>
            </a:pPr>
            <a:r>
              <a:rPr lang="en-US" sz="634" b="1" dirty="0">
                <a:solidFill>
                  <a:srgbClr val="666666"/>
                </a:solidFill>
                <a:latin typeface="JetBrains Mono" pitchFamily="34" charset="0"/>
                <a:ea typeface="JetBrains Mono" pitchFamily="34" charset="-122"/>
                <a:cs typeface="JetBrains Mono" pitchFamily="34" charset="-120"/>
              </a:rPr>
              <a:t>Microservice RAG-ETL</a:t>
            </a:r>
            <a:r>
              <a:rPr lang="en-US" sz="674" dirty="0">
                <a:solidFill>
                  <a:srgbClr val="666666"/>
                </a:solidFill>
                <a:latin typeface="JetBrains Mono" pitchFamily="34" charset="0"/>
                <a:ea typeface="JetBrains Mono" pitchFamily="34" charset="-122"/>
                <a:cs typeface="JetBrains Mono" pitchFamily="34" charset="-120"/>
              </a:rPr>
              <a:t> indépendant pour l'indexation de vos documents (PDF, DOCX, TXT).</a:t>
            </a:r>
            <a:endParaRPr lang="en-US" sz="67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375" y="571500"/>
            <a:ext cx="7715250" cy="557213"/>
          </a:xfrm>
          <a:prstGeom prst="rect">
            <a:avLst/>
          </a:prstGeom>
          <a:solidFill>
            <a:srgbClr val="000000">
              <a:alpha val="0"/>
            </a:srgbClr>
          </a:solidFill>
          <a:ln/>
        </p:spPr>
        <p:txBody>
          <a:bodyPr/>
          <a:lstStyle/>
          <a:p>
            <a:endParaRPr lang="fr-FR"/>
          </a:p>
        </p:txBody>
      </p:sp>
      <p:sp>
        <p:nvSpPr>
          <p:cNvPr id="5" name="Shape 1"/>
          <p:cNvSpPr/>
          <p:nvPr/>
        </p:nvSpPr>
        <p:spPr>
          <a:xfrm>
            <a:off x="714375" y="1100138"/>
            <a:ext cx="7715250" cy="28575"/>
          </a:xfrm>
          <a:prstGeom prst="rect">
            <a:avLst/>
          </a:prstGeom>
          <a:solidFill>
            <a:srgbClr val="FF4D4D"/>
          </a:solidFill>
          <a:ln/>
        </p:spPr>
        <p:txBody>
          <a:bodyPr/>
          <a:lstStyle/>
          <a:p>
            <a:endParaRPr lang="fr-FR"/>
          </a:p>
        </p:txBody>
      </p:sp>
      <p:sp>
        <p:nvSpPr>
          <p:cNvPr id="6" name="Text 2"/>
          <p:cNvSpPr/>
          <p:nvPr/>
        </p:nvSpPr>
        <p:spPr>
          <a:xfrm>
            <a:off x="714375" y="571500"/>
            <a:ext cx="7715250" cy="557213"/>
          </a:xfrm>
          <a:prstGeom prst="rect">
            <a:avLst/>
          </a:prstGeom>
          <a:noFill/>
          <a:ln/>
        </p:spPr>
        <p:txBody>
          <a:bodyPr wrap="none" lIns="0" tIns="0" rIns="0" bIns="8509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Roadmap : Ce n'est que le début</a:t>
            </a:r>
            <a:endParaRPr lang="en-US" sz="2436" dirty="0"/>
          </a:p>
        </p:txBody>
      </p:sp>
      <p:sp>
        <p:nvSpPr>
          <p:cNvPr id="7" name="Text 3"/>
          <p:cNvSpPr/>
          <p:nvPr/>
        </p:nvSpPr>
        <p:spPr>
          <a:xfrm>
            <a:off x="714375" y="1528763"/>
            <a:ext cx="1157288" cy="282178"/>
          </a:xfrm>
          <a:prstGeom prst="rect">
            <a:avLst/>
          </a:prstGeom>
          <a:noFill/>
          <a:ln/>
        </p:spPr>
        <p:txBody>
          <a:bodyPr wrap="square" lIns="0" tIns="0" rIns="0" bIns="170053" rtlCol="0" anchor="ctr">
            <a:spAutoFit/>
          </a:bodyPr>
          <a:lstStyle/>
          <a:p>
            <a:pPr marL="0" indent="0" algn="l">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VERSION</a:t>
            </a:r>
            <a:endParaRPr lang="en-US" sz="683" dirty="0"/>
          </a:p>
        </p:txBody>
      </p:sp>
      <p:sp>
        <p:nvSpPr>
          <p:cNvPr id="8" name="Text 4"/>
          <p:cNvSpPr/>
          <p:nvPr/>
        </p:nvSpPr>
        <p:spPr>
          <a:xfrm>
            <a:off x="1871663" y="1528763"/>
            <a:ext cx="1543050" cy="282178"/>
          </a:xfrm>
          <a:prstGeom prst="rect">
            <a:avLst/>
          </a:prstGeom>
          <a:noFill/>
          <a:ln/>
        </p:spPr>
        <p:txBody>
          <a:bodyPr wrap="square" lIns="0" tIns="0" rIns="0" bIns="170053" rtlCol="0" anchor="ctr">
            <a:spAutoFit/>
          </a:bodyPr>
          <a:lstStyle/>
          <a:p>
            <a:pPr marL="0" indent="0" algn="l">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STATUT</a:t>
            </a:r>
            <a:endParaRPr lang="en-US" sz="683" dirty="0"/>
          </a:p>
        </p:txBody>
      </p:sp>
      <p:sp>
        <p:nvSpPr>
          <p:cNvPr id="9" name="Text 5"/>
          <p:cNvSpPr/>
          <p:nvPr/>
        </p:nvSpPr>
        <p:spPr>
          <a:xfrm>
            <a:off x="3414713" y="1528763"/>
            <a:ext cx="5014913" cy="282178"/>
          </a:xfrm>
          <a:prstGeom prst="rect">
            <a:avLst/>
          </a:prstGeom>
          <a:noFill/>
          <a:ln/>
        </p:spPr>
        <p:txBody>
          <a:bodyPr wrap="square" lIns="0" tIns="0" rIns="0" bIns="170053" rtlCol="0" anchor="ctr">
            <a:spAutoFit/>
          </a:bodyPr>
          <a:lstStyle/>
          <a:p>
            <a:pPr marL="0" indent="0" algn="l">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FONCTIONNALITÉS CLÉS</a:t>
            </a:r>
            <a:endParaRPr lang="en-US" sz="683" dirty="0"/>
          </a:p>
        </p:txBody>
      </p:sp>
      <p:sp>
        <p:nvSpPr>
          <p:cNvPr id="10" name="Text 6"/>
          <p:cNvSpPr/>
          <p:nvPr/>
        </p:nvSpPr>
        <p:spPr>
          <a:xfrm>
            <a:off x="714375" y="1810941"/>
            <a:ext cx="1157288" cy="560784"/>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v1.0 / v1.5</a:t>
            </a:r>
            <a:endParaRPr lang="en-US" sz="683" dirty="0"/>
          </a:p>
        </p:txBody>
      </p:sp>
      <p:sp>
        <p:nvSpPr>
          <p:cNvPr id="11" name="Text 7"/>
          <p:cNvSpPr/>
          <p:nvPr/>
        </p:nvSpPr>
        <p:spPr>
          <a:xfrm>
            <a:off x="1871663" y="1975247"/>
            <a:ext cx="294680" cy="112514"/>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4D4D"/>
                </a:solidFill>
                <a:latin typeface="JetBrains Mono" pitchFamily="34" charset="0"/>
                <a:ea typeface="JetBrains Mono" pitchFamily="34" charset="-122"/>
                <a:cs typeface="JetBrains Mono" pitchFamily="34" charset="-120"/>
              </a:rPr>
              <a:t>LIVRÉ</a:t>
            </a:r>
            <a:endParaRPr lang="en-US" sz="584" dirty="0"/>
          </a:p>
        </p:txBody>
      </p:sp>
      <p:sp>
        <p:nvSpPr>
          <p:cNvPr id="12" name="Text 8"/>
          <p:cNvSpPr/>
          <p:nvPr/>
        </p:nvSpPr>
        <p:spPr>
          <a:xfrm>
            <a:off x="3414713" y="1810941"/>
            <a:ext cx="5014913" cy="560784"/>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API REST, parsing AO, multi-LLM, Interface React, upload PDF natif, génération multi-sections.</a:t>
            </a:r>
            <a:endParaRPr lang="en-US" sz="727" dirty="0"/>
          </a:p>
        </p:txBody>
      </p:sp>
      <p:sp>
        <p:nvSpPr>
          <p:cNvPr id="13" name="Text 9"/>
          <p:cNvSpPr/>
          <p:nvPr/>
        </p:nvSpPr>
        <p:spPr>
          <a:xfrm>
            <a:off x="714375" y="2371725"/>
            <a:ext cx="1157288" cy="557213"/>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v2.0</a:t>
            </a:r>
            <a:endParaRPr lang="en-US" sz="683" dirty="0"/>
          </a:p>
        </p:txBody>
      </p:sp>
      <p:sp>
        <p:nvSpPr>
          <p:cNvPr id="14" name="Text 10"/>
          <p:cNvSpPr/>
          <p:nvPr/>
        </p:nvSpPr>
        <p:spPr>
          <a:xfrm>
            <a:off x="1871663" y="2532459"/>
            <a:ext cx="294680" cy="112514"/>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4D4D"/>
                </a:solidFill>
                <a:latin typeface="JetBrains Mono" pitchFamily="34" charset="0"/>
                <a:ea typeface="JetBrains Mono" pitchFamily="34" charset="-122"/>
                <a:cs typeface="JetBrains Mono" pitchFamily="34" charset="-120"/>
              </a:rPr>
              <a:t>LIVRÉ</a:t>
            </a:r>
            <a:endParaRPr lang="en-US" sz="584" dirty="0"/>
          </a:p>
        </p:txBody>
      </p:sp>
      <p:sp>
        <p:nvSpPr>
          <p:cNvPr id="15" name="Text 11"/>
          <p:cNvSpPr/>
          <p:nvPr/>
        </p:nvSpPr>
        <p:spPr>
          <a:xfrm>
            <a:off x="3414713" y="2371725"/>
            <a:ext cx="5014913" cy="557213"/>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Base de connaissances RAG (Qdrant), microservice ETL indépendant, embeddings OpenAI.</a:t>
            </a:r>
            <a:endParaRPr lang="en-US" sz="727" dirty="0"/>
          </a:p>
        </p:txBody>
      </p:sp>
      <p:sp>
        <p:nvSpPr>
          <p:cNvPr id="16" name="Text 12"/>
          <p:cNvSpPr/>
          <p:nvPr/>
        </p:nvSpPr>
        <p:spPr>
          <a:xfrm>
            <a:off x="714375" y="2928938"/>
            <a:ext cx="1157288" cy="425053"/>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v3.0</a:t>
            </a:r>
            <a:endParaRPr lang="en-US" sz="683" dirty="0"/>
          </a:p>
        </p:txBody>
      </p:sp>
      <p:sp>
        <p:nvSpPr>
          <p:cNvPr id="17" name="Text 13"/>
          <p:cNvSpPr/>
          <p:nvPr/>
        </p:nvSpPr>
        <p:spPr>
          <a:xfrm>
            <a:off x="1871663" y="3089672"/>
            <a:ext cx="412552" cy="112514"/>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1A"/>
                </a:solidFill>
                <a:latin typeface="JetBrains Mono" pitchFamily="34" charset="0"/>
                <a:ea typeface="JetBrains Mono" pitchFamily="34" charset="-122"/>
                <a:cs typeface="JetBrains Mono" pitchFamily="34" charset="-120"/>
              </a:rPr>
              <a:t>EN DÉV.</a:t>
            </a:r>
            <a:endParaRPr lang="en-US" sz="584" dirty="0"/>
          </a:p>
        </p:txBody>
      </p:sp>
      <p:sp>
        <p:nvSpPr>
          <p:cNvPr id="18" name="Text 14"/>
          <p:cNvSpPr/>
          <p:nvPr/>
        </p:nvSpPr>
        <p:spPr>
          <a:xfrm>
            <a:off x="3414713" y="2928938"/>
            <a:ext cx="5014913" cy="425053"/>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Fine-tuning sur corpus d'AO remportés, scoring prédictif, exports Word/PDF.</a:t>
            </a:r>
            <a:endParaRPr lang="en-US" sz="727" dirty="0"/>
          </a:p>
        </p:txBody>
      </p:sp>
      <p:sp>
        <p:nvSpPr>
          <p:cNvPr id="19" name="Text 15"/>
          <p:cNvSpPr/>
          <p:nvPr/>
        </p:nvSpPr>
        <p:spPr>
          <a:xfrm>
            <a:off x="714375" y="3353991"/>
            <a:ext cx="1157288" cy="425053"/>
          </a:xfrm>
          <a:prstGeom prst="rect">
            <a:avLst/>
          </a:prstGeom>
          <a:noFill/>
          <a:ln/>
        </p:spPr>
        <p:txBody>
          <a:bodyPr wrap="square" lIns="0" tIns="170053" rIns="0" bIns="170053" rtlCol="0" anchor="t">
            <a:spAutoFit/>
          </a:bodyPr>
          <a:lstStyle/>
          <a:p>
            <a:pPr marL="0" indent="0" algn="l">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v4.0</a:t>
            </a:r>
            <a:endParaRPr lang="en-US" sz="683" dirty="0"/>
          </a:p>
        </p:txBody>
      </p:sp>
      <p:sp>
        <p:nvSpPr>
          <p:cNvPr id="20" name="Text 16"/>
          <p:cNvSpPr/>
          <p:nvPr/>
        </p:nvSpPr>
        <p:spPr>
          <a:xfrm>
            <a:off x="1871663" y="3514725"/>
            <a:ext cx="471488" cy="112514"/>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1A"/>
                </a:solidFill>
                <a:latin typeface="JetBrains Mono" pitchFamily="34" charset="0"/>
                <a:ea typeface="JetBrains Mono" pitchFamily="34" charset="-122"/>
                <a:cs typeface="JetBrains Mono" pitchFamily="34" charset="-120"/>
              </a:rPr>
              <a:t>PLANIFIÉ</a:t>
            </a:r>
            <a:endParaRPr lang="en-US" sz="584" dirty="0"/>
          </a:p>
        </p:txBody>
      </p:sp>
      <p:sp>
        <p:nvSpPr>
          <p:cNvPr id="21" name="Text 17"/>
          <p:cNvSpPr/>
          <p:nvPr/>
        </p:nvSpPr>
        <p:spPr>
          <a:xfrm>
            <a:off x="3414713" y="3353991"/>
            <a:ext cx="5014913" cy="425053"/>
          </a:xfrm>
          <a:prstGeom prst="rect">
            <a:avLst/>
          </a:prstGeom>
          <a:noFill/>
          <a:ln/>
        </p:spPr>
        <p:txBody>
          <a:bodyPr wrap="square" lIns="0" tIns="170053" rIns="0" bIns="170053" rtlCol="0" anchor="t">
            <a:spAutoFit/>
          </a:bodyPr>
          <a:lstStyle/>
          <a:p>
            <a:pPr marL="0" indent="0" algn="l">
              <a:lnSpc>
                <a:spcPts val="900"/>
              </a:lnSpc>
              <a:buNone/>
            </a:pPr>
            <a:r>
              <a:rPr lang="en-US" sz="727" dirty="0">
                <a:solidFill>
                  <a:srgbClr val="666666"/>
                </a:solidFill>
                <a:latin typeface="JetBrains Mono" pitchFamily="34" charset="0"/>
                <a:ea typeface="JetBrains Mono" pitchFamily="34" charset="-122"/>
                <a:cs typeface="JetBrains Mono" pitchFamily="34" charset="-120"/>
              </a:rPr>
              <a:t>Apprentissage continu (feedback loop), conformité RGPD certifiée.</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txBody>
          <a:bodyPr/>
          <a:lstStyle/>
          <a:p>
            <a:endParaRPr lang="fr-FR"/>
          </a:p>
        </p:txBody>
      </p:sp>
      <p:sp>
        <p:nvSpPr>
          <p:cNvPr id="5" name="Shape 1"/>
          <p:cNvSpPr/>
          <p:nvPr/>
        </p:nvSpPr>
        <p:spPr>
          <a:xfrm>
            <a:off x="4564856" y="0"/>
            <a:ext cx="7144" cy="5143500"/>
          </a:xfrm>
          <a:prstGeom prst="rect">
            <a:avLst/>
          </a:prstGeom>
          <a:solidFill>
            <a:srgbClr val="E5E5E5"/>
          </a:solidFill>
          <a:ln/>
        </p:spPr>
        <p:txBody>
          <a:bodyPr/>
          <a:lstStyle/>
          <a:p>
            <a:endParaRPr lang="fr-FR"/>
          </a:p>
        </p:txBody>
      </p:sp>
      <p:sp>
        <p:nvSpPr>
          <p:cNvPr id="6" name="Text 2"/>
          <p:cNvSpPr/>
          <p:nvPr/>
        </p:nvSpPr>
        <p:spPr>
          <a:xfrm>
            <a:off x="428625" y="1021082"/>
            <a:ext cx="3714750" cy="880077"/>
          </a:xfrm>
          <a:prstGeom prst="rect">
            <a:avLst/>
          </a:prstGeom>
          <a:noFill/>
          <a:ln/>
        </p:spPr>
        <p:txBody>
          <a:bodyPr wrap="square" lIns="0" tIns="0" rIns="0" bIns="0" rtlCol="0" anchor="t">
            <a:spAutoFit/>
          </a:bodyPr>
          <a:lstStyle/>
          <a:p>
            <a:pPr marL="0" indent="0" algn="l">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Prêt à remporter plus de marchés ?</a:t>
            </a:r>
            <a:endParaRPr lang="en-US" sz="2862" dirty="0"/>
          </a:p>
        </p:txBody>
      </p:sp>
      <p:sp>
        <p:nvSpPr>
          <p:cNvPr id="7" name="Text 3"/>
          <p:cNvSpPr/>
          <p:nvPr/>
        </p:nvSpPr>
        <p:spPr>
          <a:xfrm>
            <a:off x="428625" y="2044033"/>
            <a:ext cx="3714750"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666666"/>
                </a:solidFill>
                <a:latin typeface="JetBrains Mono" pitchFamily="34" charset="0"/>
                <a:ea typeface="JetBrains Mono" pitchFamily="34" charset="-122"/>
                <a:cs typeface="JetBrains Mono" pitchFamily="34" charset="-120"/>
              </a:rPr>
              <a:t>Démarrez en 90 secondes.</a:t>
            </a:r>
            <a:endParaRPr lang="en-US" sz="942" dirty="0"/>
          </a:p>
        </p:txBody>
      </p:sp>
      <p:sp>
        <p:nvSpPr>
          <p:cNvPr id="8" name="Shape 4"/>
          <p:cNvSpPr/>
          <p:nvPr/>
        </p:nvSpPr>
        <p:spPr>
          <a:xfrm>
            <a:off x="428625" y="2642322"/>
            <a:ext cx="3714750" cy="1480096"/>
          </a:xfrm>
          <a:prstGeom prst="rect">
            <a:avLst/>
          </a:prstGeom>
          <a:solidFill>
            <a:srgbClr val="1A1A1A"/>
          </a:solidFill>
          <a:ln/>
        </p:spPr>
        <p:txBody>
          <a:bodyPr/>
          <a:lstStyle/>
          <a:p>
            <a:endParaRPr lang="fr-FR"/>
          </a:p>
        </p:txBody>
      </p:sp>
      <p:sp>
        <p:nvSpPr>
          <p:cNvPr id="9" name="Text 5"/>
          <p:cNvSpPr/>
          <p:nvPr/>
        </p:nvSpPr>
        <p:spPr>
          <a:xfrm>
            <a:off x="642938" y="3085235"/>
            <a:ext cx="3286125" cy="822871"/>
          </a:xfrm>
          <a:prstGeom prst="rect">
            <a:avLst/>
          </a:prstGeom>
          <a:noFill/>
          <a:ln/>
        </p:spPr>
        <p:txBody>
          <a:bodyPr wrap="square" lIns="0" tIns="0" rIns="0" bIns="0" rtlCol="0" anchor="t">
            <a:spAutoFit/>
          </a:bodyPr>
          <a:lstStyle/>
          <a:p>
            <a:pPr marL="0" indent="0" algn="l">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git clone</a:t>
            </a:r>
            <a:r>
              <a:rPr lang="en-US" sz="834" dirty="0">
                <a:solidFill>
                  <a:srgbClr val="E5E5E5"/>
                </a:solidFill>
                <a:latin typeface="JetBrains Mono" pitchFamily="34" charset="0"/>
                <a:ea typeface="JetBrains Mono" pitchFamily="34" charset="-122"/>
                <a:cs typeface="JetBrains Mono" pitchFamily="34" charset="-120"/>
              </a:rPr>
              <a:t> </a:t>
            </a:r>
            <a:r>
              <a:rPr lang="en-US" sz="834" dirty="0">
                <a:solidFill>
                  <a:srgbClr val="FF4D4D"/>
                </a:solidFill>
                <a:latin typeface="JetBrains Mono" pitchFamily="34" charset="0"/>
                <a:ea typeface="JetBrains Mono" pitchFamily="34" charset="-122"/>
                <a:cs typeface="JetBrains Mono" pitchFamily="34" charset="-120"/>
              </a:rPr>
              <a:t>https://github.com/offria/offria-api</a:t>
            </a:r>
            <a:r>
              <a:rPr lang="en-US" sz="834" dirty="0">
                <a:solidFill>
                  <a:srgbClr val="E5E5E5"/>
                </a:solidFill>
                <a:latin typeface="JetBrains Mono" pitchFamily="34" charset="0"/>
                <a:ea typeface="JetBrains Mono" pitchFamily="34" charset="-122"/>
                <a:cs typeface="JetBrains Mono" pitchFamily="34" charset="-120"/>
              </a:rPr>
              <a:t>
 </a:t>
            </a:r>
            <a:r>
              <a:rPr lang="en-US" sz="784" b="1" dirty="0">
                <a:solidFill>
                  <a:srgbClr val="FFFFFF"/>
                </a:solidFill>
                <a:latin typeface="JetBrains Mono" pitchFamily="34" charset="0"/>
                <a:ea typeface="JetBrains Mono" pitchFamily="34" charset="-122"/>
                <a:cs typeface="JetBrains Mono" pitchFamily="34" charset="-120"/>
              </a:rPr>
              <a:t>docker compose up</a:t>
            </a:r>
            <a:r>
              <a:rPr lang="en-US" sz="834" dirty="0">
                <a:solidFill>
                  <a:srgbClr val="E5E5E5"/>
                </a:solidFill>
                <a:latin typeface="JetBrains Mono" pitchFamily="34" charset="0"/>
                <a:ea typeface="JetBrains Mono" pitchFamily="34" charset="-122"/>
                <a:cs typeface="JetBrains Mono" pitchFamily="34" charset="-120"/>
              </a:rPr>
              <a:t>
 </a:t>
            </a:r>
            <a:r>
              <a:rPr lang="en-US" sz="834" i="1" dirty="0">
                <a:solidFill>
                  <a:srgbClr val="666666"/>
                </a:solidFill>
                <a:latin typeface="JetBrains Mono" pitchFamily="34" charset="0"/>
                <a:ea typeface="JetBrains Mono" pitchFamily="34" charset="-122"/>
                <a:cs typeface="JetBrains Mono" pitchFamily="34" charset="-120"/>
              </a:rPr>
              <a:t># Votre premier AO généré en 90 secondes.</a:t>
            </a:r>
            <a:endParaRPr lang="en-US" sz="834" dirty="0"/>
          </a:p>
        </p:txBody>
      </p:sp>
      <p:sp>
        <p:nvSpPr>
          <p:cNvPr id="10" name="Shape 6"/>
          <p:cNvSpPr/>
          <p:nvPr/>
        </p:nvSpPr>
        <p:spPr>
          <a:xfrm>
            <a:off x="4572000" y="0"/>
            <a:ext cx="4572000" cy="5143500"/>
          </a:xfrm>
          <a:prstGeom prst="rect">
            <a:avLst/>
          </a:prstGeom>
          <a:solidFill>
            <a:srgbClr val="F9F9FA"/>
          </a:solidFill>
          <a:ln/>
        </p:spPr>
        <p:txBody>
          <a:bodyPr/>
          <a:lstStyle/>
          <a:p>
            <a:endParaRPr lang="fr-FR"/>
          </a:p>
        </p:txBody>
      </p:sp>
      <p:sp>
        <p:nvSpPr>
          <p:cNvPr id="11" name="Text 7"/>
          <p:cNvSpPr/>
          <p:nvPr/>
        </p:nvSpPr>
        <p:spPr>
          <a:xfrm>
            <a:off x="5000625" y="571500"/>
            <a:ext cx="3714750" cy="3036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12" name="Text 8"/>
          <p:cNvSpPr/>
          <p:nvPr/>
        </p:nvSpPr>
        <p:spPr>
          <a:xfrm>
            <a:off x="5000625" y="946547"/>
            <a:ext cx="3714750" cy="150019"/>
          </a:xfrm>
          <a:prstGeom prst="rect">
            <a:avLst/>
          </a:prstGeom>
          <a:noFill/>
          <a:ln/>
        </p:spPr>
        <p:txBody>
          <a:bodyPr wrap="none" lIns="0" tIns="0" rIns="0" bIns="0" rtlCol="0" anchor="t">
            <a:spAutoFit/>
          </a:bodyPr>
          <a:lstStyle/>
          <a:p>
            <a:pPr marL="0" indent="0" algn="l">
              <a:lnSpc>
                <a:spcPts val="1100"/>
              </a:lnSpc>
              <a:buNone/>
            </a:pPr>
            <a:r>
              <a:rPr lang="en-US" sz="834" kern="0" spc="1"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3" name="Text 9"/>
          <p:cNvSpPr/>
          <p:nvPr/>
        </p:nvSpPr>
        <p:spPr>
          <a:xfrm>
            <a:off x="5243513" y="2827865"/>
            <a:ext cx="3471863" cy="560059"/>
          </a:xfrm>
          <a:prstGeom prst="rect">
            <a:avLst/>
          </a:prstGeom>
          <a:noFill/>
          <a:ln/>
        </p:spPr>
        <p:txBody>
          <a:bodyPr wrap="square" lIns="0" tIns="0" rIns="0" bIns="0" rtlCol="0" anchor="t">
            <a:spAutoFit/>
          </a:bodyPr>
          <a:lstStyle/>
          <a:p>
            <a:pPr marL="0" indent="0" algn="l">
              <a:lnSpc>
                <a:spcPts val="2200"/>
              </a:lnSpc>
              <a:buNone/>
            </a:pPr>
            <a:r>
              <a:rPr lang="en-US" sz="1486" i="1" dirty="0">
                <a:solidFill>
                  <a:srgbClr val="1A1A1A"/>
                </a:solidFill>
                <a:latin typeface="Playfair Display" pitchFamily="34" charset="0"/>
                <a:ea typeface="Playfair Display" pitchFamily="34" charset="-122"/>
                <a:cs typeface="Playfair Display" pitchFamily="34" charset="-120"/>
              </a:rPr>
              <a:t>"OffrIA — Parce que chaque appel d'offres mérite une vraie réponse."</a:t>
            </a:r>
            <a:endParaRPr lang="en-US" sz="1486" dirty="0"/>
          </a:p>
        </p:txBody>
      </p:sp>
      <p:sp>
        <p:nvSpPr>
          <p:cNvPr id="14" name="Shape 10"/>
          <p:cNvSpPr/>
          <p:nvPr/>
        </p:nvSpPr>
        <p:spPr>
          <a:xfrm>
            <a:off x="5000625" y="3959423"/>
            <a:ext cx="3714750" cy="612577"/>
          </a:xfrm>
          <a:prstGeom prst="rect">
            <a:avLst/>
          </a:prstGeom>
          <a:solidFill>
            <a:srgbClr val="FFFFFF"/>
          </a:solidFill>
          <a:ln w="9144">
            <a:solidFill>
              <a:srgbClr val="E5E5E5"/>
            </a:solidFill>
            <a:prstDash val="solid"/>
          </a:ln>
        </p:spPr>
        <p:txBody>
          <a:bodyPr/>
          <a:lstStyle/>
          <a:p>
            <a:endParaRPr lang="fr-FR"/>
          </a:p>
        </p:txBody>
      </p:sp>
      <p:pic>
        <p:nvPicPr>
          <p:cNvPr id="15" name="Image 1" descr="preencoded.png"/>
          <p:cNvPicPr>
            <a:picLocks noChangeAspect="1"/>
          </p:cNvPicPr>
          <p:nvPr/>
        </p:nvPicPr>
        <p:blipFill>
          <a:blip r:embed="rId4"/>
          <a:stretch>
            <a:fillRect/>
          </a:stretch>
        </p:blipFill>
        <p:spPr>
          <a:xfrm>
            <a:off x="5644455" y="4205883"/>
            <a:ext cx="128588" cy="128588"/>
          </a:xfrm>
          <a:prstGeom prst="rect">
            <a:avLst/>
          </a:prstGeom>
        </p:spPr>
      </p:pic>
      <p:sp>
        <p:nvSpPr>
          <p:cNvPr id="16" name="Text 11"/>
          <p:cNvSpPr/>
          <p:nvPr/>
        </p:nvSpPr>
        <p:spPr>
          <a:xfrm>
            <a:off x="5844480" y="4188023"/>
            <a:ext cx="2227064" cy="169664"/>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Contactez-nous pour une démo</a:t>
            </a:r>
            <a:endParaRPr lang="en-US" sz="88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375" y="571500"/>
            <a:ext cx="7715250" cy="557213"/>
          </a:xfrm>
          <a:prstGeom prst="rect">
            <a:avLst/>
          </a:prstGeom>
          <a:solidFill>
            <a:srgbClr val="000000">
              <a:alpha val="0"/>
            </a:srgbClr>
          </a:solidFill>
          <a:ln/>
        </p:spPr>
        <p:txBody>
          <a:bodyPr/>
          <a:lstStyle/>
          <a:p>
            <a:endParaRPr lang="fr-FR"/>
          </a:p>
        </p:txBody>
      </p:sp>
      <p:sp>
        <p:nvSpPr>
          <p:cNvPr id="5" name="Shape 1"/>
          <p:cNvSpPr/>
          <p:nvPr/>
        </p:nvSpPr>
        <p:spPr>
          <a:xfrm>
            <a:off x="714375" y="1100138"/>
            <a:ext cx="7715250" cy="28575"/>
          </a:xfrm>
          <a:prstGeom prst="rect">
            <a:avLst/>
          </a:prstGeom>
          <a:solidFill>
            <a:srgbClr val="FF4D4D"/>
          </a:solidFill>
          <a:ln/>
        </p:spPr>
        <p:txBody>
          <a:bodyPr/>
          <a:lstStyle/>
          <a:p>
            <a:endParaRPr lang="fr-FR"/>
          </a:p>
        </p:txBody>
      </p:sp>
      <p:sp>
        <p:nvSpPr>
          <p:cNvPr id="6" name="Text 2"/>
          <p:cNvSpPr/>
          <p:nvPr/>
        </p:nvSpPr>
        <p:spPr>
          <a:xfrm>
            <a:off x="714375" y="571500"/>
            <a:ext cx="7715250" cy="557213"/>
          </a:xfrm>
          <a:prstGeom prst="rect">
            <a:avLst/>
          </a:prstGeom>
          <a:noFill/>
          <a:ln/>
        </p:spPr>
        <p:txBody>
          <a:bodyPr wrap="none" lIns="0" tIns="0" rIns="0" bIns="85090" rtlCol="0" anchor="t">
            <a:spAutoFit/>
          </a:bodyPr>
          <a:lstStyle/>
          <a:p>
            <a:pPr marL="0" indent="0" algn="l">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Sources et Références</a:t>
            </a:r>
            <a:endParaRPr lang="en-US" sz="2436" dirty="0"/>
          </a:p>
        </p:txBody>
      </p:sp>
      <p:sp>
        <p:nvSpPr>
          <p:cNvPr id="7" name="Text 3"/>
          <p:cNvSpPr/>
          <p:nvPr/>
        </p:nvSpPr>
        <p:spPr>
          <a:xfrm>
            <a:off x="714375" y="1528763"/>
            <a:ext cx="214313" cy="169664"/>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[1]</a:t>
            </a:r>
            <a:endParaRPr lang="en-US" sz="885" dirty="0"/>
          </a:p>
        </p:txBody>
      </p:sp>
      <p:sp>
        <p:nvSpPr>
          <p:cNvPr id="8" name="Text 4"/>
          <p:cNvSpPr/>
          <p:nvPr/>
        </p:nvSpPr>
        <p:spPr>
          <a:xfrm>
            <a:off x="1071563" y="1528763"/>
            <a:ext cx="3357563"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Projet de Loi de Finances 2024</a:t>
            </a:r>
            <a:endParaRPr lang="en-US" sz="683" dirty="0"/>
          </a:p>
        </p:txBody>
      </p:sp>
      <p:sp>
        <p:nvSpPr>
          <p:cNvPr id="9" name="Text 5"/>
          <p:cNvSpPr/>
          <p:nvPr/>
        </p:nvSpPr>
        <p:spPr>
          <a:xfrm>
            <a:off x="1071563" y="1736992"/>
            <a:ext cx="3096816"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Données compilées sur l'investissement public et la</a:t>
            </a:r>
            <a:endParaRPr lang="en-US" sz="727" dirty="0"/>
          </a:p>
        </p:txBody>
      </p:sp>
      <p:sp>
        <p:nvSpPr>
          <p:cNvPr id="10" name="Text 6"/>
          <p:cNvSpPr/>
          <p:nvPr/>
        </p:nvSpPr>
        <p:spPr>
          <a:xfrm>
            <a:off x="1071563" y="1897000"/>
            <a:ext cx="1396603"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répartition budgétaire.</a:t>
            </a:r>
            <a:endParaRPr lang="en-US" sz="727" dirty="0"/>
          </a:p>
        </p:txBody>
      </p:sp>
      <p:sp>
        <p:nvSpPr>
          <p:cNvPr id="11" name="Text 7"/>
          <p:cNvSpPr/>
          <p:nvPr/>
        </p:nvSpPr>
        <p:spPr>
          <a:xfrm>
            <a:off x="4714875" y="1528763"/>
            <a:ext cx="214313" cy="169664"/>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[2]</a:t>
            </a:r>
            <a:endParaRPr lang="en-US" sz="885" dirty="0"/>
          </a:p>
        </p:txBody>
      </p:sp>
      <p:sp>
        <p:nvSpPr>
          <p:cNvPr id="12" name="Text 8"/>
          <p:cNvSpPr/>
          <p:nvPr/>
        </p:nvSpPr>
        <p:spPr>
          <a:xfrm>
            <a:off x="5072063" y="1528763"/>
            <a:ext cx="3357563"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Ministère de l'Économie et des Finances</a:t>
            </a:r>
            <a:endParaRPr lang="en-US" sz="683" dirty="0"/>
          </a:p>
        </p:txBody>
      </p:sp>
      <p:sp>
        <p:nvSpPr>
          <p:cNvPr id="13" name="Text 9"/>
          <p:cNvSpPr/>
          <p:nvPr/>
        </p:nvSpPr>
        <p:spPr>
          <a:xfrm>
            <a:off x="5072063" y="1736992"/>
            <a:ext cx="3278981"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Rapport 2023 sur l'attribution des marchés publics aux</a:t>
            </a:r>
            <a:endParaRPr lang="en-US" sz="727" dirty="0"/>
          </a:p>
        </p:txBody>
      </p:sp>
      <p:sp>
        <p:nvSpPr>
          <p:cNvPr id="14" name="Text 10"/>
          <p:cNvSpPr/>
          <p:nvPr/>
        </p:nvSpPr>
        <p:spPr>
          <a:xfrm>
            <a:off x="5072063" y="1897000"/>
            <a:ext cx="667941"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PME et TPE.</a:t>
            </a:r>
            <a:endParaRPr lang="en-US" sz="727" dirty="0"/>
          </a:p>
        </p:txBody>
      </p:sp>
      <p:sp>
        <p:nvSpPr>
          <p:cNvPr id="15" name="Text 11"/>
          <p:cNvSpPr/>
          <p:nvPr/>
        </p:nvSpPr>
        <p:spPr>
          <a:xfrm>
            <a:off x="714375" y="2473133"/>
            <a:ext cx="214313" cy="169664"/>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[3]</a:t>
            </a:r>
            <a:endParaRPr lang="en-US" sz="885" dirty="0"/>
          </a:p>
        </p:txBody>
      </p:sp>
      <p:sp>
        <p:nvSpPr>
          <p:cNvPr id="16" name="Text 12"/>
          <p:cNvSpPr/>
          <p:nvPr/>
        </p:nvSpPr>
        <p:spPr>
          <a:xfrm>
            <a:off x="1071563" y="2473133"/>
            <a:ext cx="3357563"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Portail Marocain des Marchés Publics (PMMP)</a:t>
            </a:r>
            <a:endParaRPr lang="en-US" sz="683" dirty="0"/>
          </a:p>
        </p:txBody>
      </p:sp>
      <p:sp>
        <p:nvSpPr>
          <p:cNvPr id="17" name="Text 13"/>
          <p:cNvSpPr/>
          <p:nvPr/>
        </p:nvSpPr>
        <p:spPr>
          <a:xfrm>
            <a:off x="1071563" y="2681362"/>
            <a:ext cx="3339703"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Statistiques annuelles sur le volume des avis de marché</a:t>
            </a:r>
            <a:endParaRPr lang="en-US" sz="727" dirty="0"/>
          </a:p>
        </p:txBody>
      </p:sp>
      <p:sp>
        <p:nvSpPr>
          <p:cNvPr id="18" name="Text 14"/>
          <p:cNvSpPr/>
          <p:nvPr/>
        </p:nvSpPr>
        <p:spPr>
          <a:xfrm>
            <a:off x="1071563" y="2841371"/>
            <a:ext cx="1943100"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publiés (marchespublics.gov.ma).</a:t>
            </a:r>
            <a:endParaRPr lang="en-US" sz="727" dirty="0"/>
          </a:p>
        </p:txBody>
      </p:sp>
      <p:sp>
        <p:nvSpPr>
          <p:cNvPr id="19" name="Text 15"/>
          <p:cNvSpPr/>
          <p:nvPr/>
        </p:nvSpPr>
        <p:spPr>
          <a:xfrm>
            <a:off x="4714875" y="2473133"/>
            <a:ext cx="214313" cy="169664"/>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[4]</a:t>
            </a:r>
            <a:endParaRPr lang="en-US" sz="885" dirty="0"/>
          </a:p>
        </p:txBody>
      </p:sp>
      <p:sp>
        <p:nvSpPr>
          <p:cNvPr id="20" name="Text 16"/>
          <p:cNvSpPr/>
          <p:nvPr/>
        </p:nvSpPr>
        <p:spPr>
          <a:xfrm>
            <a:off x="5072063" y="2473133"/>
            <a:ext cx="3357563"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Banque Mondiale (2020-2022)</a:t>
            </a:r>
            <a:endParaRPr lang="en-US" sz="683" dirty="0"/>
          </a:p>
        </p:txBody>
      </p:sp>
      <p:sp>
        <p:nvSpPr>
          <p:cNvPr id="21" name="Text 17"/>
          <p:cNvSpPr/>
          <p:nvPr/>
        </p:nvSpPr>
        <p:spPr>
          <a:xfrm>
            <a:off x="5072063" y="2681362"/>
            <a:ext cx="2853928"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Analyse de la concurrence et du nombre moyen de</a:t>
            </a:r>
            <a:endParaRPr lang="en-US" sz="727" dirty="0"/>
          </a:p>
        </p:txBody>
      </p:sp>
      <p:sp>
        <p:nvSpPr>
          <p:cNvPr id="22" name="Text 18"/>
          <p:cNvSpPr/>
          <p:nvPr/>
        </p:nvSpPr>
        <p:spPr>
          <a:xfrm>
            <a:off x="5072063" y="2841371"/>
            <a:ext cx="2185988"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soumissionnaires par appel d'offres.</a:t>
            </a:r>
            <a:endParaRPr lang="en-US" sz="727" dirty="0"/>
          </a:p>
        </p:txBody>
      </p:sp>
      <p:sp>
        <p:nvSpPr>
          <p:cNvPr id="23" name="Text 19"/>
          <p:cNvSpPr/>
          <p:nvPr/>
        </p:nvSpPr>
        <p:spPr>
          <a:xfrm>
            <a:off x="714375" y="3417503"/>
            <a:ext cx="214313" cy="169664"/>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[5]</a:t>
            </a:r>
            <a:endParaRPr lang="en-US" sz="885" dirty="0"/>
          </a:p>
        </p:txBody>
      </p:sp>
      <p:sp>
        <p:nvSpPr>
          <p:cNvPr id="24" name="Text 20"/>
          <p:cNvSpPr/>
          <p:nvPr/>
        </p:nvSpPr>
        <p:spPr>
          <a:xfrm>
            <a:off x="1071563" y="3417503"/>
            <a:ext cx="3357563"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Observatoire des Délais de Paiement (ODP)</a:t>
            </a:r>
            <a:endParaRPr lang="en-US" sz="683" dirty="0"/>
          </a:p>
        </p:txBody>
      </p:sp>
      <p:sp>
        <p:nvSpPr>
          <p:cNvPr id="25" name="Text 21"/>
          <p:cNvSpPr/>
          <p:nvPr/>
        </p:nvSpPr>
        <p:spPr>
          <a:xfrm>
            <a:off x="1071563" y="3625732"/>
            <a:ext cx="3157538"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Rapport annuel 2024 sur les délais de paiement de la</a:t>
            </a:r>
            <a:endParaRPr lang="en-US" sz="727" dirty="0"/>
          </a:p>
        </p:txBody>
      </p:sp>
      <p:sp>
        <p:nvSpPr>
          <p:cNvPr id="26" name="Text 22"/>
          <p:cNvSpPr/>
          <p:nvPr/>
        </p:nvSpPr>
        <p:spPr>
          <a:xfrm>
            <a:off x="1071563" y="3785741"/>
            <a:ext cx="1092994"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commande publique.</a:t>
            </a:r>
            <a:endParaRPr lang="en-US" sz="727" dirty="0"/>
          </a:p>
        </p:txBody>
      </p:sp>
      <p:sp>
        <p:nvSpPr>
          <p:cNvPr id="27" name="Text 23"/>
          <p:cNvSpPr/>
          <p:nvPr/>
        </p:nvSpPr>
        <p:spPr>
          <a:xfrm>
            <a:off x="4714875" y="3417503"/>
            <a:ext cx="214313" cy="169664"/>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[6]</a:t>
            </a:r>
            <a:endParaRPr lang="en-US" sz="885" dirty="0"/>
          </a:p>
        </p:txBody>
      </p:sp>
      <p:sp>
        <p:nvSpPr>
          <p:cNvPr id="28" name="Text 24"/>
          <p:cNvSpPr/>
          <p:nvPr/>
        </p:nvSpPr>
        <p:spPr>
          <a:xfrm>
            <a:off x="5072063" y="3417503"/>
            <a:ext cx="3357563"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Programme de Dématérialisation (PDCP)</a:t>
            </a:r>
            <a:endParaRPr lang="en-US" sz="683" dirty="0"/>
          </a:p>
        </p:txBody>
      </p:sp>
      <p:sp>
        <p:nvSpPr>
          <p:cNvPr id="29" name="Text 25"/>
          <p:cNvSpPr/>
          <p:nvPr/>
        </p:nvSpPr>
        <p:spPr>
          <a:xfrm>
            <a:off x="5072063" y="3625732"/>
            <a:ext cx="3096816"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Données sur les délais de traitement des marchés et</a:t>
            </a:r>
            <a:endParaRPr lang="en-US" sz="727" dirty="0"/>
          </a:p>
        </p:txBody>
      </p:sp>
      <p:sp>
        <p:nvSpPr>
          <p:cNvPr id="30" name="Text 26"/>
          <p:cNvSpPr/>
          <p:nvPr/>
        </p:nvSpPr>
        <p:spPr>
          <a:xfrm>
            <a:off x="5072063" y="3785741"/>
            <a:ext cx="1457325" cy="132159"/>
          </a:xfrm>
          <a:prstGeom prst="rect">
            <a:avLst/>
          </a:prstGeom>
          <a:noFill/>
          <a:ln/>
        </p:spPr>
        <p:txBody>
          <a:bodyPr wrap="none" lIns="0" tIns="0" rIns="0" bIns="0" rtlCol="0" anchor="t">
            <a:spAutoFit/>
          </a:bodyPr>
          <a:lstStyle/>
          <a:p>
            <a:pPr marL="0" indent="0" algn="l">
              <a:lnSpc>
                <a:spcPts val="1300"/>
              </a:lnSpc>
              <a:buNone/>
            </a:pPr>
            <a:r>
              <a:rPr lang="en-US" sz="727" dirty="0">
                <a:solidFill>
                  <a:srgbClr val="666666"/>
                </a:solidFill>
                <a:latin typeface="JetBrains Mono" pitchFamily="34" charset="0"/>
                <a:ea typeface="JetBrains Mono" pitchFamily="34" charset="-122"/>
                <a:cs typeface="JetBrains Mono" pitchFamily="34" charset="-120"/>
              </a:rPr>
              <a:t>l'impact du système GID.</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A25A16C00ACF4287C25001CFCE01E1" ma:contentTypeVersion="15" ma:contentTypeDescription="Crée un document." ma:contentTypeScope="" ma:versionID="0713b060406bdd35be1b2785ef28870c">
  <xsd:schema xmlns:xsd="http://www.w3.org/2001/XMLSchema" xmlns:xs="http://www.w3.org/2001/XMLSchema" xmlns:p="http://schemas.microsoft.com/office/2006/metadata/properties" xmlns:ns3="0764adc3-33d8-4bef-9efd-63aa810ed339" xmlns:ns4="77fa9fd6-26bb-43be-9c10-5ac4f8eb8ce5" targetNamespace="http://schemas.microsoft.com/office/2006/metadata/properties" ma:root="true" ma:fieldsID="fa5d5e4c3ff37dd3e259210489cca80c" ns3:_="" ns4:_="">
    <xsd:import namespace="0764adc3-33d8-4bef-9efd-63aa810ed339"/>
    <xsd:import namespace="77fa9fd6-26bb-43be-9c10-5ac4f8eb8ce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LengthInSeconds" minOccurs="0"/>
                <xsd:element ref="ns3:MediaServiceDateTaken"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64adc3-33d8-4bef-9efd-63aa810ed3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fa9fd6-26bb-43be-9c10-5ac4f8eb8ce5" elementFormDefault="qualified">
    <xsd:import namespace="http://schemas.microsoft.com/office/2006/documentManagement/types"/>
    <xsd:import namespace="http://schemas.microsoft.com/office/infopath/2007/PartnerControls"/>
    <xsd:element name="SharedWithUsers" ma:index="14"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Partagé avec détails" ma:internalName="SharedWithDetails" ma:readOnly="true">
      <xsd:simpleType>
        <xsd:restriction base="dms:Note">
          <xsd:maxLength value="255"/>
        </xsd:restriction>
      </xsd:simpleType>
    </xsd:element>
    <xsd:element name="SharingHintHash" ma:index="16"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764adc3-33d8-4bef-9efd-63aa810ed339" xsi:nil="true"/>
  </documentManagement>
</p:properties>
</file>

<file path=customXml/itemProps1.xml><?xml version="1.0" encoding="utf-8"?>
<ds:datastoreItem xmlns:ds="http://schemas.openxmlformats.org/officeDocument/2006/customXml" ds:itemID="{CA997691-7987-4C25-A321-5114930D18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64adc3-33d8-4bef-9efd-63aa810ed339"/>
    <ds:schemaRef ds:uri="77fa9fd6-26bb-43be-9c10-5ac4f8eb8c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A0501F3-B601-472F-A92D-1D861779C7D5}">
  <ds:schemaRefs>
    <ds:schemaRef ds:uri="http://schemas.microsoft.com/sharepoint/v3/contenttype/forms"/>
  </ds:schemaRefs>
</ds:datastoreItem>
</file>

<file path=customXml/itemProps3.xml><?xml version="1.0" encoding="utf-8"?>
<ds:datastoreItem xmlns:ds="http://schemas.openxmlformats.org/officeDocument/2006/customXml" ds:itemID="{436938D0-65CE-4FF3-B50D-95926B2D473C}">
  <ds:schemaRefs>
    <ds:schemaRef ds:uri="77fa9fd6-26bb-43be-9c10-5ac4f8eb8ce5"/>
    <ds:schemaRef ds:uri="http://purl.org/dc/terms/"/>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0764adc3-33d8-4bef-9efd-63aa810ed339"/>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TotalTime>
  <Words>2400</Words>
  <Application>Microsoft Office PowerPoint</Application>
  <PresentationFormat>Affichage à l'écran (16:9)</PresentationFormat>
  <Paragraphs>218</Paragraphs>
  <Slides>11</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JetBrains Mono</vt:lpstr>
      <vt:lpstr>Playfair Display</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Echcharif EL JAZOULI</cp:lastModifiedBy>
  <cp:revision>2</cp:revision>
  <dcterms:created xsi:type="dcterms:W3CDTF">2026-03-03T21:13:10Z</dcterms:created>
  <dcterms:modified xsi:type="dcterms:W3CDTF">2026-03-03T21:28:30Z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0x010100F5A25A16C00ACF4287C25001CFCE01E1</vt:lpwstr>
  </property>
</Properties>
</file>