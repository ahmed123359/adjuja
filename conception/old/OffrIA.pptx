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je vous présente OffrIA, une solution qui va transformer votre approche des marchés publics. Nous ne parlons pas d'un simple outil, mais d'un véritable avantage concurrentiel. Mon objectif n'était pas de créer un chatbot, mais un commercial infatigable. Imaginez un collaborateur qui travaille sans relâche, répondant à des dizaines d'appels d'offres pendant que vous vous concentrez sur l'essentiel. OffrIA, c'est l'intelligence artificielle qui remporte vos marchés, en vous offrant une capacité de réponse inégalée. Passons maintenant au problème que nous résolvons.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savons tous que les marchés publics représentent des milliards d'euros chaque année, mais une part colossale reste inexploitée. Pourquoi ? Le manque de temps, tout simplement. Regardez ces chiffres : une seule réponse à un appel d'offres peut prendre jusqu'à 38 heures de travail. C'est énorme. Et le résultat est souvent décevant, avec un taux de succès moyen de seulement 20 à 30 %. Ce n'est pas un problème de compétence, mais bien un problème de capacité. Ce constat nous amène à la racine du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vrai problème n'est pas le talent de vos équipes, mais l'échelle. Les PME et ETI renoncent à des opportunités faute de ressources. Les grands groupes mobilisent des équipes entières pour des réponses qui manquent souvent de personnalisation. Chaque réponse coûte en moyenne 3 000 euros, c'est un investissement lourd pour un faible taux de retour. Chaque appel d'offres non traité est un marché que vous laissez à la concurrence. C'est une réalité que nous devons changer. Alors, quelle est notre vision pour y remédier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plonger dans la solution, il est crucial de comprendre le contexte marocain. Le Maroc offre une opportunité unique avec une réglementation structurée et des acteurs clés bien définis. Le Décret 2-22-431 et le portailmp.gov.ma sont des piliers. OffrIA est conçue pour s'adapter à ces spécificités, utilisant le dirham et respectant les exigences réglementaires. Nous ciblons des acteurs majeurs comme l'ONEE, l'OCP, ou Maroc Telecom. Ce contexte spécifique rend notre solution encore plus pertinente. Maintenant, imaginez une transformation radicale de ce processus.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est simple et audacieuse : et si une IA pouvait lire l'appel d'offres à votre place ? OffrIA transforme 38 heures de travail en moins de deux minutes. Vous nous donnez un PDF, notre IA l'analyse, le comprend, et génère une réponse structurée et professionnelle. Elle ne se contente pas de lire, elle intègre le contexte métier, vos références, et vos atouts. C'est une réponse sur-mesure, prête à être soumise en un temps record. Voyons comment nous y parvenons avec notre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solution est un moteur intelligent qui transforme la façon dont vous répondez aux appels d'offres. Nous commençons par un parsing intelligent, extrayant automatiquement toutes les informations clés de l'AO. Ensuite, notre prompt engineering métier construit des requêtes ultra-contextualisées pour les modèles d'IA. Mais ce qui nous distingue vraiment, c'est l'intégration de la Récupération Augmentée de Génération, ou RAG. Cela signifie que chaque réponse est enrichie par votre propre base de connaissances, garantissant une précision et une cohérence inégalées. Et avec notre architecture multi-LLM, vous choisissez le modèle d'IA le plus adapté à chaque situation, que ce soit pour la complexité, la créativité ou la souveraineté des données. C'est une approche sur mesure pour chaque appel d'offres. Voyons maintenant pourquoi OffrIA se démarque vraiment de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OffrIA n'est pas juste une autre solution d'IA; c'est une longueur d'avance stratégique. Nous avons délibérément conçu OffrIA pour surpasser la concurrence sur des critères essentiels. Nous offrons une flexibilité inégalée avec le multi-provider LLM, vous permettant de choisir le meilleur modèle pour chaque situation. Notre parsing automatique des appels d'offres est le plus avancé du marché, et nous contextualisons chaque réponse avec votre profil d'entreprise unique. De plus, notre API intégrable et l'hébergement souverain avec Mistral garantissent sécurité et adaptabilité. Et tout ça, avec un cœur open-source. C'est pourquoi McKinsey prévoit que les entreprises comme la vôtre, qui adoptent l'IA, capteront 30% de parts de marché supplémentaires d'ici 2026. Ce n'est pas une option, c'est une nécessité. Et les résultats concrets de cette avance, vous allez les voir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différenciateurs se traduisent par un impact direct et mesurable sur votre activité. Nous parlons d'une transformation radicale de votre capacité à répondre aux appels d'offres. Imaginez passer de 38 heures à moins de 2 minutes par réponse. Cela signifie que vous pouvez traiter jusqu'à 25 fois plus d'appels d'offres chaque mois. Et le coût ? Il passe de 3 000 euros à quelques centimes. OffrIA ne remplace pas vos équipes; elle démultiplie leur efficacité. Nous visons un taux de réponse de plus de 80%, vous ouvrant des marchés que vous n'auriez jamais pu envisager auparavant. Mais comment tout cela est-il possible ? C'est grâce à une architecture technique pensée pour la performance et la simplicité.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Derrière ces chiffres impressionnants se cache une architecture technique robuste et élégante, conçue pour être à la fois puissante et facile à déployer. Nous avons bâti OffrIA sur une stack moderne et éprouvée, avec Python, FastAPI et Docker. Le cœur de notre système est un pipeline intelligent qui prend votre appel d'offres, le parse, construit un prompt métier ultra-contextualisé, puis le soumet au meilleur LLM pour générer une réponse structurée. Cette architecture est entièrement basée sur une API REST, ce qui signifie que vous pouvez l'intégrer sans effort dans vos systèmes existants, qu'il s'agisse de votre ERP ou de votre CRM. Et le meilleur ? Grâce à Docker, vous pouvez déployer cette puissance en moins de 5 minutes, que ce soit sur vos serveurs ou dans le cloud. Mais ce n'est que le début de l'aventure.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pour OffrIA est ambitieuse, et cette roadmap en est la preuve. Nous avons déjà une base solide avec la version 1.0, qui vous offre l'API REST, le parsing automatique et le multi-LLM. Mais nous ne nous arrêtons pas là. Le prochain trimestre, nous lancerons la version 1.5 avec une interface web intuitive et un historique des réponses, rendant l'outil encore plus accessible. En 2025, la version 2.0 introduira le fine-tuning sur vos propres corpus d'appels d'offres remportés et un scoring prédictif pour maximiser vos chances de succès. Et d'ici 2026, la version 3.0 intégrera l'apprentissage continu et une conformité RGPD certifiée. Chaque étape renforce notre leadership et votre avantage concurrentiel. Alors, êtes-vous prêt à nous rejoindre dans cette transformation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passer à l'action et de transformer votre approche des marchés publics. Démarrer avec OffrIA est incroyablement simple et rapide. En quelques lignes de commande, vous pouvez cloner notre dépôt et lancer votre premier appel d'offres généré en moins de 90 secondes. C'est la promesse d'OffrIA : une efficacité immédiate, une capacité décuplée. Je suis Mohamed Echcharif EL JAZOULI, l'architecte derrière cette solution, et je suis convaincu que chaque appel d'offres mérite une réponse de qualité. Ne laissez plus de marchés vous échapper. Contactez-nous dès aujourd'hui pour une démonstration personnalisée et découvrez comment OffrIA peut révolutionner votre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286500" cy="5143500"/>
          </a:xfrm>
          <a:prstGeom prst="rect">
            <a:avLst/>
          </a:prstGeom>
          <a:solidFill>
            <a:srgbClr val="000000">
              <a:alpha val="0"/>
            </a:srgbClr>
          </a:solidFill>
          <a:ln/>
        </p:spPr>
      </p:sp>
      <p:sp>
        <p:nvSpPr>
          <p:cNvPr id="5" name="Shape 1"/>
          <p:cNvSpPr/>
          <p:nvPr/>
        </p:nvSpPr>
        <p:spPr>
          <a:xfrm>
            <a:off x="6279356" y="0"/>
            <a:ext cx="7144" cy="5143500"/>
          </a:xfrm>
          <a:prstGeom prst="rect">
            <a:avLst/>
          </a:prstGeom>
          <a:solidFill>
            <a:srgbClr val="E5E5E5"/>
          </a:solidFill>
          <a:ln/>
        </p:spPr>
      </p:sp>
      <p:sp>
        <p:nvSpPr>
          <p:cNvPr id="6" name="Text 2"/>
          <p:cNvSpPr/>
          <p:nvPr/>
        </p:nvSpPr>
        <p:spPr>
          <a:xfrm>
            <a:off x="428625" y="571500"/>
            <a:ext cx="5429250" cy="771525"/>
          </a:xfrm>
          <a:prstGeom prst="rect">
            <a:avLst/>
          </a:prstGeom>
          <a:noFill/>
          <a:ln/>
        </p:spPr>
        <p:txBody>
          <a:bodyPr wrap="none" lIns="0" tIns="0" rIns="0" bIns="0" rtlCol="0" anchor="t">
            <a:spAutoFit/>
          </a:bodyPr>
          <a:lstStyle/>
          <a:p>
            <a:pPr algn="l" indent="0" marL="0">
              <a:lnSpc>
                <a:spcPts val="6100"/>
              </a:lnSpc>
              <a:buNone/>
            </a:pPr>
            <a:r>
              <a:rPr lang="en-US" sz="6218" b="1" spc="-2" kern="0" dirty="0">
                <a:solidFill>
                  <a:srgbClr val="1A1A1A"/>
                </a:solidFill>
                <a:latin typeface="Playfair Display" pitchFamily="34" charset="0"/>
                <a:ea typeface="Playfair Display" pitchFamily="34" charset="-122"/>
                <a:cs typeface="Playfair Display" pitchFamily="34" charset="-120"/>
              </a:rPr>
              <a:t>OffrIA</a:t>
            </a:r>
            <a:endParaRPr lang="en-US" sz="6218" dirty="0"/>
          </a:p>
        </p:txBody>
      </p:sp>
      <p:sp>
        <p:nvSpPr>
          <p:cNvPr id="7" name="Text 3"/>
          <p:cNvSpPr/>
          <p:nvPr/>
        </p:nvSpPr>
        <p:spPr>
          <a:xfrm>
            <a:off x="428625" y="1485900"/>
            <a:ext cx="5429250"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L'IA QUI REMPORTE VOS MARCHÉS.</a:t>
            </a:r>
            <a:endParaRPr lang="en-US" sz="1193" dirty="0"/>
          </a:p>
        </p:txBody>
      </p:sp>
      <p:sp>
        <p:nvSpPr>
          <p:cNvPr id="8" name="Text 4"/>
          <p:cNvSpPr/>
          <p:nvPr/>
        </p:nvSpPr>
        <p:spPr>
          <a:xfrm>
            <a:off x="428625" y="4061222"/>
            <a:ext cx="54292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9" name="Text 5"/>
          <p:cNvSpPr/>
          <p:nvPr/>
        </p:nvSpPr>
        <p:spPr>
          <a:xfrm>
            <a:off x="428625" y="4421981"/>
            <a:ext cx="5429250" cy="150019"/>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0" name="Shape 6"/>
          <p:cNvSpPr/>
          <p:nvPr/>
        </p:nvSpPr>
        <p:spPr>
          <a:xfrm>
            <a:off x="6286500" y="0"/>
            <a:ext cx="2857500" cy="5143500"/>
          </a:xfrm>
          <a:prstGeom prst="rect">
            <a:avLst/>
          </a:prstGeom>
          <a:solidFill>
            <a:srgbClr val="F4F4F5"/>
          </a:solidFill>
          <a:ln/>
        </p:spPr>
      </p:sp>
      <p:sp>
        <p:nvSpPr>
          <p:cNvPr id="11" name="Text 7"/>
          <p:cNvSpPr/>
          <p:nvPr/>
        </p:nvSpPr>
        <p:spPr>
          <a:xfrm>
            <a:off x="6429375" y="1404528"/>
            <a:ext cx="358973" cy="1141214"/>
          </a:xfrm>
          <a:prstGeom prst="rect">
            <a:avLst/>
          </a:prstGeom>
          <a:noFill/>
          <a:ln/>
        </p:spPr>
        <p:txBody>
          <a:bodyPr wrap="none" lIns="0" tIns="0" rIns="0" bIns="0" rtlCol="0" anchor="t">
            <a:spAutoFit/>
          </a:bodyPr>
          <a:lstStyle/>
          <a:p>
            <a:pPr algn="l" indent="0" marL="0">
              <a:lnSpc>
                <a:spcPts val="8100"/>
              </a:lnSpc>
              <a:buNone/>
            </a:pPr>
            <a:r>
              <a:rPr lang="en-US" sz="6615" dirty="0">
                <a:solidFill>
                  <a:srgbClr val="E5E5E5"/>
                </a:solidFill>
                <a:latin typeface="Playfair Display" pitchFamily="34" charset="0"/>
                <a:ea typeface="Playfair Display" pitchFamily="34" charset="-122"/>
                <a:cs typeface="Playfair Display" pitchFamily="34" charset="-120"/>
              </a:rPr>
              <a:t>“</a:t>
            </a:r>
            <a:endParaRPr lang="en-US" sz="6615" dirty="0"/>
          </a:p>
        </p:txBody>
      </p:sp>
      <p:sp>
        <p:nvSpPr>
          <p:cNvPr id="12" name="Text 8"/>
          <p:cNvSpPr/>
          <p:nvPr/>
        </p:nvSpPr>
        <p:spPr>
          <a:xfrm>
            <a:off x="6572250" y="1833153"/>
            <a:ext cx="2286000" cy="1234306"/>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1A1A1A"/>
                </a:solidFill>
                <a:latin typeface="JetBrains Mono" pitchFamily="34" charset="0"/>
                <a:ea typeface="JetBrains Mono" pitchFamily="34" charset="-122"/>
                <a:cs typeface="JetBrains Mono" pitchFamily="34" charset="-120"/>
              </a:rPr>
              <a:t>Je n'ai pas créé un chatbot. J'ai créé un commercial qui ne dort jamais, ne se fatigue pas, et répond à 50 appels d'offres pendant que vous dormez.</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3857625" cy="1320115"/>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Le problème : des milliards en jeu, des heures perdues</a:t>
            </a:r>
            <a:endParaRPr lang="en-US" sz="2862" dirty="0"/>
          </a:p>
        </p:txBody>
      </p:sp>
      <p:sp>
        <p:nvSpPr>
          <p:cNvPr id="5" name="Text 1"/>
          <p:cNvSpPr/>
          <p:nvPr/>
        </p:nvSpPr>
        <p:spPr>
          <a:xfrm>
            <a:off x="600075" y="2034490"/>
            <a:ext cx="3686175" cy="571500"/>
          </a:xfrm>
          <a:prstGeom prst="rect">
            <a:avLst/>
          </a:prstGeom>
          <a:noFill/>
          <a:ln/>
        </p:spPr>
        <p:txBody>
          <a:bodyPr wrap="none" lIns="0" tIns="0" rIns="0" bIns="0" rtlCol="0" anchor="t">
            <a:spAutoFit/>
          </a:bodyPr>
          <a:lstStyle/>
          <a:p>
            <a:pPr algn="l" indent="0" marL="0">
              <a:lnSpc>
                <a:spcPts val="4500"/>
              </a:lnSpc>
              <a:buNone/>
            </a:pPr>
            <a:r>
              <a:rPr lang="en-US" sz="4145" b="1" dirty="0">
                <a:solidFill>
                  <a:srgbClr val="FF4D4D"/>
                </a:solidFill>
                <a:latin typeface="Playfair Display" pitchFamily="34" charset="0"/>
                <a:ea typeface="Playfair Display" pitchFamily="34" charset="-122"/>
                <a:cs typeface="Playfair Display" pitchFamily="34" charset="-120"/>
              </a:rPr>
              <a:t>100 Mds €</a:t>
            </a:r>
            <a:endParaRPr lang="en-US" sz="4145" dirty="0"/>
          </a:p>
        </p:txBody>
      </p:sp>
      <p:sp>
        <p:nvSpPr>
          <p:cNvPr id="6" name="Text 2"/>
          <p:cNvSpPr/>
          <p:nvPr/>
        </p:nvSpPr>
        <p:spPr>
          <a:xfrm>
            <a:off x="600075" y="2677427"/>
            <a:ext cx="3686175"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de marchés publics publiés chaque année en</a:t>
            </a:r>
            <a:endParaRPr lang="en-US" sz="942" dirty="0"/>
          </a:p>
        </p:txBody>
      </p:sp>
      <p:sp>
        <p:nvSpPr>
          <p:cNvPr id="7" name="Text 3"/>
          <p:cNvSpPr/>
          <p:nvPr/>
        </p:nvSpPr>
        <p:spPr>
          <a:xfrm>
            <a:off x="600075" y="2918529"/>
            <a:ext cx="3686175"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France.</a:t>
            </a:r>
            <a:endParaRPr lang="en-US" sz="942" dirty="0"/>
          </a:p>
        </p:txBody>
      </p:sp>
      <p:sp>
        <p:nvSpPr>
          <p:cNvPr id="8" name="Text 4"/>
          <p:cNvSpPr/>
          <p:nvPr/>
        </p:nvSpPr>
        <p:spPr>
          <a:xfrm>
            <a:off x="428625" y="3231068"/>
            <a:ext cx="385762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La grande majorité reste sans réponse — non par manque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de compétence, mais par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manque de temps</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a:t>
            </a:r>
            <a:endParaRPr lang="en-US" sz="834" dirty="0"/>
          </a:p>
        </p:txBody>
      </p:sp>
      <p:sp>
        <p:nvSpPr>
          <p:cNvPr id="9" name="Shape 5"/>
          <p:cNvSpPr/>
          <p:nvPr/>
        </p:nvSpPr>
        <p:spPr>
          <a:xfrm>
            <a:off x="4572000" y="428625"/>
            <a:ext cx="4572000" cy="4714875"/>
          </a:xfrm>
          <a:prstGeom prst="rect">
            <a:avLst/>
          </a:prstGeom>
          <a:solidFill>
            <a:srgbClr val="F9F9FA"/>
          </a:solidFill>
          <a:ln/>
        </p:spPr>
      </p:sp>
      <p:sp>
        <p:nvSpPr>
          <p:cNvPr id="10" name="Text 6"/>
          <p:cNvSpPr/>
          <p:nvPr/>
        </p:nvSpPr>
        <p:spPr>
          <a:xfrm>
            <a:off x="5000625" y="714375"/>
            <a:ext cx="2874411" cy="225028"/>
          </a:xfrm>
          <a:prstGeom prst="rect">
            <a:avLst/>
          </a:prstGeom>
          <a:noFill/>
          <a:ln/>
        </p:spPr>
        <p:txBody>
          <a:bodyPr wrap="square" lIns="0" tIns="0" rIns="0" bIns="102108"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TÂCHE</a:t>
            </a:r>
            <a:endParaRPr lang="en-US" sz="683" dirty="0"/>
          </a:p>
        </p:txBody>
      </p:sp>
      <p:sp>
        <p:nvSpPr>
          <p:cNvPr id="11" name="Text 7"/>
          <p:cNvSpPr/>
          <p:nvPr/>
        </p:nvSpPr>
        <p:spPr>
          <a:xfrm>
            <a:off x="7875036" y="714375"/>
            <a:ext cx="840339" cy="225028"/>
          </a:xfrm>
          <a:prstGeom prst="rect">
            <a:avLst/>
          </a:prstGeom>
          <a:noFill/>
          <a:ln/>
        </p:spPr>
        <p:txBody>
          <a:bodyPr wrap="square" lIns="0" tIns="0" rIns="0" bIns="102108" rtlCol="0" anchor="ctr">
            <a:spAutoFit/>
          </a:bodyPr>
          <a:lstStyle/>
          <a:p>
            <a:pPr algn="r"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TEMPS MOYEN</a:t>
            </a:r>
            <a:endParaRPr lang="en-US" sz="683" dirty="0"/>
          </a:p>
        </p:txBody>
      </p:sp>
      <p:sp>
        <p:nvSpPr>
          <p:cNvPr id="12" name="Text 8"/>
          <p:cNvSpPr/>
          <p:nvPr/>
        </p:nvSpPr>
        <p:spPr>
          <a:xfrm>
            <a:off x="5000625" y="939403"/>
            <a:ext cx="2874411" cy="521494"/>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Lire et analyser le cahier des charges</a:t>
            </a:r>
            <a:endParaRPr lang="en-US" sz="942" dirty="0"/>
          </a:p>
        </p:txBody>
      </p:sp>
      <p:sp>
        <p:nvSpPr>
          <p:cNvPr id="13" name="Text 9"/>
          <p:cNvSpPr/>
          <p:nvPr/>
        </p:nvSpPr>
        <p:spPr>
          <a:xfrm>
            <a:off x="7875036" y="939403"/>
            <a:ext cx="840339" cy="521494"/>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4 à 8 h</a:t>
            </a:r>
            <a:endParaRPr lang="en-US" sz="885" dirty="0"/>
          </a:p>
        </p:txBody>
      </p:sp>
      <p:sp>
        <p:nvSpPr>
          <p:cNvPr id="14" name="Text 10"/>
          <p:cNvSpPr/>
          <p:nvPr/>
        </p:nvSpPr>
        <p:spPr>
          <a:xfrm>
            <a:off x="5000625" y="1460897"/>
            <a:ext cx="2874411" cy="348258"/>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Identifier les critères de sélection</a:t>
            </a:r>
            <a:endParaRPr lang="en-US" sz="942" dirty="0"/>
          </a:p>
        </p:txBody>
      </p:sp>
      <p:sp>
        <p:nvSpPr>
          <p:cNvPr id="15" name="Text 11"/>
          <p:cNvSpPr/>
          <p:nvPr/>
        </p:nvSpPr>
        <p:spPr>
          <a:xfrm>
            <a:off x="7875036" y="1460897"/>
            <a:ext cx="840339" cy="348258"/>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2 à 4 h</a:t>
            </a:r>
            <a:endParaRPr lang="en-US" sz="885" dirty="0"/>
          </a:p>
        </p:txBody>
      </p:sp>
      <p:sp>
        <p:nvSpPr>
          <p:cNvPr id="16" name="Text 12"/>
          <p:cNvSpPr/>
          <p:nvPr/>
        </p:nvSpPr>
        <p:spPr>
          <a:xfrm>
            <a:off x="5000625" y="1809155"/>
            <a:ext cx="2874411" cy="348258"/>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Rédiger la réponse technique</a:t>
            </a:r>
            <a:endParaRPr lang="en-US" sz="942" dirty="0"/>
          </a:p>
        </p:txBody>
      </p:sp>
      <p:sp>
        <p:nvSpPr>
          <p:cNvPr id="17" name="Text 13"/>
          <p:cNvSpPr/>
          <p:nvPr/>
        </p:nvSpPr>
        <p:spPr>
          <a:xfrm>
            <a:off x="7875036" y="1809155"/>
            <a:ext cx="840339" cy="348258"/>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8 à 20 h</a:t>
            </a:r>
            <a:endParaRPr lang="en-US" sz="885" dirty="0"/>
          </a:p>
        </p:txBody>
      </p:sp>
      <p:sp>
        <p:nvSpPr>
          <p:cNvPr id="18" name="Text 14"/>
          <p:cNvSpPr/>
          <p:nvPr/>
        </p:nvSpPr>
        <p:spPr>
          <a:xfrm>
            <a:off x="5000625" y="2157413"/>
            <a:ext cx="2874411" cy="351830"/>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Relire, reformuler, adapter</a:t>
            </a:r>
            <a:endParaRPr lang="en-US" sz="942" dirty="0"/>
          </a:p>
        </p:txBody>
      </p:sp>
      <p:sp>
        <p:nvSpPr>
          <p:cNvPr id="19" name="Text 15"/>
          <p:cNvSpPr/>
          <p:nvPr/>
        </p:nvSpPr>
        <p:spPr>
          <a:xfrm>
            <a:off x="7875036" y="2157413"/>
            <a:ext cx="840339" cy="351830"/>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2 à 6 h</a:t>
            </a:r>
            <a:endParaRPr lang="en-US" sz="885" dirty="0"/>
          </a:p>
        </p:txBody>
      </p:sp>
      <p:sp>
        <p:nvSpPr>
          <p:cNvPr id="20" name="Text 16"/>
          <p:cNvSpPr/>
          <p:nvPr/>
        </p:nvSpPr>
        <p:spPr>
          <a:xfrm>
            <a:off x="5000625" y="2509242"/>
            <a:ext cx="2874411" cy="635794"/>
          </a:xfrm>
          <a:prstGeom prst="rect">
            <a:avLst/>
          </a:prstGeom>
          <a:noFill/>
          <a:ln/>
        </p:spPr>
        <p:txBody>
          <a:bodyPr wrap="square" lIns="0" tIns="153035" rIns="0" bIns="102108" rtlCol="0" anchor="ctr">
            <a:spAutoFit/>
          </a:bodyPr>
          <a:lstStyle/>
          <a:p>
            <a:pPr algn="l" indent="0" marL="0">
              <a:lnSpc>
                <a:spcPts val="1500"/>
              </a:lnSpc>
              <a:buNone/>
            </a:pPr>
            <a:r>
              <a:rPr lang="en-US" sz="1090" b="1" dirty="0">
                <a:solidFill>
                  <a:srgbClr val="FF4D4D"/>
                </a:solidFill>
                <a:latin typeface="JetBrains Mono" pitchFamily="34" charset="0"/>
                <a:ea typeface="JetBrains Mono" pitchFamily="34" charset="-122"/>
                <a:cs typeface="JetBrains Mono" pitchFamily="34" charset="-120"/>
              </a:rPr>
              <a:t>Total par appel d'offres</a:t>
            </a:r>
            <a:endParaRPr lang="en-US" sz="1090" dirty="0"/>
          </a:p>
        </p:txBody>
      </p:sp>
      <p:sp>
        <p:nvSpPr>
          <p:cNvPr id="21" name="Text 17"/>
          <p:cNvSpPr/>
          <p:nvPr/>
        </p:nvSpPr>
        <p:spPr>
          <a:xfrm>
            <a:off x="7875036" y="2509242"/>
            <a:ext cx="840339" cy="635794"/>
          </a:xfrm>
          <a:prstGeom prst="rect">
            <a:avLst/>
          </a:prstGeom>
          <a:noFill/>
          <a:ln/>
        </p:spPr>
        <p:txBody>
          <a:bodyPr wrap="square" lIns="0" tIns="153035" rIns="0" bIns="102108" rtlCol="0" anchor="ctr">
            <a:spAutoFit/>
          </a:bodyPr>
          <a:lstStyle/>
          <a:p>
            <a:pPr algn="r" indent="0" marL="0">
              <a:lnSpc>
                <a:spcPts val="1500"/>
              </a:lnSpc>
              <a:buNone/>
            </a:pPr>
            <a:r>
              <a:rPr lang="en-US" sz="1090" b="1" dirty="0">
                <a:solidFill>
                  <a:srgbClr val="FF4D4D"/>
                </a:solidFill>
                <a:latin typeface="JetBrains Mono" pitchFamily="34" charset="0"/>
                <a:ea typeface="JetBrains Mono" pitchFamily="34" charset="-122"/>
                <a:cs typeface="JetBrains Mono" pitchFamily="34" charset="-120"/>
              </a:rPr>
              <a:t>16 à 38 h</a:t>
            </a:r>
            <a:endParaRPr lang="en-US" sz="1090" dirty="0"/>
          </a:p>
        </p:txBody>
      </p:sp>
      <p:sp>
        <p:nvSpPr>
          <p:cNvPr id="22" name="Shape 18"/>
          <p:cNvSpPr/>
          <p:nvPr/>
        </p:nvSpPr>
        <p:spPr>
          <a:xfrm>
            <a:off x="5000625" y="3359348"/>
            <a:ext cx="3714750" cy="512564"/>
          </a:xfrm>
          <a:prstGeom prst="rect">
            <a:avLst/>
          </a:prstGeom>
          <a:solidFill>
            <a:srgbClr val="1A1A1A"/>
          </a:solidFill>
          <a:ln/>
        </p:spPr>
      </p:sp>
      <p:sp>
        <p:nvSpPr>
          <p:cNvPr id="23" name="Text 19"/>
          <p:cNvSpPr/>
          <p:nvPr/>
        </p:nvSpPr>
        <p:spPr>
          <a:xfrm>
            <a:off x="5000625" y="3359348"/>
            <a:ext cx="3714750" cy="512564"/>
          </a:xfrm>
          <a:prstGeom prst="rect">
            <a:avLst/>
          </a:prstGeom>
          <a:noFill/>
          <a:ln/>
        </p:spPr>
        <p:txBody>
          <a:bodyPr wrap="square" lIns="170053" tIns="170053" rIns="170053" bIns="170053" rtlCol="0" anchor="t">
            <a:spAutoFit/>
          </a:bodyPr>
          <a:lstStyle/>
          <a:p>
            <a:pPr algn="ctr" indent="0" marL="0">
              <a:lnSpc>
                <a:spcPts val="1200"/>
              </a:lnSpc>
              <a:buNone/>
            </a:pPr>
            <a:r>
              <a:rPr lang="en-US" sz="942" dirty="0">
                <a:solidFill>
                  <a:srgbClr val="FFFFFF"/>
                </a:solidFill>
                <a:latin typeface="JetBrains Mono" pitchFamily="34" charset="0"/>
                <a:ea typeface="JetBrains Mono" pitchFamily="34" charset="-122"/>
                <a:cs typeface="JetBrains Mono" pitchFamily="34" charset="-120"/>
              </a:rPr>
              <a:t>Taux de succès moyen : </a:t>
            </a:r>
            <a:pPr algn="ctr" indent="0" marL="0">
              <a:lnSpc>
                <a:spcPts val="1200"/>
              </a:lnSpc>
              <a:buNone/>
            </a:pPr>
            <a:r>
              <a:rPr lang="en-US" sz="1193" b="1" dirty="0">
                <a:solidFill>
                  <a:srgbClr val="FF4D4D"/>
                </a:solidFill>
                <a:latin typeface="JetBrains Mono" pitchFamily="34" charset="0"/>
                <a:ea typeface="JetBrains Mono" pitchFamily="34" charset="-122"/>
                <a:cs typeface="JetBrains Mono" pitchFamily="34" charset="-120"/>
              </a:rPr>
              <a:t>20 à 30 %</a:t>
            </a:r>
            <a:pPr algn="ctr" indent="0" marL="0">
              <a:lnSpc>
                <a:spcPts val="1200"/>
              </a:lnSpc>
              <a:buNone/>
            </a:pP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716956"/>
          </a:xfrm>
          <a:prstGeom prst="rect">
            <a:avLst/>
          </a:prstGeom>
          <a:solidFill>
            <a:srgbClr val="000000">
              <a:alpha val="0"/>
            </a:srgbClr>
          </a:solidFill>
          <a:ln/>
        </p:spPr>
      </p:sp>
      <p:sp>
        <p:nvSpPr>
          <p:cNvPr id="5" name="Shape 1"/>
          <p:cNvSpPr/>
          <p:nvPr/>
        </p:nvSpPr>
        <p:spPr>
          <a:xfrm>
            <a:off x="0" y="1709812"/>
            <a:ext cx="9144000" cy="7144"/>
          </a:xfrm>
          <a:prstGeom prst="rect">
            <a:avLst/>
          </a:prstGeom>
          <a:solidFill>
            <a:srgbClr val="E5E5E5"/>
          </a:solidFill>
          <a:ln/>
        </p:spPr>
      </p:sp>
      <p:sp>
        <p:nvSpPr>
          <p:cNvPr id="6" name="Text 2"/>
          <p:cNvSpPr/>
          <p:nvPr/>
        </p:nvSpPr>
        <p:spPr>
          <a:xfrm>
            <a:off x="428625" y="428625"/>
            <a:ext cx="8286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Le problème n'est pas le talent.</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
</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C'est l'échelle.</a:t>
            </a:r>
            <a:endParaRPr lang="en-US" sz="2436" dirty="0"/>
          </a:p>
        </p:txBody>
      </p:sp>
      <p:sp>
        <p:nvSpPr>
          <p:cNvPr id="7" name="Text 3"/>
          <p:cNvSpPr/>
          <p:nvPr/>
        </p:nvSpPr>
        <p:spPr>
          <a:xfrm>
            <a:off x="428625" y="1254398"/>
            <a:ext cx="82867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POURQUOI LE PROCESSUS ACTUEL ÉCHOUE</a:t>
            </a:r>
            <a:endParaRPr lang="en-US" sz="885" dirty="0"/>
          </a:p>
        </p:txBody>
      </p:sp>
      <p:sp>
        <p:nvSpPr>
          <p:cNvPr id="8" name="Text 4"/>
          <p:cNvSpPr/>
          <p:nvPr/>
        </p:nvSpPr>
        <p:spPr>
          <a:xfrm>
            <a:off x="285750" y="1995562"/>
            <a:ext cx="2469338"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PME &amp; ETI</a:t>
            </a:r>
            <a:endParaRPr lang="en-US" sz="1397" dirty="0"/>
          </a:p>
        </p:txBody>
      </p:sp>
      <p:sp>
        <p:nvSpPr>
          <p:cNvPr id="9" name="Text 5"/>
          <p:cNvSpPr/>
          <p:nvPr/>
        </p:nvSpPr>
        <p:spPr>
          <a:xfrm>
            <a:off x="285750" y="2638499"/>
            <a:ext cx="2469338"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Elles renoncent souvent à des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marchés qu'elles pourraient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remporter, faute de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ressources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humaines disponibles</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pour traiter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la complexité administrative.</a:t>
            </a:r>
            <a:endParaRPr lang="en-US" sz="834" dirty="0"/>
          </a:p>
        </p:txBody>
      </p:sp>
      <p:sp>
        <p:nvSpPr>
          <p:cNvPr id="10" name="Text 6"/>
          <p:cNvSpPr/>
          <p:nvPr/>
        </p:nvSpPr>
        <p:spPr>
          <a:xfrm>
            <a:off x="3333731" y="1995562"/>
            <a:ext cx="2469366"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Grands Groupes</a:t>
            </a:r>
            <a:endParaRPr lang="en-US" sz="1397" dirty="0"/>
          </a:p>
        </p:txBody>
      </p:sp>
      <p:sp>
        <p:nvSpPr>
          <p:cNvPr id="11" name="Text 7"/>
          <p:cNvSpPr/>
          <p:nvPr/>
        </p:nvSpPr>
        <p:spPr>
          <a:xfrm>
            <a:off x="3333731" y="2638499"/>
            <a:ext cx="2469366"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Ils mobilisent des équipes entières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d'experts, mais pour produire un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résultat souvent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générique</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et peu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différenciant par manque de temps de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personnalisation.</a:t>
            </a:r>
            <a:endParaRPr lang="en-US" sz="834" dirty="0"/>
          </a:p>
        </p:txBody>
      </p:sp>
      <p:sp>
        <p:nvSpPr>
          <p:cNvPr id="12" name="Text 8"/>
          <p:cNvSpPr/>
          <p:nvPr/>
        </p:nvSpPr>
        <p:spPr>
          <a:xfrm>
            <a:off x="6381741" y="1995562"/>
            <a:ext cx="2476481"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Le Coût Caché</a:t>
            </a:r>
            <a:endParaRPr lang="en-US" sz="1397" dirty="0"/>
          </a:p>
        </p:txBody>
      </p:sp>
      <p:sp>
        <p:nvSpPr>
          <p:cNvPr id="13" name="Text 9"/>
          <p:cNvSpPr/>
          <p:nvPr/>
        </p:nvSpPr>
        <p:spPr>
          <a:xfrm>
            <a:off x="6381741" y="2638499"/>
            <a:ext cx="247648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Le processus manuel est chronophage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et coûteux : environ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3 000 € par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réponse</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C'est un modèle non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scalable qui freine la croissance.</a:t>
            </a:r>
            <a:endParaRPr lang="en-US" sz="834" dirty="0"/>
          </a:p>
        </p:txBody>
      </p:sp>
      <p:sp>
        <p:nvSpPr>
          <p:cNvPr id="14" name="Shape 10"/>
          <p:cNvSpPr/>
          <p:nvPr/>
        </p:nvSpPr>
        <p:spPr>
          <a:xfrm>
            <a:off x="0" y="4331987"/>
            <a:ext cx="9144000" cy="811513"/>
          </a:xfrm>
          <a:prstGeom prst="rect">
            <a:avLst/>
          </a:prstGeom>
          <a:solidFill>
            <a:srgbClr val="1A1A1A"/>
          </a:solidFill>
          <a:ln/>
        </p:spPr>
      </p:sp>
      <p:sp>
        <p:nvSpPr>
          <p:cNvPr id="15" name="Text 11"/>
          <p:cNvSpPr/>
          <p:nvPr/>
        </p:nvSpPr>
        <p:spPr>
          <a:xfrm>
            <a:off x="428625" y="4617737"/>
            <a:ext cx="8286750" cy="240013"/>
          </a:xfrm>
          <a:prstGeom prst="rect">
            <a:avLst/>
          </a:prstGeom>
          <a:noFill/>
          <a:ln/>
        </p:spPr>
        <p:txBody>
          <a:bodyPr wrap="none" lIns="0" tIns="0" rIns="0" bIns="0" rtlCol="0" anchor="t">
            <a:spAutoFit/>
          </a:bodyPr>
          <a:lstStyle/>
          <a:p>
            <a:pPr algn="ctr" indent="0" marL="0">
              <a:lnSpc>
                <a:spcPts val="1900"/>
              </a:lnSpc>
              <a:buNone/>
            </a:pPr>
            <a:r>
              <a:rPr lang="en-US" sz="1269" i="1" dirty="0">
                <a:solidFill>
                  <a:srgbClr val="FFFFFF"/>
                </a:solidFill>
                <a:latin typeface="Playfair Display" pitchFamily="34" charset="0"/>
                <a:ea typeface="Playfair Display" pitchFamily="34" charset="-122"/>
                <a:cs typeface="Playfair Display" pitchFamily="34" charset="-120"/>
              </a:rPr>
              <a:t>"Chaque AO auquel vous ne répondez pas est un marché que vous </a:t>
            </a:r>
            <a:pPr algn="ctr" indent="0" marL="0">
              <a:lnSpc>
                <a:spcPts val="1900"/>
              </a:lnSpc>
              <a:buNone/>
            </a:pPr>
            <a:r>
              <a:rPr lang="en-US" sz="1193" b="1" i="1" dirty="0">
                <a:solidFill>
                  <a:srgbClr val="FF4D4D"/>
                </a:solidFill>
                <a:latin typeface="Playfair Display" pitchFamily="34" charset="0"/>
                <a:ea typeface="Playfair Display" pitchFamily="34" charset="-122"/>
                <a:cs typeface="Playfair Display" pitchFamily="34" charset="-120"/>
              </a:rPr>
              <a:t>offrez à la concurrence</a:t>
            </a:r>
            <a:pPr algn="ctr" indent="0" marL="0">
              <a:lnSpc>
                <a:spcPts val="1900"/>
              </a:lnSpc>
              <a:buNone/>
            </a:pPr>
            <a:r>
              <a:rPr lang="en-US" sz="1269" i="1" dirty="0">
                <a:solidFill>
                  <a:srgbClr val="FFFFFF"/>
                </a:solidFill>
                <a:latin typeface="Playfair Display" pitchFamily="34" charset="0"/>
                <a:ea typeface="Playfair Display" pitchFamily="34" charset="-122"/>
                <a:cs typeface="Playfair Display" pitchFamily="34" charset="-120"/>
              </a:rPr>
              <a:t>."</a:t>
            </a:r>
            <a:endParaRPr lang="en-US" sz="126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214688" cy="4714875"/>
          </a:xfrm>
          <a:prstGeom prst="rect">
            <a:avLst/>
          </a:prstGeom>
          <a:solidFill>
            <a:srgbClr val="000000">
              <a:alpha val="0"/>
            </a:srgbClr>
          </a:solidFill>
          <a:ln/>
        </p:spPr>
      </p:sp>
      <p:sp>
        <p:nvSpPr>
          <p:cNvPr id="5" name="Shape 1"/>
          <p:cNvSpPr/>
          <p:nvPr/>
        </p:nvSpPr>
        <p:spPr>
          <a:xfrm>
            <a:off x="3207544" y="428625"/>
            <a:ext cx="7144" cy="4714875"/>
          </a:xfrm>
          <a:prstGeom prst="rect">
            <a:avLst/>
          </a:prstGeom>
          <a:solidFill>
            <a:srgbClr val="E5E5E5"/>
          </a:solidFill>
          <a:ln/>
        </p:spPr>
      </p:sp>
      <p:sp>
        <p:nvSpPr>
          <p:cNvPr id="6" name="Text 2"/>
          <p:cNvSpPr/>
          <p:nvPr/>
        </p:nvSpPr>
        <p:spPr>
          <a:xfrm>
            <a:off x="428625" y="428625"/>
            <a:ext cx="2500313" cy="1320143"/>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1A1A"/>
                </a:solidFill>
                <a:latin typeface="Playfair Display" pitchFamily="34" charset="0"/>
                <a:ea typeface="Playfair Display" pitchFamily="34" charset="-122"/>
                <a:cs typeface="Playfair Display" pitchFamily="34" charset="-120"/>
              </a:rPr>
              <a:t>Contexte Marocain : Une opportunité unique</a:t>
            </a:r>
            <a:endParaRPr lang="en-US" sz="2121" dirty="0"/>
          </a:p>
        </p:txBody>
      </p:sp>
      <p:sp>
        <p:nvSpPr>
          <p:cNvPr id="7" name="Text 3"/>
          <p:cNvSpPr/>
          <p:nvPr/>
        </p:nvSpPr>
        <p:spPr>
          <a:xfrm>
            <a:off x="600075" y="2034518"/>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Décret n° 2-22-431</a:t>
            </a:r>
            <a:endParaRPr lang="en-US" sz="1090" dirty="0"/>
          </a:p>
        </p:txBody>
      </p:sp>
      <p:sp>
        <p:nvSpPr>
          <p:cNvPr id="8" name="Text 4"/>
          <p:cNvSpPr/>
          <p:nvPr/>
        </p:nvSpPr>
        <p:spPr>
          <a:xfrm>
            <a:off x="600075" y="2300622"/>
            <a:ext cx="2328863"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Le texte de référence du 8 mars 2023 relatif aux marchés publics au Maroc.</a:t>
            </a:r>
            <a:endParaRPr lang="en-US" sz="727" dirty="0"/>
          </a:p>
        </p:txBody>
      </p:sp>
      <p:sp>
        <p:nvSpPr>
          <p:cNvPr id="9" name="Text 5"/>
          <p:cNvSpPr/>
          <p:nvPr/>
        </p:nvSpPr>
        <p:spPr>
          <a:xfrm>
            <a:off x="600075" y="2814972"/>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Portail des Marchés</a:t>
            </a:r>
            <a:endParaRPr lang="en-US" sz="1090" dirty="0"/>
          </a:p>
        </p:txBody>
      </p:sp>
      <p:sp>
        <p:nvSpPr>
          <p:cNvPr id="10" name="Text 6"/>
          <p:cNvSpPr/>
          <p:nvPr/>
        </p:nvSpPr>
        <p:spPr>
          <a:xfrm>
            <a:off x="600075" y="3081077"/>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portailmp.gov.ma — La plateforme officielle de publication des appels d'offres.</a:t>
            </a:r>
            <a:endParaRPr lang="en-US" sz="727" dirty="0"/>
          </a:p>
        </p:txBody>
      </p:sp>
      <p:sp>
        <p:nvSpPr>
          <p:cNvPr id="11" name="Text 7"/>
          <p:cNvSpPr/>
          <p:nvPr/>
        </p:nvSpPr>
        <p:spPr>
          <a:xfrm>
            <a:off x="600075" y="3745446"/>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Régulation (CNCP)</a:t>
            </a:r>
            <a:endParaRPr lang="en-US" sz="1090" dirty="0"/>
          </a:p>
        </p:txBody>
      </p:sp>
      <p:sp>
        <p:nvSpPr>
          <p:cNvPr id="12" name="Text 8"/>
          <p:cNvSpPr/>
          <p:nvPr/>
        </p:nvSpPr>
        <p:spPr>
          <a:xfrm>
            <a:off x="600075" y="4011550"/>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Commission Nationale de la Commande Publique — Organe de régulation stratégique.</a:t>
            </a:r>
            <a:endParaRPr lang="en-US" sz="727" dirty="0"/>
          </a:p>
        </p:txBody>
      </p:sp>
      <p:sp>
        <p:nvSpPr>
          <p:cNvPr id="13" name="Shape 9"/>
          <p:cNvSpPr/>
          <p:nvPr/>
        </p:nvSpPr>
        <p:spPr>
          <a:xfrm>
            <a:off x="3214688" y="0"/>
            <a:ext cx="5929313" cy="5143500"/>
          </a:xfrm>
          <a:prstGeom prst="rect">
            <a:avLst/>
          </a:prstGeom>
          <a:solidFill>
            <a:srgbClr val="F9F9FA"/>
          </a:solidFill>
          <a:ln/>
        </p:spPr>
      </p:sp>
      <p:sp>
        <p:nvSpPr>
          <p:cNvPr id="14" name="Text 10"/>
          <p:cNvSpPr/>
          <p:nvPr/>
        </p:nvSpPr>
        <p:spPr>
          <a:xfrm>
            <a:off x="3643313" y="714375"/>
            <a:ext cx="5072063" cy="132159"/>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D4D"/>
                </a:solidFill>
                <a:latin typeface="JetBrains Mono" pitchFamily="34" charset="0"/>
                <a:ea typeface="JetBrains Mono" pitchFamily="34" charset="-122"/>
                <a:cs typeface="JetBrains Mono" pitchFamily="34" charset="-120"/>
              </a:rPr>
              <a:t>ACTEURS CLÉS</a:t>
            </a:r>
            <a:endParaRPr lang="en-US" sz="683" dirty="0"/>
          </a:p>
        </p:txBody>
      </p:sp>
      <p:sp>
        <p:nvSpPr>
          <p:cNvPr id="15" name="Text 11"/>
          <p:cNvSpPr/>
          <p:nvPr/>
        </p:nvSpPr>
        <p:spPr>
          <a:xfrm>
            <a:off x="3643313" y="989409"/>
            <a:ext cx="5072063"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Émetteurs d'AO au Maroc</a:t>
            </a:r>
            <a:endParaRPr lang="en-US" sz="1602" dirty="0"/>
          </a:p>
        </p:txBody>
      </p:sp>
      <p:sp>
        <p:nvSpPr>
          <p:cNvPr id="16" name="Text 12"/>
          <p:cNvSpPr/>
          <p:nvPr/>
        </p:nvSpPr>
        <p:spPr>
          <a:xfrm>
            <a:off x="3643313" y="1507331"/>
            <a:ext cx="1775222" cy="246459"/>
          </a:xfrm>
          <a:prstGeom prst="rect">
            <a:avLst/>
          </a:prstGeom>
          <a:noFill/>
          <a:ln/>
        </p:spPr>
        <p:txBody>
          <a:bodyPr wrap="square" lIns="0" tIns="0" rIns="0" bIns="127508"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SECTEUR</a:t>
            </a:r>
            <a:endParaRPr lang="en-US" sz="683" dirty="0"/>
          </a:p>
        </p:txBody>
      </p:sp>
      <p:sp>
        <p:nvSpPr>
          <p:cNvPr id="17" name="Text 13"/>
          <p:cNvSpPr/>
          <p:nvPr/>
        </p:nvSpPr>
        <p:spPr>
          <a:xfrm>
            <a:off x="5418534" y="1507331"/>
            <a:ext cx="3296841" cy="246459"/>
          </a:xfrm>
          <a:prstGeom prst="rect">
            <a:avLst/>
          </a:prstGeom>
          <a:noFill/>
          <a:ln/>
        </p:spPr>
        <p:txBody>
          <a:bodyPr wrap="square" lIns="0" tIns="0" rIns="0" bIns="127508"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EXEMPLES D'ORGANISMES</a:t>
            </a:r>
            <a:endParaRPr lang="en-US" sz="683" dirty="0"/>
          </a:p>
        </p:txBody>
      </p:sp>
      <p:sp>
        <p:nvSpPr>
          <p:cNvPr id="18" name="Text 14"/>
          <p:cNvSpPr/>
          <p:nvPr/>
        </p:nvSpPr>
        <p:spPr>
          <a:xfrm>
            <a:off x="3643313" y="1753791"/>
            <a:ext cx="1775222" cy="314325"/>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Énergie &amp; Eau</a:t>
            </a:r>
            <a:endParaRPr lang="en-US" sz="683" dirty="0"/>
          </a:p>
        </p:txBody>
      </p:sp>
      <p:sp>
        <p:nvSpPr>
          <p:cNvPr id="19" name="Text 15"/>
          <p:cNvSpPr/>
          <p:nvPr/>
        </p:nvSpPr>
        <p:spPr>
          <a:xfrm>
            <a:off x="5418534" y="1753791"/>
            <a:ext cx="3296841" cy="314325"/>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ONEE, MASEN, ONHYM</a:t>
            </a:r>
            <a:endParaRPr lang="en-US" sz="727" dirty="0"/>
          </a:p>
        </p:txBody>
      </p:sp>
      <p:sp>
        <p:nvSpPr>
          <p:cNvPr id="20" name="Text 16"/>
          <p:cNvSpPr/>
          <p:nvPr/>
        </p:nvSpPr>
        <p:spPr>
          <a:xfrm>
            <a:off x="3643313" y="2068116"/>
            <a:ext cx="1775222" cy="310753"/>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Industrie &amp; Mines</a:t>
            </a:r>
            <a:endParaRPr lang="en-US" sz="683" dirty="0"/>
          </a:p>
        </p:txBody>
      </p:sp>
      <p:sp>
        <p:nvSpPr>
          <p:cNvPr id="21" name="Text 17"/>
          <p:cNvSpPr/>
          <p:nvPr/>
        </p:nvSpPr>
        <p:spPr>
          <a:xfrm>
            <a:off x="5418534" y="2068116"/>
            <a:ext cx="3296841" cy="310753"/>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OCP, Reminex</a:t>
            </a:r>
            <a:endParaRPr lang="en-US" sz="727" dirty="0"/>
          </a:p>
        </p:txBody>
      </p:sp>
      <p:sp>
        <p:nvSpPr>
          <p:cNvPr id="22" name="Text 18"/>
          <p:cNvSpPr/>
          <p:nvPr/>
        </p:nvSpPr>
        <p:spPr>
          <a:xfrm>
            <a:off x="3643313" y="2378869"/>
            <a:ext cx="1775222" cy="310753"/>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Transport &amp; Logistique</a:t>
            </a:r>
            <a:endParaRPr lang="en-US" sz="683" dirty="0"/>
          </a:p>
        </p:txBody>
      </p:sp>
      <p:sp>
        <p:nvSpPr>
          <p:cNvPr id="23" name="Text 19"/>
          <p:cNvSpPr/>
          <p:nvPr/>
        </p:nvSpPr>
        <p:spPr>
          <a:xfrm>
            <a:off x="5418534" y="2378869"/>
            <a:ext cx="3296841" cy="310753"/>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RAM, ONCF, ANP, TMSA</a:t>
            </a:r>
            <a:endParaRPr lang="en-US" sz="727" dirty="0"/>
          </a:p>
        </p:txBody>
      </p:sp>
      <p:sp>
        <p:nvSpPr>
          <p:cNvPr id="24" name="Text 20"/>
          <p:cNvSpPr/>
          <p:nvPr/>
        </p:nvSpPr>
        <p:spPr>
          <a:xfrm>
            <a:off x="3643313" y="2689622"/>
            <a:ext cx="1775222" cy="310753"/>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Finance &amp; Investissement</a:t>
            </a:r>
            <a:endParaRPr lang="en-US" sz="683" dirty="0"/>
          </a:p>
        </p:txBody>
      </p:sp>
      <p:sp>
        <p:nvSpPr>
          <p:cNvPr id="25" name="Text 21"/>
          <p:cNvSpPr/>
          <p:nvPr/>
        </p:nvSpPr>
        <p:spPr>
          <a:xfrm>
            <a:off x="5418534" y="2689622"/>
            <a:ext cx="3296841" cy="310753"/>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CDG, CIH, MAMDA</a:t>
            </a:r>
            <a:endParaRPr lang="en-US" sz="727" dirty="0"/>
          </a:p>
        </p:txBody>
      </p:sp>
      <p:sp>
        <p:nvSpPr>
          <p:cNvPr id="26" name="Text 22"/>
          <p:cNvSpPr/>
          <p:nvPr/>
        </p:nvSpPr>
        <p:spPr>
          <a:xfrm>
            <a:off x="3643313" y="3000375"/>
            <a:ext cx="1775222" cy="310753"/>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Télécoms</a:t>
            </a:r>
            <a:endParaRPr lang="en-US" sz="683" dirty="0"/>
          </a:p>
        </p:txBody>
      </p:sp>
      <p:sp>
        <p:nvSpPr>
          <p:cNvPr id="27" name="Text 23"/>
          <p:cNvSpPr/>
          <p:nvPr/>
        </p:nvSpPr>
        <p:spPr>
          <a:xfrm>
            <a:off x="5418534" y="3000375"/>
            <a:ext cx="3296841" cy="310753"/>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Maroc Telecom, IAM</a:t>
            </a:r>
            <a:endParaRPr lang="en-US" sz="727" dirty="0"/>
          </a:p>
        </p:txBody>
      </p:sp>
      <p:sp>
        <p:nvSpPr>
          <p:cNvPr id="28" name="Text 24"/>
          <p:cNvSpPr/>
          <p:nvPr/>
        </p:nvSpPr>
        <p:spPr>
          <a:xfrm>
            <a:off x="3643313" y="3311128"/>
            <a:ext cx="1775222" cy="310753"/>
          </a:xfrm>
          <a:prstGeom prst="rect">
            <a:avLst/>
          </a:prstGeom>
          <a:noFill/>
          <a:ln/>
        </p:spPr>
        <p:txBody>
          <a:bodyPr wrap="square" lIns="0" tIns="102108" rIns="0" bIns="102108"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Collectivités &amp; Ministères</a:t>
            </a:r>
            <a:endParaRPr lang="en-US" sz="683" dirty="0"/>
          </a:p>
        </p:txBody>
      </p:sp>
      <p:sp>
        <p:nvSpPr>
          <p:cNvPr id="29" name="Text 25"/>
          <p:cNvSpPr/>
          <p:nvPr/>
        </p:nvSpPr>
        <p:spPr>
          <a:xfrm>
            <a:off x="5418534" y="3311128"/>
            <a:ext cx="3296841" cy="310753"/>
          </a:xfrm>
          <a:prstGeom prst="rect">
            <a:avLst/>
          </a:prstGeom>
          <a:noFill/>
          <a:ln/>
        </p:spPr>
        <p:txBody>
          <a:bodyPr wrap="square" lIns="0" tIns="102108" rIns="0" bIns="102108"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Communes, Régions, MEF, MTNRA...</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1140823"/>
          </a:xfrm>
          <a:prstGeom prst="rect">
            <a:avLst/>
          </a:prstGeom>
          <a:solidFill>
            <a:srgbClr val="000000">
              <a:alpha val="0"/>
            </a:srgbClr>
          </a:solidFill>
          <a:ln/>
        </p:spPr>
      </p:sp>
      <p:sp>
        <p:nvSpPr>
          <p:cNvPr id="5" name="Shape 1"/>
          <p:cNvSpPr/>
          <p:nvPr/>
        </p:nvSpPr>
        <p:spPr>
          <a:xfrm>
            <a:off x="428625" y="428625"/>
            <a:ext cx="28575" cy="1140823"/>
          </a:xfrm>
          <a:prstGeom prst="rect">
            <a:avLst/>
          </a:prstGeom>
          <a:solidFill>
            <a:srgbClr val="FF4D4D"/>
          </a:solidFill>
          <a:ln/>
        </p:spPr>
      </p:sp>
      <p:sp>
        <p:nvSpPr>
          <p:cNvPr id="6" name="Text 2"/>
          <p:cNvSpPr/>
          <p:nvPr/>
        </p:nvSpPr>
        <p:spPr>
          <a:xfrm>
            <a:off x="642938" y="428625"/>
            <a:ext cx="8072438"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La vision : et si une IA</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
</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lisait l'AO à votre place ?</a:t>
            </a:r>
            <a:endParaRPr lang="en-US" sz="2862" dirty="0"/>
          </a:p>
        </p:txBody>
      </p:sp>
      <p:sp>
        <p:nvSpPr>
          <p:cNvPr id="7" name="Text 3"/>
          <p:cNvSpPr/>
          <p:nvPr/>
        </p:nvSpPr>
        <p:spPr>
          <a:xfrm>
            <a:off x="642938" y="1380139"/>
            <a:ext cx="8072438"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666666"/>
                </a:solidFill>
                <a:latin typeface="JetBrains Mono" pitchFamily="34" charset="0"/>
                <a:ea typeface="JetBrains Mono" pitchFamily="34" charset="-122"/>
                <a:cs typeface="JetBrains Mono" pitchFamily="34" charset="-120"/>
              </a:rPr>
              <a:t>OffrIA transforme 38 heures de travail en moins de 2 minutes.</a:t>
            </a:r>
            <a:endParaRPr lang="en-US" sz="1050" dirty="0"/>
          </a:p>
        </p:txBody>
      </p:sp>
      <p:sp>
        <p:nvSpPr>
          <p:cNvPr id="8" name="Shape 4"/>
          <p:cNvSpPr/>
          <p:nvPr/>
        </p:nvSpPr>
        <p:spPr>
          <a:xfrm>
            <a:off x="428625" y="1825730"/>
            <a:ext cx="2143125" cy="1167612"/>
          </a:xfrm>
          <a:prstGeom prst="rect">
            <a:avLst/>
          </a:prstGeom>
          <a:solidFill>
            <a:srgbClr val="FFFFFF"/>
          </a:solidFill>
          <a:ln w="9144">
            <a:solidFill>
              <a:srgbClr val="E5E5E5"/>
            </a:solidFill>
            <a:prstDash val="solid"/>
          </a:ln>
        </p:spPr>
      </p:sp>
      <p:pic>
        <p:nvPicPr>
          <p:cNvPr id="9" name="Image 1" descr="preencoded.png">    </p:cNvPr>
          <p:cNvPicPr>
            <a:picLocks noChangeAspect="1"/>
          </p:cNvPicPr>
          <p:nvPr/>
        </p:nvPicPr>
        <p:blipFill>
          <a:blip r:embed="rId2"/>
          <a:stretch>
            <a:fillRect/>
          </a:stretch>
        </p:blipFill>
        <p:spPr>
          <a:xfrm>
            <a:off x="1393031" y="1929315"/>
            <a:ext cx="214313" cy="285750"/>
          </a:xfrm>
          <a:prstGeom prst="rect">
            <a:avLst/>
          </a:prstGeom>
        </p:spPr>
      </p:pic>
      <p:sp>
        <p:nvSpPr>
          <p:cNvPr id="10" name="Text 5"/>
          <p:cNvSpPr/>
          <p:nvPr/>
        </p:nvSpPr>
        <p:spPr>
          <a:xfrm>
            <a:off x="514350"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Appel d'offres</a:t>
            </a:r>
            <a:endParaRPr lang="en-US" sz="1193" dirty="0"/>
          </a:p>
        </p:txBody>
      </p:sp>
      <p:sp>
        <p:nvSpPr>
          <p:cNvPr id="11" name="Text 6"/>
          <p:cNvSpPr/>
          <p:nvPr/>
        </p:nvSpPr>
        <p:spPr>
          <a:xfrm>
            <a:off x="514350"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Document PDF brut</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Cahier des charges</a:t>
            </a:r>
            <a:endParaRPr lang="en-US" sz="727" dirty="0"/>
          </a:p>
        </p:txBody>
      </p:sp>
      <p:sp>
        <p:nvSpPr>
          <p:cNvPr id="12" name="Shape 7"/>
          <p:cNvSpPr/>
          <p:nvPr/>
        </p:nvSpPr>
        <p:spPr>
          <a:xfrm>
            <a:off x="3500438" y="1818587"/>
            <a:ext cx="2143125" cy="1181900"/>
          </a:xfrm>
          <a:prstGeom prst="rect">
            <a:avLst/>
          </a:prstGeom>
          <a:solidFill>
            <a:srgbClr val="FF4D4D"/>
          </a:solidFill>
          <a:ln w="18288">
            <a:solidFill>
              <a:srgbClr val="FF4D4D"/>
            </a:solidFill>
            <a:prstDash val="solid"/>
          </a:ln>
        </p:spPr>
      </p:sp>
      <p:pic>
        <p:nvPicPr>
          <p:cNvPr id="13" name="Image 2" descr="preencoded.png">    </p:cNvPr>
          <p:cNvPicPr>
            <a:picLocks noChangeAspect="1"/>
          </p:cNvPicPr>
          <p:nvPr/>
        </p:nvPicPr>
        <p:blipFill>
          <a:blip r:embed="rId3"/>
          <a:stretch>
            <a:fillRect/>
          </a:stretch>
        </p:blipFill>
        <p:spPr>
          <a:xfrm>
            <a:off x="4429125" y="1929315"/>
            <a:ext cx="285750" cy="285750"/>
          </a:xfrm>
          <a:prstGeom prst="rect">
            <a:avLst/>
          </a:prstGeom>
        </p:spPr>
      </p:pic>
      <p:sp>
        <p:nvSpPr>
          <p:cNvPr id="14" name="Text 8"/>
          <p:cNvSpPr/>
          <p:nvPr/>
        </p:nvSpPr>
        <p:spPr>
          <a:xfrm>
            <a:off x="3586163"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latin typeface="Playfair Display" pitchFamily="34" charset="0"/>
                <a:ea typeface="Playfair Display" pitchFamily="34" charset="-122"/>
                <a:cs typeface="Playfair Display" pitchFamily="34" charset="-120"/>
              </a:rPr>
              <a:t>OFFRIA AI</a:t>
            </a:r>
            <a:endParaRPr lang="en-US" sz="1193" dirty="0"/>
          </a:p>
        </p:txBody>
      </p:sp>
      <p:sp>
        <p:nvSpPr>
          <p:cNvPr id="15" name="Text 9"/>
          <p:cNvSpPr/>
          <p:nvPr/>
        </p:nvSpPr>
        <p:spPr>
          <a:xfrm>
            <a:off x="3586163"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Analyse · Comprend · Rédige</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Extraction intelligente</a:t>
            </a:r>
            <a:endParaRPr lang="en-US" sz="727" dirty="0"/>
          </a:p>
        </p:txBody>
      </p:sp>
      <p:sp>
        <p:nvSpPr>
          <p:cNvPr id="16" name="Shape 10"/>
          <p:cNvSpPr/>
          <p:nvPr/>
        </p:nvSpPr>
        <p:spPr>
          <a:xfrm>
            <a:off x="6572250" y="1712323"/>
            <a:ext cx="2143125" cy="1394427"/>
          </a:xfrm>
          <a:prstGeom prst="rect">
            <a:avLst/>
          </a:prstGeom>
          <a:solidFill>
            <a:srgbClr val="FFFFFF"/>
          </a:solidFill>
          <a:ln w="9144">
            <a:solidFill>
              <a:srgbClr val="E5E5E5"/>
            </a:solidFill>
            <a:prstDash val="solid"/>
          </a:ln>
        </p:spPr>
      </p:sp>
      <p:pic>
        <p:nvPicPr>
          <p:cNvPr id="17" name="Image 3" descr="preencoded.png">    </p:cNvPr>
          <p:cNvPicPr>
            <a:picLocks noChangeAspect="1"/>
          </p:cNvPicPr>
          <p:nvPr/>
        </p:nvPicPr>
        <p:blipFill>
          <a:blip r:embed="rId4"/>
          <a:stretch>
            <a:fillRect/>
          </a:stretch>
        </p:blipFill>
        <p:spPr>
          <a:xfrm>
            <a:off x="7536656" y="1808764"/>
            <a:ext cx="214313" cy="285750"/>
          </a:xfrm>
          <a:prstGeom prst="rect">
            <a:avLst/>
          </a:prstGeom>
        </p:spPr>
      </p:pic>
      <p:sp>
        <p:nvSpPr>
          <p:cNvPr id="18" name="Text 11"/>
          <p:cNvSpPr/>
          <p:nvPr/>
        </p:nvSpPr>
        <p:spPr>
          <a:xfrm>
            <a:off x="6657975" y="2214172"/>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Réponse</a:t>
            </a:r>
            <a:endParaRPr lang="en-US" sz="1193" dirty="0"/>
          </a:p>
        </p:txBody>
      </p:sp>
      <p:sp>
        <p:nvSpPr>
          <p:cNvPr id="19" name="Text 12"/>
          <p:cNvSpPr/>
          <p:nvPr/>
        </p:nvSpPr>
        <p:spPr>
          <a:xfrm>
            <a:off x="6657975" y="2499922"/>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Structurée &amp; Professionnelle</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Prête à soumettre</a:t>
            </a:r>
            <a:endParaRPr lang="en-US" sz="727" dirty="0"/>
          </a:p>
        </p:txBody>
      </p:sp>
      <p:sp>
        <p:nvSpPr>
          <p:cNvPr id="20" name="Shape 13"/>
          <p:cNvSpPr/>
          <p:nvPr/>
        </p:nvSpPr>
        <p:spPr>
          <a:xfrm>
            <a:off x="7405390" y="2837073"/>
            <a:ext cx="476845" cy="169664"/>
          </a:xfrm>
          <a:prstGeom prst="rect">
            <a:avLst/>
          </a:prstGeom>
          <a:solidFill>
            <a:srgbClr val="1A1A1A"/>
          </a:solidFill>
          <a:ln/>
        </p:spPr>
      </p:sp>
      <p:sp>
        <p:nvSpPr>
          <p:cNvPr id="21" name="Text 14"/>
          <p:cNvSpPr/>
          <p:nvPr/>
        </p:nvSpPr>
        <p:spPr>
          <a:xfrm>
            <a:off x="7405390" y="2837073"/>
            <a:ext cx="476845" cy="169664"/>
          </a:xfrm>
          <a:prstGeom prst="rect">
            <a:avLst/>
          </a:prstGeom>
          <a:noFill/>
          <a:ln/>
        </p:spPr>
        <p:txBody>
          <a:bodyPr wrap="square" lIns="68072" tIns="34036" rIns="68072" bIns="34036" rtlCol="0" anchor="t">
            <a:spAutoFit/>
          </a:bodyPr>
          <a:lstStyle/>
          <a:p>
            <a:pPr algn="ctr"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&lt; 2 min</a:t>
            </a:r>
            <a:endParaRPr lang="en-US" sz="584" dirty="0"/>
          </a:p>
        </p:txBody>
      </p:sp>
      <p:sp>
        <p:nvSpPr>
          <p:cNvPr id="22" name="Shape 15"/>
          <p:cNvSpPr/>
          <p:nvPr/>
        </p:nvSpPr>
        <p:spPr>
          <a:xfrm>
            <a:off x="428625" y="3178187"/>
            <a:ext cx="8286750" cy="910047"/>
          </a:xfrm>
          <a:prstGeom prst="rect">
            <a:avLst/>
          </a:prstGeom>
          <a:solidFill>
            <a:srgbClr val="000000">
              <a:alpha val="0"/>
            </a:srgbClr>
          </a:solidFill>
          <a:ln/>
        </p:spPr>
      </p:sp>
      <p:sp>
        <p:nvSpPr>
          <p:cNvPr id="23" name="Shape 16"/>
          <p:cNvSpPr/>
          <p:nvPr/>
        </p:nvSpPr>
        <p:spPr>
          <a:xfrm>
            <a:off x="428625" y="3178187"/>
            <a:ext cx="8286750" cy="7144"/>
          </a:xfrm>
          <a:prstGeom prst="rect">
            <a:avLst/>
          </a:prstGeom>
          <a:solidFill>
            <a:srgbClr val="E5E5E5"/>
          </a:solidFill>
          <a:ln/>
        </p:spPr>
      </p:sp>
      <p:sp>
        <p:nvSpPr>
          <p:cNvPr id="24" name="Text 17"/>
          <p:cNvSpPr/>
          <p:nvPr/>
        </p:nvSpPr>
        <p:spPr>
          <a:xfrm>
            <a:off x="428625" y="3349637"/>
            <a:ext cx="3929063" cy="731453"/>
          </a:xfrm>
          <a:prstGeom prst="rect">
            <a:avLst/>
          </a:prstGeom>
          <a:noFill/>
          <a:ln/>
        </p:spPr>
        <p:txBody>
          <a:bodyPr wrap="square" lIns="0" tIns="0" rIns="0" bIns="0" rtlCol="0" anchor="t">
            <a:spAutoFit/>
          </a:bodyPr>
          <a:lstStyle/>
          <a:p>
            <a:pPr algn="l" indent="0" marL="0">
              <a:lnSpc>
                <a:spcPts val="1400"/>
              </a:lnSpc>
              <a:buNone/>
            </a:pP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OffrIA</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est une plateforme d'IA générative spécialisée.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ne se contente pas de lire : elle comprend le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contexte métier, les exigences techniques et les critères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d'évaluation.</a:t>
            </a:r>
            <a:endParaRPr lang="en-US" sz="834" dirty="0"/>
          </a:p>
        </p:txBody>
      </p:sp>
      <p:sp>
        <p:nvSpPr>
          <p:cNvPr id="25" name="Text 18"/>
          <p:cNvSpPr/>
          <p:nvPr/>
        </p:nvSpPr>
        <p:spPr>
          <a:xfrm>
            <a:off x="4786313" y="3349637"/>
            <a:ext cx="3929063"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génère une réponse </a:t>
            </a: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sur-mesure</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intégrant vos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références et votre savoir-faire, structurée exactement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selon les attentes du donneur d'ordre.</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214688" cy="4714875"/>
          </a:xfrm>
          <a:prstGeom prst="rect">
            <a:avLst/>
          </a:prstGeom>
          <a:solidFill>
            <a:srgbClr val="000000">
              <a:alpha val="0"/>
            </a:srgbClr>
          </a:solidFill>
          <a:ln/>
        </p:spPr>
      </p:sp>
      <p:sp>
        <p:nvSpPr>
          <p:cNvPr id="5" name="Shape 1"/>
          <p:cNvSpPr/>
          <p:nvPr/>
        </p:nvSpPr>
        <p:spPr>
          <a:xfrm>
            <a:off x="3207544" y="428625"/>
            <a:ext cx="7144" cy="4714875"/>
          </a:xfrm>
          <a:prstGeom prst="rect">
            <a:avLst/>
          </a:prstGeom>
          <a:solidFill>
            <a:srgbClr val="E5E5E5"/>
          </a:solidFill>
          <a:ln/>
        </p:spPr>
      </p:sp>
      <p:sp>
        <p:nvSpPr>
          <p:cNvPr id="6" name="Text 2"/>
          <p:cNvSpPr/>
          <p:nvPr/>
        </p:nvSpPr>
        <p:spPr>
          <a:xfrm>
            <a:off x="428625" y="428625"/>
            <a:ext cx="2500313" cy="597173"/>
          </a:xfrm>
          <a:prstGeom prst="rect">
            <a:avLst/>
          </a:prstGeom>
          <a:noFill/>
          <a:ln/>
        </p:spPr>
        <p:txBody>
          <a:bodyPr wrap="squar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La solution : un moteur intelligent</a:t>
            </a:r>
            <a:endParaRPr lang="en-US" sz="1912" dirty="0"/>
          </a:p>
        </p:txBody>
      </p:sp>
      <p:sp>
        <p:nvSpPr>
          <p:cNvPr id="7" name="Text 3"/>
          <p:cNvSpPr/>
          <p:nvPr/>
        </p:nvSpPr>
        <p:spPr>
          <a:xfrm>
            <a:off x="600075" y="1311548"/>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Parsing &amp; Prompting</a:t>
            </a:r>
            <a:endParaRPr lang="en-US" sz="1090" dirty="0"/>
          </a:p>
        </p:txBody>
      </p:sp>
      <p:sp>
        <p:nvSpPr>
          <p:cNvPr id="8" name="Text 4"/>
          <p:cNvSpPr/>
          <p:nvPr/>
        </p:nvSpPr>
        <p:spPr>
          <a:xfrm>
            <a:off x="600075" y="1577653"/>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Extraction automatique des données AO et construction de prompts contextualisés.</a:t>
            </a:r>
            <a:endParaRPr lang="en-US" sz="727" dirty="0"/>
          </a:p>
        </p:txBody>
      </p:sp>
      <p:sp>
        <p:nvSpPr>
          <p:cNvPr id="9" name="Text 5"/>
          <p:cNvSpPr/>
          <p:nvPr/>
        </p:nvSpPr>
        <p:spPr>
          <a:xfrm>
            <a:off x="600075" y="2242021"/>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Focus RAG</a:t>
            </a:r>
            <a:endParaRPr lang="en-US" sz="1090" dirty="0"/>
          </a:p>
        </p:txBody>
      </p:sp>
      <p:sp>
        <p:nvSpPr>
          <p:cNvPr id="10" name="Text 6"/>
          <p:cNvSpPr/>
          <p:nvPr/>
        </p:nvSpPr>
        <p:spPr>
          <a:xfrm>
            <a:off x="600075" y="2508126"/>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Récupération Augmentée de Génération : OffrIA enrichit chaque réponse avec votre base de connaissances (Qdrant).</a:t>
            </a:r>
            <a:endParaRPr lang="en-US" sz="727" dirty="0"/>
          </a:p>
        </p:txBody>
      </p:sp>
      <p:sp>
        <p:nvSpPr>
          <p:cNvPr id="11" name="Shape 7"/>
          <p:cNvSpPr/>
          <p:nvPr/>
        </p:nvSpPr>
        <p:spPr>
          <a:xfrm>
            <a:off x="600075" y="3029620"/>
            <a:ext cx="2328863" cy="514350"/>
          </a:xfrm>
          <a:prstGeom prst="rect">
            <a:avLst/>
          </a:prstGeom>
          <a:solidFill>
            <a:srgbClr val="F4F4F5"/>
          </a:solidFill>
          <a:ln/>
        </p:spPr>
      </p:sp>
      <p:sp>
        <p:nvSpPr>
          <p:cNvPr id="12" name="Shape 8"/>
          <p:cNvSpPr/>
          <p:nvPr/>
        </p:nvSpPr>
        <p:spPr>
          <a:xfrm>
            <a:off x="600075" y="3029620"/>
            <a:ext cx="28575" cy="514350"/>
          </a:xfrm>
          <a:prstGeom prst="rect">
            <a:avLst/>
          </a:prstGeom>
          <a:solidFill>
            <a:srgbClr val="1A1A1A"/>
          </a:solidFill>
          <a:ln/>
        </p:spPr>
      </p:sp>
      <p:sp>
        <p:nvSpPr>
          <p:cNvPr id="13" name="Text 9"/>
          <p:cNvSpPr/>
          <p:nvPr/>
        </p:nvSpPr>
        <p:spPr>
          <a:xfrm>
            <a:off x="707231" y="3136776"/>
            <a:ext cx="2114550"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1A1A1A"/>
                </a:solidFill>
                <a:latin typeface="JetBrains Mono" pitchFamily="34" charset="0"/>
                <a:ea typeface="JetBrains Mono" pitchFamily="34" charset="-122"/>
                <a:cs typeface="JetBrains Mono" pitchFamily="34" charset="-120"/>
              </a:rPr>
              <a:t>Garantit précision, cohérence et pertinence documentaire.</a:t>
            </a:r>
            <a:endParaRPr lang="en-US" sz="683" dirty="0"/>
          </a:p>
        </p:txBody>
      </p:sp>
      <p:sp>
        <p:nvSpPr>
          <p:cNvPr id="14" name="Shape 10"/>
          <p:cNvSpPr/>
          <p:nvPr/>
        </p:nvSpPr>
        <p:spPr>
          <a:xfrm>
            <a:off x="3214688" y="0"/>
            <a:ext cx="5929313" cy="5143500"/>
          </a:xfrm>
          <a:prstGeom prst="rect">
            <a:avLst/>
          </a:prstGeom>
          <a:solidFill>
            <a:srgbClr val="F9F9FA"/>
          </a:solidFill>
          <a:ln/>
        </p:spPr>
      </p:sp>
      <p:sp>
        <p:nvSpPr>
          <p:cNvPr id="15" name="Text 11"/>
          <p:cNvSpPr/>
          <p:nvPr/>
        </p:nvSpPr>
        <p:spPr>
          <a:xfrm>
            <a:off x="3643313" y="1439466"/>
            <a:ext cx="5072063" cy="132159"/>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D4D"/>
                </a:solidFill>
                <a:latin typeface="JetBrains Mono" pitchFamily="34" charset="0"/>
                <a:ea typeface="JetBrains Mono" pitchFamily="34" charset="-122"/>
                <a:cs typeface="JetBrains Mono" pitchFamily="34" charset="-120"/>
              </a:rPr>
              <a:t>ARCHITECTURE FLEXIBLE</a:t>
            </a:r>
            <a:endParaRPr lang="en-US" sz="683" dirty="0"/>
          </a:p>
        </p:txBody>
      </p:sp>
      <p:sp>
        <p:nvSpPr>
          <p:cNvPr id="16" name="Text 12"/>
          <p:cNvSpPr/>
          <p:nvPr/>
        </p:nvSpPr>
        <p:spPr>
          <a:xfrm>
            <a:off x="3643313" y="1714500"/>
            <a:ext cx="5072063"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Multi-LLM : Choisissez votre modèle</a:t>
            </a:r>
            <a:endParaRPr lang="en-US" sz="1602" dirty="0"/>
          </a:p>
        </p:txBody>
      </p:sp>
      <p:sp>
        <p:nvSpPr>
          <p:cNvPr id="17" name="Text 13"/>
          <p:cNvSpPr/>
          <p:nvPr/>
        </p:nvSpPr>
        <p:spPr>
          <a:xfrm>
            <a:off x="3643313" y="2303859"/>
            <a:ext cx="1268016"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PROVIDER</a:t>
            </a:r>
            <a:endParaRPr lang="en-US" sz="683" dirty="0"/>
          </a:p>
        </p:txBody>
      </p:sp>
      <p:sp>
        <p:nvSpPr>
          <p:cNvPr id="18" name="Text 14"/>
          <p:cNvSpPr/>
          <p:nvPr/>
        </p:nvSpPr>
        <p:spPr>
          <a:xfrm>
            <a:off x="4911328" y="2303859"/>
            <a:ext cx="1521619"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MODÈLE</a:t>
            </a:r>
            <a:endParaRPr lang="en-US" sz="683" dirty="0"/>
          </a:p>
        </p:txBody>
      </p:sp>
      <p:sp>
        <p:nvSpPr>
          <p:cNvPr id="19" name="Text 15"/>
          <p:cNvSpPr/>
          <p:nvPr/>
        </p:nvSpPr>
        <p:spPr>
          <a:xfrm>
            <a:off x="6432947" y="2303859"/>
            <a:ext cx="2282428"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POINT FORT</a:t>
            </a:r>
            <a:endParaRPr lang="en-US" sz="683" dirty="0"/>
          </a:p>
        </p:txBody>
      </p:sp>
      <p:sp>
        <p:nvSpPr>
          <p:cNvPr id="20" name="Text 16"/>
          <p:cNvSpPr/>
          <p:nvPr/>
        </p:nvSpPr>
        <p:spPr>
          <a:xfrm>
            <a:off x="3643313" y="2586038"/>
            <a:ext cx="1268016" cy="560784"/>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Anthropic</a:t>
            </a:r>
            <a:endParaRPr lang="en-US" sz="683" dirty="0"/>
          </a:p>
        </p:txBody>
      </p:sp>
      <p:sp>
        <p:nvSpPr>
          <p:cNvPr id="21" name="Text 17"/>
          <p:cNvSpPr/>
          <p:nvPr/>
        </p:nvSpPr>
        <p:spPr>
          <a:xfrm>
            <a:off x="4911328" y="2586038"/>
            <a:ext cx="1521619"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Claude Opus</a:t>
            </a:r>
            <a:endParaRPr lang="en-US" sz="727" dirty="0"/>
          </a:p>
        </p:txBody>
      </p:sp>
      <p:sp>
        <p:nvSpPr>
          <p:cNvPr id="22" name="Text 18"/>
          <p:cNvSpPr/>
          <p:nvPr/>
        </p:nvSpPr>
        <p:spPr>
          <a:xfrm>
            <a:off x="6432947" y="2586038"/>
            <a:ext cx="2282428"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Raisonnement long, documents complexes</a:t>
            </a:r>
            <a:endParaRPr lang="en-US" sz="727" dirty="0"/>
          </a:p>
        </p:txBody>
      </p:sp>
      <p:sp>
        <p:nvSpPr>
          <p:cNvPr id="23" name="Text 19"/>
          <p:cNvSpPr/>
          <p:nvPr/>
        </p:nvSpPr>
        <p:spPr>
          <a:xfrm>
            <a:off x="3643313" y="3146822"/>
            <a:ext cx="1268016" cy="42505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OpenAI</a:t>
            </a:r>
            <a:endParaRPr lang="en-US" sz="683" dirty="0"/>
          </a:p>
        </p:txBody>
      </p:sp>
      <p:sp>
        <p:nvSpPr>
          <p:cNvPr id="24" name="Text 20"/>
          <p:cNvSpPr/>
          <p:nvPr/>
        </p:nvSpPr>
        <p:spPr>
          <a:xfrm>
            <a:off x="4911328" y="3146822"/>
            <a:ext cx="1521619"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GPT-4o</a:t>
            </a:r>
            <a:endParaRPr lang="en-US" sz="727" dirty="0"/>
          </a:p>
        </p:txBody>
      </p:sp>
      <p:sp>
        <p:nvSpPr>
          <p:cNvPr id="25" name="Text 21"/>
          <p:cNvSpPr/>
          <p:nvPr/>
        </p:nvSpPr>
        <p:spPr>
          <a:xfrm>
            <a:off x="6432947" y="3146822"/>
            <a:ext cx="2282428"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Créativité, formulation commerciale</a:t>
            </a:r>
            <a:endParaRPr lang="en-US" sz="727" dirty="0"/>
          </a:p>
        </p:txBody>
      </p:sp>
      <p:sp>
        <p:nvSpPr>
          <p:cNvPr id="26" name="Text 22"/>
          <p:cNvSpPr/>
          <p:nvPr/>
        </p:nvSpPr>
        <p:spPr>
          <a:xfrm>
            <a:off x="3643313" y="3571875"/>
            <a:ext cx="1268016" cy="55721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Mistral AI</a:t>
            </a:r>
            <a:endParaRPr lang="en-US" sz="683" dirty="0"/>
          </a:p>
        </p:txBody>
      </p:sp>
      <p:sp>
        <p:nvSpPr>
          <p:cNvPr id="27" name="Text 23"/>
          <p:cNvSpPr/>
          <p:nvPr/>
        </p:nvSpPr>
        <p:spPr>
          <a:xfrm>
            <a:off x="4911328" y="3571875"/>
            <a:ext cx="1521619"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Mistral Large</a:t>
            </a:r>
            <a:endParaRPr lang="en-US" sz="727" dirty="0"/>
          </a:p>
        </p:txBody>
      </p:sp>
      <p:sp>
        <p:nvSpPr>
          <p:cNvPr id="28" name="Text 24"/>
          <p:cNvSpPr/>
          <p:nvPr/>
        </p:nvSpPr>
        <p:spPr>
          <a:xfrm>
            <a:off x="6432947" y="3571875"/>
            <a:ext cx="2282428"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Souveraineté des données, hébergement EU</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83125"/>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sp>
      <p:sp>
        <p:nvSpPr>
          <p:cNvPr id="5" name="Shape 1"/>
          <p:cNvSpPr/>
          <p:nvPr/>
        </p:nvSpPr>
        <p:spPr>
          <a:xfrm>
            <a:off x="428625" y="1189769"/>
            <a:ext cx="8286750" cy="7144"/>
          </a:xfrm>
          <a:prstGeom prst="rect">
            <a:avLst/>
          </a:prstGeom>
          <a:solidFill>
            <a:srgbClr val="E5E5E5"/>
          </a:solidFill>
          <a:ln/>
        </p:spPr>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Pourquoi OffrIA ?</a:t>
            </a:r>
            <a:endParaRPr lang="en-US" sz="2436" dirty="0"/>
          </a:p>
        </p:txBody>
      </p:sp>
      <p:sp>
        <p:nvSpPr>
          <p:cNvPr id="7" name="Text 3"/>
          <p:cNvSpPr/>
          <p:nvPr/>
        </p:nvSpPr>
        <p:spPr>
          <a:xfrm>
            <a:off x="428625" y="877230"/>
            <a:ext cx="2518172"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UNE LONGUEUR D'AVANCE DÉCISIVE</a:t>
            </a:r>
            <a:endParaRPr lang="en-US" sz="942" dirty="0"/>
          </a:p>
        </p:txBody>
      </p:sp>
      <p:sp>
        <p:nvSpPr>
          <p:cNvPr id="8" name="Text 4"/>
          <p:cNvSpPr/>
          <p:nvPr/>
        </p:nvSpPr>
        <p:spPr>
          <a:xfrm>
            <a:off x="428625" y="1304069"/>
            <a:ext cx="3314700" cy="371475"/>
          </a:xfrm>
          <a:prstGeom prst="rect">
            <a:avLst/>
          </a:prstGeom>
          <a:noFill/>
          <a:ln/>
        </p:spPr>
        <p:txBody>
          <a:bodyPr wrap="square" lIns="170053" tIns="127508" rIns="170053" bIns="127508" rtlCol="0" anchor="ctr">
            <a:spAutoFit/>
          </a:bodyPr>
          <a:lstStyle/>
          <a:p>
            <a:pPr algn="l"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FONCTIONNALITÉ</a:t>
            </a:r>
            <a:endParaRPr lang="en-US" sz="784" dirty="0"/>
          </a:p>
        </p:txBody>
      </p:sp>
      <p:sp>
        <p:nvSpPr>
          <p:cNvPr id="9" name="Text 5"/>
          <p:cNvSpPr/>
          <p:nvPr/>
        </p:nvSpPr>
        <p:spPr>
          <a:xfrm>
            <a:off x="3743325"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CONCURRENTS</a:t>
            </a:r>
            <a:endParaRPr lang="en-US" sz="784" dirty="0"/>
          </a:p>
        </p:txBody>
      </p:sp>
      <p:sp>
        <p:nvSpPr>
          <p:cNvPr id="10" name="Shape 6"/>
          <p:cNvSpPr/>
          <p:nvPr/>
        </p:nvSpPr>
        <p:spPr>
          <a:xfrm>
            <a:off x="6229350" y="1304069"/>
            <a:ext cx="2486025" cy="371475"/>
          </a:xfrm>
          <a:prstGeom prst="rect">
            <a:avLst/>
          </a:prstGeom>
          <a:solidFill>
            <a:srgbClr val="FAFAFA"/>
          </a:solidFill>
          <a:ln/>
        </p:spPr>
      </p:sp>
      <p:sp>
        <p:nvSpPr>
          <p:cNvPr id="11" name="Shape 7"/>
          <p:cNvSpPr/>
          <p:nvPr/>
        </p:nvSpPr>
        <p:spPr>
          <a:xfrm>
            <a:off x="6229350" y="1661257"/>
            <a:ext cx="2486025" cy="14288"/>
          </a:xfrm>
          <a:prstGeom prst="rect">
            <a:avLst/>
          </a:prstGeom>
          <a:solidFill>
            <a:srgbClr val="1A1A1A"/>
          </a:solidFill>
          <a:ln/>
        </p:spPr>
      </p:sp>
      <p:sp>
        <p:nvSpPr>
          <p:cNvPr id="12" name="Text 8"/>
          <p:cNvSpPr/>
          <p:nvPr/>
        </p:nvSpPr>
        <p:spPr>
          <a:xfrm>
            <a:off x="6229350"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FF4D4D"/>
                </a:solidFill>
                <a:latin typeface="JetBrains Mono" pitchFamily="34" charset="0"/>
                <a:ea typeface="JetBrains Mono" pitchFamily="34" charset="-122"/>
                <a:cs typeface="JetBrains Mono" pitchFamily="34" charset="-120"/>
              </a:rPr>
              <a:t>OFFRIA</a:t>
            </a:r>
            <a:endParaRPr lang="en-US" sz="784" dirty="0"/>
          </a:p>
        </p:txBody>
      </p:sp>
      <p:sp>
        <p:nvSpPr>
          <p:cNvPr id="13" name="Text 9"/>
          <p:cNvSpPr/>
          <p:nvPr/>
        </p:nvSpPr>
        <p:spPr>
          <a:xfrm>
            <a:off x="428625" y="1675544"/>
            <a:ext cx="3314700" cy="394692"/>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Multi-provider LLM</a:t>
            </a:r>
            <a:endParaRPr lang="en-US" sz="942" dirty="0"/>
          </a:p>
        </p:txBody>
      </p:sp>
      <p:pic>
        <p:nvPicPr>
          <p:cNvPr id="14" name="Image 1" descr="preencoded.png">    </p:cNvPr>
          <p:cNvPicPr>
            <a:picLocks noChangeAspect="1"/>
          </p:cNvPicPr>
          <p:nvPr/>
        </p:nvPicPr>
        <p:blipFill>
          <a:blip r:embed="rId2"/>
          <a:stretch>
            <a:fillRect/>
          </a:stretch>
        </p:blipFill>
        <p:spPr>
          <a:xfrm>
            <a:off x="4955084" y="1832707"/>
            <a:ext cx="62508" cy="100013"/>
          </a:xfrm>
          <a:prstGeom prst="rect">
            <a:avLst/>
          </a:prstGeom>
        </p:spPr>
      </p:pic>
      <p:sp>
        <p:nvSpPr>
          <p:cNvPr id="15" name="Shape 10"/>
          <p:cNvSpPr/>
          <p:nvPr/>
        </p:nvSpPr>
        <p:spPr>
          <a:xfrm>
            <a:off x="6229350" y="1675544"/>
            <a:ext cx="2486025" cy="394692"/>
          </a:xfrm>
          <a:prstGeom prst="rect">
            <a:avLst/>
          </a:prstGeom>
          <a:solidFill>
            <a:srgbClr val="FAFAFA"/>
          </a:solidFill>
          <a:ln/>
        </p:spPr>
      </p:sp>
      <p:sp>
        <p:nvSpPr>
          <p:cNvPr id="16" name="Shape 11"/>
          <p:cNvSpPr/>
          <p:nvPr/>
        </p:nvSpPr>
        <p:spPr>
          <a:xfrm>
            <a:off x="6229350" y="2063093"/>
            <a:ext cx="2486025" cy="7144"/>
          </a:xfrm>
          <a:prstGeom prst="rect">
            <a:avLst/>
          </a:prstGeom>
          <a:solidFill>
            <a:srgbClr val="E5E5E5"/>
          </a:solidFill>
          <a:ln/>
        </p:spPr>
      </p:sp>
      <p:pic>
        <p:nvPicPr>
          <p:cNvPr id="17" name="Image 2" descr="preencoded.png">    </p:cNvPr>
          <p:cNvPicPr>
            <a:picLocks noChangeAspect="1"/>
          </p:cNvPicPr>
          <p:nvPr/>
        </p:nvPicPr>
        <p:blipFill>
          <a:blip r:embed="rId3"/>
          <a:stretch>
            <a:fillRect/>
          </a:stretch>
        </p:blipFill>
        <p:spPr>
          <a:xfrm>
            <a:off x="7408069" y="1805918"/>
            <a:ext cx="128588" cy="128588"/>
          </a:xfrm>
          <a:prstGeom prst="rect">
            <a:avLst/>
          </a:prstGeom>
        </p:spPr>
      </p:pic>
      <p:sp>
        <p:nvSpPr>
          <p:cNvPr id="18" name="Text 12"/>
          <p:cNvSpPr/>
          <p:nvPr/>
        </p:nvSpPr>
        <p:spPr>
          <a:xfrm>
            <a:off x="428625" y="2070236"/>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Parsing AO automatique</a:t>
            </a:r>
            <a:endParaRPr lang="en-US" sz="942" dirty="0"/>
          </a:p>
        </p:txBody>
      </p:sp>
      <p:sp>
        <p:nvSpPr>
          <p:cNvPr id="19" name="Text 13"/>
          <p:cNvSpPr/>
          <p:nvPr/>
        </p:nvSpPr>
        <p:spPr>
          <a:xfrm>
            <a:off x="3743325" y="2070236"/>
            <a:ext cx="2486025" cy="391120"/>
          </a:xfrm>
          <a:prstGeom prst="rect">
            <a:avLst/>
          </a:prstGeom>
          <a:noFill/>
          <a:ln/>
        </p:spPr>
        <p:txBody>
          <a:bodyPr wrap="square" lIns="170053" tIns="127508" rIns="170053" bIns="127508" rtlCol="0" anchor="ctr">
            <a:spAutoFit/>
          </a:bodyPr>
          <a:lstStyle/>
          <a:p>
            <a:pPr algn="ctr" indent="0" marL="0">
              <a:lnSpc>
                <a:spcPts val="1200"/>
              </a:lnSpc>
              <a:buNone/>
            </a:pPr>
            <a:r>
              <a:rPr lang="en-US" sz="942" dirty="0">
                <a:solidFill>
                  <a:srgbClr val="999999"/>
                </a:solidFill>
                <a:latin typeface="JetBrains Mono" pitchFamily="34" charset="0"/>
                <a:ea typeface="JetBrains Mono" pitchFamily="34" charset="-122"/>
                <a:cs typeface="JetBrains Mono" pitchFamily="34" charset="-120"/>
              </a:rPr>
              <a:t>Partiel</a:t>
            </a:r>
            <a:endParaRPr lang="en-US" sz="942" dirty="0"/>
          </a:p>
        </p:txBody>
      </p:sp>
      <p:sp>
        <p:nvSpPr>
          <p:cNvPr id="20" name="Shape 14"/>
          <p:cNvSpPr/>
          <p:nvPr/>
        </p:nvSpPr>
        <p:spPr>
          <a:xfrm>
            <a:off x="6229350" y="2070236"/>
            <a:ext cx="2486025" cy="391120"/>
          </a:xfrm>
          <a:prstGeom prst="rect">
            <a:avLst/>
          </a:prstGeom>
          <a:solidFill>
            <a:srgbClr val="FAFAFA"/>
          </a:solidFill>
          <a:ln/>
        </p:spPr>
      </p:sp>
      <p:sp>
        <p:nvSpPr>
          <p:cNvPr id="21" name="Shape 15"/>
          <p:cNvSpPr/>
          <p:nvPr/>
        </p:nvSpPr>
        <p:spPr>
          <a:xfrm>
            <a:off x="6229350" y="2454213"/>
            <a:ext cx="2486025" cy="7144"/>
          </a:xfrm>
          <a:prstGeom prst="rect">
            <a:avLst/>
          </a:prstGeom>
          <a:solidFill>
            <a:srgbClr val="E5E5E5"/>
          </a:solidFill>
          <a:ln/>
        </p:spPr>
      </p:sp>
      <p:pic>
        <p:nvPicPr>
          <p:cNvPr id="22" name="Image 3" descr="preencoded.png">    </p:cNvPr>
          <p:cNvPicPr>
            <a:picLocks noChangeAspect="1"/>
          </p:cNvPicPr>
          <p:nvPr/>
        </p:nvPicPr>
        <p:blipFill>
          <a:blip r:embed="rId4"/>
          <a:stretch>
            <a:fillRect/>
          </a:stretch>
        </p:blipFill>
        <p:spPr>
          <a:xfrm>
            <a:off x="7408069" y="2198824"/>
            <a:ext cx="128588" cy="128588"/>
          </a:xfrm>
          <a:prstGeom prst="rect">
            <a:avLst/>
          </a:prstGeom>
        </p:spPr>
      </p:pic>
      <p:sp>
        <p:nvSpPr>
          <p:cNvPr id="23" name="Text 16"/>
          <p:cNvSpPr/>
          <p:nvPr/>
        </p:nvSpPr>
        <p:spPr>
          <a:xfrm>
            <a:off x="428625" y="246135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Profil entreprise contextualisé</a:t>
            </a:r>
            <a:endParaRPr lang="en-US" sz="942" dirty="0"/>
          </a:p>
        </p:txBody>
      </p:sp>
      <p:pic>
        <p:nvPicPr>
          <p:cNvPr id="24" name="Image 4" descr="preencoded.png">    </p:cNvPr>
          <p:cNvPicPr>
            <a:picLocks noChangeAspect="1"/>
          </p:cNvPicPr>
          <p:nvPr/>
        </p:nvPicPr>
        <p:blipFill>
          <a:blip r:embed="rId5"/>
          <a:stretch>
            <a:fillRect/>
          </a:stretch>
        </p:blipFill>
        <p:spPr>
          <a:xfrm>
            <a:off x="4955084" y="2614947"/>
            <a:ext cx="62508" cy="100013"/>
          </a:xfrm>
          <a:prstGeom prst="rect">
            <a:avLst/>
          </a:prstGeom>
        </p:spPr>
      </p:pic>
      <p:sp>
        <p:nvSpPr>
          <p:cNvPr id="25" name="Shape 17"/>
          <p:cNvSpPr/>
          <p:nvPr/>
        </p:nvSpPr>
        <p:spPr>
          <a:xfrm>
            <a:off x="6229350" y="2461357"/>
            <a:ext cx="2486025" cy="391120"/>
          </a:xfrm>
          <a:prstGeom prst="rect">
            <a:avLst/>
          </a:prstGeom>
          <a:solidFill>
            <a:srgbClr val="FAFAFA"/>
          </a:solidFill>
          <a:ln/>
        </p:spPr>
      </p:sp>
      <p:sp>
        <p:nvSpPr>
          <p:cNvPr id="26" name="Shape 18"/>
          <p:cNvSpPr/>
          <p:nvPr/>
        </p:nvSpPr>
        <p:spPr>
          <a:xfrm>
            <a:off x="6229350" y="2845333"/>
            <a:ext cx="2486025" cy="7144"/>
          </a:xfrm>
          <a:prstGeom prst="rect">
            <a:avLst/>
          </a:prstGeom>
          <a:solidFill>
            <a:srgbClr val="E5E5E5"/>
          </a:solidFill>
          <a:ln/>
        </p:spPr>
      </p:sp>
      <p:pic>
        <p:nvPicPr>
          <p:cNvPr id="27" name="Image 5" descr="preencoded.png">    </p:cNvPr>
          <p:cNvPicPr>
            <a:picLocks noChangeAspect="1"/>
          </p:cNvPicPr>
          <p:nvPr/>
        </p:nvPicPr>
        <p:blipFill>
          <a:blip r:embed="rId6"/>
          <a:stretch>
            <a:fillRect/>
          </a:stretch>
        </p:blipFill>
        <p:spPr>
          <a:xfrm>
            <a:off x="7408069" y="2589944"/>
            <a:ext cx="128588" cy="128588"/>
          </a:xfrm>
          <a:prstGeom prst="rect">
            <a:avLst/>
          </a:prstGeom>
        </p:spPr>
      </p:pic>
      <p:sp>
        <p:nvSpPr>
          <p:cNvPr id="28" name="Text 19"/>
          <p:cNvSpPr/>
          <p:nvPr/>
        </p:nvSpPr>
        <p:spPr>
          <a:xfrm>
            <a:off x="428625" y="285247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API intégrable (REST)</a:t>
            </a:r>
            <a:endParaRPr lang="en-US" sz="942" dirty="0"/>
          </a:p>
        </p:txBody>
      </p:sp>
      <p:pic>
        <p:nvPicPr>
          <p:cNvPr id="29" name="Image 6" descr="preencoded.png">    </p:cNvPr>
          <p:cNvPicPr>
            <a:picLocks noChangeAspect="1"/>
          </p:cNvPicPr>
          <p:nvPr/>
        </p:nvPicPr>
        <p:blipFill>
          <a:blip r:embed="rId7"/>
          <a:stretch>
            <a:fillRect/>
          </a:stretch>
        </p:blipFill>
        <p:spPr>
          <a:xfrm>
            <a:off x="4955084" y="3006068"/>
            <a:ext cx="62508" cy="100013"/>
          </a:xfrm>
          <a:prstGeom prst="rect">
            <a:avLst/>
          </a:prstGeom>
        </p:spPr>
      </p:pic>
      <p:sp>
        <p:nvSpPr>
          <p:cNvPr id="30" name="Shape 20"/>
          <p:cNvSpPr/>
          <p:nvPr/>
        </p:nvSpPr>
        <p:spPr>
          <a:xfrm>
            <a:off x="6229350" y="2852477"/>
            <a:ext cx="2486025" cy="391120"/>
          </a:xfrm>
          <a:prstGeom prst="rect">
            <a:avLst/>
          </a:prstGeom>
          <a:solidFill>
            <a:srgbClr val="FAFAFA"/>
          </a:solidFill>
          <a:ln/>
        </p:spPr>
      </p:sp>
      <p:sp>
        <p:nvSpPr>
          <p:cNvPr id="31" name="Shape 21"/>
          <p:cNvSpPr/>
          <p:nvPr/>
        </p:nvSpPr>
        <p:spPr>
          <a:xfrm>
            <a:off x="6229350" y="3236454"/>
            <a:ext cx="2486025" cy="7144"/>
          </a:xfrm>
          <a:prstGeom prst="rect">
            <a:avLst/>
          </a:prstGeom>
          <a:solidFill>
            <a:srgbClr val="E5E5E5"/>
          </a:solidFill>
          <a:ln/>
        </p:spPr>
      </p:sp>
      <p:pic>
        <p:nvPicPr>
          <p:cNvPr id="32" name="Image 7" descr="preencoded.png">    </p:cNvPr>
          <p:cNvPicPr>
            <a:picLocks noChangeAspect="1"/>
          </p:cNvPicPr>
          <p:nvPr/>
        </p:nvPicPr>
        <p:blipFill>
          <a:blip r:embed="rId8"/>
          <a:stretch>
            <a:fillRect/>
          </a:stretch>
        </p:blipFill>
        <p:spPr>
          <a:xfrm>
            <a:off x="7408069" y="2981065"/>
            <a:ext cx="128588" cy="128588"/>
          </a:xfrm>
          <a:prstGeom prst="rect">
            <a:avLst/>
          </a:prstGeom>
        </p:spPr>
      </p:pic>
      <p:sp>
        <p:nvSpPr>
          <p:cNvPr id="33" name="Text 22"/>
          <p:cNvSpPr/>
          <p:nvPr/>
        </p:nvSpPr>
        <p:spPr>
          <a:xfrm>
            <a:off x="428625" y="324359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Hébergement souverain (Mistral)</a:t>
            </a:r>
            <a:endParaRPr lang="en-US" sz="942" dirty="0"/>
          </a:p>
        </p:txBody>
      </p:sp>
      <p:pic>
        <p:nvPicPr>
          <p:cNvPr id="34" name="Image 8" descr="preencoded.png">    </p:cNvPr>
          <p:cNvPicPr>
            <a:picLocks noChangeAspect="1"/>
          </p:cNvPicPr>
          <p:nvPr/>
        </p:nvPicPr>
        <p:blipFill>
          <a:blip r:embed="rId9"/>
          <a:stretch>
            <a:fillRect/>
          </a:stretch>
        </p:blipFill>
        <p:spPr>
          <a:xfrm>
            <a:off x="4955084" y="3397188"/>
            <a:ext cx="62508" cy="100013"/>
          </a:xfrm>
          <a:prstGeom prst="rect">
            <a:avLst/>
          </a:prstGeom>
        </p:spPr>
      </p:pic>
      <p:sp>
        <p:nvSpPr>
          <p:cNvPr id="35" name="Shape 23"/>
          <p:cNvSpPr/>
          <p:nvPr/>
        </p:nvSpPr>
        <p:spPr>
          <a:xfrm>
            <a:off x="6229350" y="3243597"/>
            <a:ext cx="2486025" cy="391120"/>
          </a:xfrm>
          <a:prstGeom prst="rect">
            <a:avLst/>
          </a:prstGeom>
          <a:solidFill>
            <a:srgbClr val="FAFAFA"/>
          </a:solidFill>
          <a:ln/>
        </p:spPr>
      </p:sp>
      <p:sp>
        <p:nvSpPr>
          <p:cNvPr id="36" name="Shape 24"/>
          <p:cNvSpPr/>
          <p:nvPr/>
        </p:nvSpPr>
        <p:spPr>
          <a:xfrm>
            <a:off x="6229350" y="3627574"/>
            <a:ext cx="2486025" cy="7144"/>
          </a:xfrm>
          <a:prstGeom prst="rect">
            <a:avLst/>
          </a:prstGeom>
          <a:solidFill>
            <a:srgbClr val="E5E5E5"/>
          </a:solidFill>
          <a:ln/>
        </p:spPr>
      </p:sp>
      <p:pic>
        <p:nvPicPr>
          <p:cNvPr id="37" name="Image 9" descr="preencoded.png">    </p:cNvPr>
          <p:cNvPicPr>
            <a:picLocks noChangeAspect="1"/>
          </p:cNvPicPr>
          <p:nvPr/>
        </p:nvPicPr>
        <p:blipFill>
          <a:blip r:embed="rId10"/>
          <a:stretch>
            <a:fillRect/>
          </a:stretch>
        </p:blipFill>
        <p:spPr>
          <a:xfrm>
            <a:off x="7408069" y="3372185"/>
            <a:ext cx="128588" cy="128588"/>
          </a:xfrm>
          <a:prstGeom prst="rect">
            <a:avLst/>
          </a:prstGeom>
        </p:spPr>
      </p:pic>
      <p:sp>
        <p:nvSpPr>
          <p:cNvPr id="38" name="Text 25"/>
          <p:cNvSpPr/>
          <p:nvPr/>
        </p:nvSpPr>
        <p:spPr>
          <a:xfrm>
            <a:off x="428625" y="3634718"/>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Open-source core</a:t>
            </a:r>
            <a:endParaRPr lang="en-US" sz="942" dirty="0"/>
          </a:p>
        </p:txBody>
      </p:sp>
      <p:pic>
        <p:nvPicPr>
          <p:cNvPr id="39" name="Image 10" descr="preencoded.png">    </p:cNvPr>
          <p:cNvPicPr>
            <a:picLocks noChangeAspect="1"/>
          </p:cNvPicPr>
          <p:nvPr/>
        </p:nvPicPr>
        <p:blipFill>
          <a:blip r:embed="rId11"/>
          <a:stretch>
            <a:fillRect/>
          </a:stretch>
        </p:blipFill>
        <p:spPr>
          <a:xfrm>
            <a:off x="4955084" y="3788308"/>
            <a:ext cx="62508" cy="100013"/>
          </a:xfrm>
          <a:prstGeom prst="rect">
            <a:avLst/>
          </a:prstGeom>
        </p:spPr>
      </p:pic>
      <p:sp>
        <p:nvSpPr>
          <p:cNvPr id="40" name="Shape 26"/>
          <p:cNvSpPr/>
          <p:nvPr/>
        </p:nvSpPr>
        <p:spPr>
          <a:xfrm>
            <a:off x="6229350" y="3634718"/>
            <a:ext cx="2486025" cy="391120"/>
          </a:xfrm>
          <a:prstGeom prst="rect">
            <a:avLst/>
          </a:prstGeom>
          <a:solidFill>
            <a:srgbClr val="FAFAFA"/>
          </a:solidFill>
          <a:ln/>
        </p:spPr>
      </p:sp>
      <p:sp>
        <p:nvSpPr>
          <p:cNvPr id="41" name="Shape 27"/>
          <p:cNvSpPr/>
          <p:nvPr/>
        </p:nvSpPr>
        <p:spPr>
          <a:xfrm>
            <a:off x="6229350" y="4018694"/>
            <a:ext cx="2486025" cy="7144"/>
          </a:xfrm>
          <a:prstGeom prst="rect">
            <a:avLst/>
          </a:prstGeom>
          <a:solidFill>
            <a:srgbClr val="E5E5E5"/>
          </a:solidFill>
          <a:ln/>
        </p:spPr>
      </p:sp>
      <p:pic>
        <p:nvPicPr>
          <p:cNvPr id="42" name="Image 11" descr="preencoded.png">    </p:cNvPr>
          <p:cNvPicPr>
            <a:picLocks noChangeAspect="1"/>
          </p:cNvPicPr>
          <p:nvPr/>
        </p:nvPicPr>
        <p:blipFill>
          <a:blip r:embed="rId12"/>
          <a:stretch>
            <a:fillRect/>
          </a:stretch>
        </p:blipFill>
        <p:spPr>
          <a:xfrm>
            <a:off x="7408069" y="3763305"/>
            <a:ext cx="128588" cy="128588"/>
          </a:xfrm>
          <a:prstGeom prst="rect">
            <a:avLst/>
          </a:prstGeom>
        </p:spPr>
      </p:pic>
      <p:sp>
        <p:nvSpPr>
          <p:cNvPr id="43" name="Shape 28"/>
          <p:cNvSpPr/>
          <p:nvPr/>
        </p:nvSpPr>
        <p:spPr>
          <a:xfrm>
            <a:off x="428625" y="4315160"/>
            <a:ext cx="8286750" cy="603647"/>
          </a:xfrm>
          <a:prstGeom prst="rect">
            <a:avLst/>
          </a:prstGeom>
          <a:solidFill>
            <a:srgbClr val="000000">
              <a:alpha val="0"/>
            </a:srgbClr>
          </a:solidFill>
          <a:ln/>
        </p:spPr>
      </p:sp>
      <p:sp>
        <p:nvSpPr>
          <p:cNvPr id="44" name="Shape 29"/>
          <p:cNvSpPr/>
          <p:nvPr/>
        </p:nvSpPr>
        <p:spPr>
          <a:xfrm>
            <a:off x="428625" y="4315160"/>
            <a:ext cx="28575" cy="603647"/>
          </a:xfrm>
          <a:prstGeom prst="rect">
            <a:avLst/>
          </a:prstGeom>
          <a:solidFill>
            <a:srgbClr val="FF4D4D"/>
          </a:solidFill>
          <a:ln/>
        </p:spPr>
      </p:sp>
      <p:sp>
        <p:nvSpPr>
          <p:cNvPr id="45" name="Text 30"/>
          <p:cNvSpPr/>
          <p:nvPr/>
        </p:nvSpPr>
        <p:spPr>
          <a:xfrm>
            <a:off x="571500" y="4315160"/>
            <a:ext cx="8143875" cy="400050"/>
          </a:xfrm>
          <a:prstGeom prst="rect">
            <a:avLst/>
          </a:prstGeom>
          <a:noFill/>
          <a:ln/>
        </p:spPr>
        <p:txBody>
          <a:bodyPr wrap="square" lIns="0" tIns="0" rIns="0" bIns="0" rtlCol="0" anchor="t">
            <a:spAutoFit/>
          </a:bodyPr>
          <a:lstStyle/>
          <a:p>
            <a:pPr algn="l" indent="0" marL="0">
              <a:lnSpc>
                <a:spcPts val="1600"/>
              </a:lnSpc>
              <a:buNone/>
            </a:pPr>
            <a:r>
              <a:rPr lang="en-US" sz="1050" i="1" dirty="0">
                <a:solidFill>
                  <a:srgbClr val="1A1A1A"/>
                </a:solidFill>
                <a:latin typeface="Playfair Display" pitchFamily="34" charset="0"/>
                <a:ea typeface="Playfair Display" pitchFamily="34" charset="-122"/>
                <a:cs typeface="Playfair Display" pitchFamily="34" charset="-120"/>
              </a:rPr>
              <a:t>"Les entreprises qui adopteront l'IA dans leurs processus commerciaux d'ici 2026 captureront 30 % de parts de marché supplémentaires sur les marchés publics."</a:t>
            </a:r>
            <a:endParaRPr lang="en-US" sz="1050" dirty="0"/>
          </a:p>
        </p:txBody>
      </p:sp>
      <p:sp>
        <p:nvSpPr>
          <p:cNvPr id="46" name="Text 31"/>
          <p:cNvSpPr/>
          <p:nvPr/>
        </p:nvSpPr>
        <p:spPr>
          <a:xfrm>
            <a:off x="571500" y="4786647"/>
            <a:ext cx="814387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 McKinsey, 2024</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995437"/>
          </a:xfrm>
          <a:prstGeom prst="rect">
            <a:avLst/>
          </a:prstGeom>
          <a:solidFill>
            <a:srgbClr val="000000">
              <a:alpha val="0"/>
            </a:srgbClr>
          </a:solidFill>
          <a:ln/>
        </p:spPr>
      </p:sp>
      <p:sp>
        <p:nvSpPr>
          <p:cNvPr id="5" name="Shape 1"/>
          <p:cNvSpPr/>
          <p:nvPr/>
        </p:nvSpPr>
        <p:spPr>
          <a:xfrm>
            <a:off x="428625" y="428625"/>
            <a:ext cx="28575" cy="995437"/>
          </a:xfrm>
          <a:prstGeom prst="rect">
            <a:avLst/>
          </a:prstGeom>
          <a:solidFill>
            <a:srgbClr val="FF4D4D"/>
          </a:solidFill>
          <a:ln/>
        </p:spPr>
      </p:sp>
      <p:sp>
        <p:nvSpPr>
          <p:cNvPr id="6" name="Text 2"/>
          <p:cNvSpPr/>
          <p:nvPr/>
        </p:nvSpPr>
        <p:spPr>
          <a:xfrm>
            <a:off x="642938" y="428625"/>
            <a:ext cx="8072438"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L'impact : x25 sur le volume,</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
</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coût divisé par 100</a:t>
            </a:r>
            <a:endParaRPr lang="en-US" sz="2436" dirty="0"/>
          </a:p>
        </p:txBody>
      </p:sp>
      <p:sp>
        <p:nvSpPr>
          <p:cNvPr id="7" name="Text 3"/>
          <p:cNvSpPr/>
          <p:nvPr/>
        </p:nvSpPr>
        <p:spPr>
          <a:xfrm>
            <a:off x="642938" y="1254398"/>
            <a:ext cx="3021806"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DES CHIFFRES QUI PARLENT D'EUX-MÊMES</a:t>
            </a:r>
            <a:endParaRPr lang="en-US" sz="942" dirty="0"/>
          </a:p>
        </p:txBody>
      </p:sp>
      <p:sp>
        <p:nvSpPr>
          <p:cNvPr id="8" name="Shape 4"/>
          <p:cNvSpPr/>
          <p:nvPr/>
        </p:nvSpPr>
        <p:spPr>
          <a:xfrm>
            <a:off x="428625" y="1538362"/>
            <a:ext cx="8286750" cy="2093119"/>
          </a:xfrm>
          <a:prstGeom prst="rect">
            <a:avLst/>
          </a:prstGeom>
          <a:solidFill>
            <a:srgbClr val="000000">
              <a:alpha val="0"/>
            </a:srgbClr>
          </a:solidFill>
          <a:ln/>
        </p:spPr>
      </p:sp>
      <p:sp>
        <p:nvSpPr>
          <p:cNvPr id="9" name="Shape 5"/>
          <p:cNvSpPr/>
          <p:nvPr/>
        </p:nvSpPr>
        <p:spPr>
          <a:xfrm>
            <a:off x="428625" y="1538362"/>
            <a:ext cx="8286750" cy="14288"/>
          </a:xfrm>
          <a:prstGeom prst="rect">
            <a:avLst/>
          </a:prstGeom>
          <a:solidFill>
            <a:srgbClr val="1A1A1A"/>
          </a:solidFill>
          <a:ln/>
        </p:spPr>
      </p:sp>
      <p:sp>
        <p:nvSpPr>
          <p:cNvPr id="10" name="Text 6"/>
          <p:cNvSpPr/>
          <p:nvPr/>
        </p:nvSpPr>
        <p:spPr>
          <a:xfrm>
            <a:off x="428625" y="1679451"/>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Temps par réponse</a:t>
            </a:r>
            <a:endParaRPr lang="en-US" sz="1193" dirty="0"/>
          </a:p>
        </p:txBody>
      </p:sp>
      <p:sp>
        <p:nvSpPr>
          <p:cNvPr id="11" name="Text 7"/>
          <p:cNvSpPr/>
          <p:nvPr/>
        </p:nvSpPr>
        <p:spPr>
          <a:xfrm>
            <a:off x="3980073" y="1628552"/>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16 – 38 heures</a:t>
            </a:r>
            <a:endParaRPr lang="en-US" sz="1050" dirty="0"/>
          </a:p>
        </p:txBody>
      </p:sp>
      <p:sp>
        <p:nvSpPr>
          <p:cNvPr id="12" name="Text 8"/>
          <p:cNvSpPr/>
          <p:nvPr/>
        </p:nvSpPr>
        <p:spPr>
          <a:xfrm>
            <a:off x="6347724" y="1609799"/>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&lt; 2 minutes</a:t>
            </a:r>
            <a:endParaRPr lang="en-US" sz="1193" dirty="0"/>
          </a:p>
        </p:txBody>
      </p:sp>
      <p:sp>
        <p:nvSpPr>
          <p:cNvPr id="13" name="Text 9"/>
          <p:cNvSpPr/>
          <p:nvPr/>
        </p:nvSpPr>
        <p:spPr>
          <a:xfrm>
            <a:off x="428625" y="2197373"/>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Volume mensuel</a:t>
            </a:r>
            <a:endParaRPr lang="en-US" sz="1193" dirty="0"/>
          </a:p>
        </p:txBody>
      </p:sp>
      <p:sp>
        <p:nvSpPr>
          <p:cNvPr id="14" name="Text 10"/>
          <p:cNvSpPr/>
          <p:nvPr/>
        </p:nvSpPr>
        <p:spPr>
          <a:xfrm>
            <a:off x="3980073" y="2146474"/>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 à 3 AO</a:t>
            </a:r>
            <a:endParaRPr lang="en-US" sz="1050" dirty="0"/>
          </a:p>
        </p:txBody>
      </p:sp>
      <p:sp>
        <p:nvSpPr>
          <p:cNvPr id="15" name="Text 11"/>
          <p:cNvSpPr/>
          <p:nvPr/>
        </p:nvSpPr>
        <p:spPr>
          <a:xfrm>
            <a:off x="6347724" y="2127721"/>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10 à 50 AO</a:t>
            </a:r>
            <a:endParaRPr lang="en-US" sz="1193" dirty="0"/>
          </a:p>
        </p:txBody>
      </p:sp>
      <p:sp>
        <p:nvSpPr>
          <p:cNvPr id="16" name="Text 12"/>
          <p:cNvSpPr/>
          <p:nvPr/>
        </p:nvSpPr>
        <p:spPr>
          <a:xfrm>
            <a:off x="428625" y="2715295"/>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Coût moyen</a:t>
            </a:r>
            <a:endParaRPr lang="en-US" sz="1193" dirty="0"/>
          </a:p>
        </p:txBody>
      </p:sp>
      <p:sp>
        <p:nvSpPr>
          <p:cNvPr id="17" name="Text 13"/>
          <p:cNvSpPr/>
          <p:nvPr/>
        </p:nvSpPr>
        <p:spPr>
          <a:xfrm>
            <a:off x="3980073" y="2664396"/>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3 000 €</a:t>
            </a:r>
            <a:endParaRPr lang="en-US" sz="1050" dirty="0"/>
          </a:p>
        </p:txBody>
      </p:sp>
      <p:sp>
        <p:nvSpPr>
          <p:cNvPr id="18" name="Text 14"/>
          <p:cNvSpPr/>
          <p:nvPr/>
        </p:nvSpPr>
        <p:spPr>
          <a:xfrm>
            <a:off x="6347724" y="2645643"/>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Quelques centimes</a:t>
            </a:r>
            <a:endParaRPr lang="en-US" sz="1193" dirty="0"/>
          </a:p>
        </p:txBody>
      </p:sp>
      <p:sp>
        <p:nvSpPr>
          <p:cNvPr id="19" name="Text 15"/>
          <p:cNvSpPr/>
          <p:nvPr/>
        </p:nvSpPr>
        <p:spPr>
          <a:xfrm>
            <a:off x="428625" y="3233217"/>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Taux de réponse</a:t>
            </a:r>
            <a:endParaRPr lang="en-US" sz="1193" dirty="0"/>
          </a:p>
        </p:txBody>
      </p:sp>
      <p:sp>
        <p:nvSpPr>
          <p:cNvPr id="20" name="Text 16"/>
          <p:cNvSpPr/>
          <p:nvPr/>
        </p:nvSpPr>
        <p:spPr>
          <a:xfrm>
            <a:off x="3980073" y="3182317"/>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20 %</a:t>
            </a:r>
            <a:endParaRPr lang="en-US" sz="1050" dirty="0"/>
          </a:p>
        </p:txBody>
      </p:sp>
      <p:sp>
        <p:nvSpPr>
          <p:cNvPr id="21" name="Text 17"/>
          <p:cNvSpPr/>
          <p:nvPr/>
        </p:nvSpPr>
        <p:spPr>
          <a:xfrm>
            <a:off x="6347724" y="3163565"/>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Objectif 80 %+</a:t>
            </a:r>
            <a:endParaRPr lang="en-US" sz="1193" dirty="0"/>
          </a:p>
        </p:txBody>
      </p:sp>
      <p:sp>
        <p:nvSpPr>
          <p:cNvPr id="22" name="Shape 18"/>
          <p:cNvSpPr/>
          <p:nvPr/>
        </p:nvSpPr>
        <p:spPr>
          <a:xfrm>
            <a:off x="428625" y="4332015"/>
            <a:ext cx="8286750" cy="668610"/>
          </a:xfrm>
          <a:prstGeom prst="rect">
            <a:avLst/>
          </a:prstGeom>
          <a:solidFill>
            <a:srgbClr val="F4F4F5"/>
          </a:solidFill>
          <a:ln/>
        </p:spPr>
      </p:sp>
      <p:sp>
        <p:nvSpPr>
          <p:cNvPr id="23" name="Text 19"/>
          <p:cNvSpPr/>
          <p:nvPr/>
        </p:nvSpPr>
        <p:spPr>
          <a:xfrm>
            <a:off x="542925" y="4446315"/>
            <a:ext cx="8058150" cy="440010"/>
          </a:xfrm>
          <a:prstGeom prst="rect">
            <a:avLst/>
          </a:prstGeom>
          <a:noFill/>
          <a:ln/>
        </p:spPr>
        <p:txBody>
          <a:bodyPr wrap="square" lIns="0" tIns="0" rIns="0" bIns="0" rtlCol="0" anchor="t">
            <a:spAutoFit/>
          </a:bodyPr>
          <a:lstStyle/>
          <a:p>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OffrIA ne remplace pas vos équipes — elle leur donne une </a:t>
            </a:r>
            <a:pPr algn="l" indent="0" marL="0">
              <a:lnSpc>
                <a:spcPts val="1700"/>
              </a:lnSpc>
              <a:buNone/>
            </a:pPr>
            <a:r>
              <a:rPr lang="en-US" sz="1090" b="1" dirty="0">
                <a:solidFill>
                  <a:srgbClr val="FF4D4D"/>
                </a:solidFill>
                <a:latin typeface="Playfair Display" pitchFamily="34" charset="0"/>
                <a:ea typeface="Playfair Display" pitchFamily="34" charset="-122"/>
                <a:cs typeface="Playfair Display" pitchFamily="34" charset="-120"/>
              </a:rPr>
              <a:t>capacité de réponse x25</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 pour un coût marginal quasi </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nul.</a:t>
            </a:r>
            <a:endParaRPr lang="en-US" sz="115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095991" cy="5143500"/>
          </a:xfrm>
          <a:prstGeom prst="rect">
            <a:avLst/>
          </a:prstGeom>
          <a:solidFill>
            <a:srgbClr val="000000">
              <a:alpha val="0"/>
            </a:srgbClr>
          </a:solidFill>
          <a:ln/>
        </p:spPr>
      </p:sp>
      <p:sp>
        <p:nvSpPr>
          <p:cNvPr id="5" name="Shape 1"/>
          <p:cNvSpPr/>
          <p:nvPr/>
        </p:nvSpPr>
        <p:spPr>
          <a:xfrm>
            <a:off x="6088847" y="0"/>
            <a:ext cx="7144" cy="5143500"/>
          </a:xfrm>
          <a:prstGeom prst="rect">
            <a:avLst/>
          </a:prstGeom>
          <a:solidFill>
            <a:srgbClr val="E5E5E5"/>
          </a:solidFill>
          <a:ln/>
        </p:spPr>
      </p:sp>
      <p:sp>
        <p:nvSpPr>
          <p:cNvPr id="6" name="Shape 2"/>
          <p:cNvSpPr/>
          <p:nvPr/>
        </p:nvSpPr>
        <p:spPr>
          <a:xfrm>
            <a:off x="2190731" y="1714500"/>
            <a:ext cx="1714500" cy="1714500"/>
          </a:xfrm>
          <a:prstGeom prst="rect">
            <a:avLst/>
          </a:prstGeom>
          <a:solidFill>
            <a:srgbClr val="FF4D4D"/>
          </a:solidFill>
          <a:ln w="27432">
            <a:solidFill>
              <a:srgbClr val="1A1A1A"/>
            </a:solidFill>
            <a:prstDash val="solid"/>
          </a:ln>
        </p:spPr>
      </p:sp>
      <p:sp>
        <p:nvSpPr>
          <p:cNvPr id="7" name="Text 3"/>
          <p:cNvSpPr/>
          <p:nvPr/>
        </p:nvSpPr>
        <p:spPr>
          <a:xfrm>
            <a:off x="2714011" y="2439591"/>
            <a:ext cx="667941"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API FastAPI</a:t>
            </a:r>
            <a:endParaRPr lang="en-US" sz="727" dirty="0"/>
          </a:p>
        </p:txBody>
      </p:sp>
      <p:sp>
        <p:nvSpPr>
          <p:cNvPr id="8" name="Text 4"/>
          <p:cNvSpPr/>
          <p:nvPr/>
        </p:nvSpPr>
        <p:spPr>
          <a:xfrm>
            <a:off x="2380041" y="2643188"/>
            <a:ext cx="1335881"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Orchestration Centrale</a:t>
            </a:r>
            <a:endParaRPr lang="en-US" sz="727" dirty="0"/>
          </a:p>
        </p:txBody>
      </p:sp>
      <p:sp>
        <p:nvSpPr>
          <p:cNvPr id="9" name="Shape 5"/>
          <p:cNvSpPr/>
          <p:nvPr/>
        </p:nvSpPr>
        <p:spPr>
          <a:xfrm>
            <a:off x="2405044" y="714375"/>
            <a:ext cx="1285875" cy="492919"/>
          </a:xfrm>
          <a:prstGeom prst="rect">
            <a:avLst/>
          </a:prstGeom>
          <a:solidFill>
            <a:srgbClr val="FFFFFF"/>
          </a:solidFill>
          <a:ln w="9144">
            <a:solidFill>
              <a:srgbClr val="1A1A1A"/>
            </a:solidFill>
            <a:prstDash val="solid"/>
          </a:ln>
        </p:spPr>
      </p:sp>
      <p:sp>
        <p:nvSpPr>
          <p:cNvPr id="10" name="Text 6"/>
          <p:cNvSpPr/>
          <p:nvPr/>
        </p:nvSpPr>
        <p:spPr>
          <a:xfrm>
            <a:off x="2405044" y="714375"/>
            <a:ext cx="1285875" cy="492919"/>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Client</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(Web / ERP)</a:t>
            </a:r>
            <a:endParaRPr lang="en-US" sz="727" dirty="0"/>
          </a:p>
        </p:txBody>
      </p:sp>
      <p:sp>
        <p:nvSpPr>
          <p:cNvPr id="11" name="Shape 7"/>
          <p:cNvSpPr/>
          <p:nvPr/>
        </p:nvSpPr>
        <p:spPr>
          <a:xfrm>
            <a:off x="4381491" y="2259211"/>
            <a:ext cx="1285875" cy="625078"/>
          </a:xfrm>
          <a:prstGeom prst="rect">
            <a:avLst/>
          </a:prstGeom>
          <a:solidFill>
            <a:srgbClr val="FFFFFF"/>
          </a:solidFill>
          <a:ln w="9144">
            <a:solidFill>
              <a:srgbClr val="1A1A1A"/>
            </a:solidFill>
            <a:prstDash val="solid"/>
          </a:ln>
        </p:spPr>
      </p:sp>
      <p:sp>
        <p:nvSpPr>
          <p:cNvPr id="12" name="Text 8"/>
          <p:cNvSpPr/>
          <p:nvPr/>
        </p:nvSpPr>
        <p:spPr>
          <a:xfrm>
            <a:off x="4381491" y="2259211"/>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Services</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(Parsing /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Prompt)</a:t>
            </a:r>
            <a:endParaRPr lang="en-US" sz="727" dirty="0"/>
          </a:p>
        </p:txBody>
      </p:sp>
      <p:sp>
        <p:nvSpPr>
          <p:cNvPr id="13" name="Shape 9"/>
          <p:cNvSpPr/>
          <p:nvPr/>
        </p:nvSpPr>
        <p:spPr>
          <a:xfrm>
            <a:off x="2405044" y="3804047"/>
            <a:ext cx="1285875" cy="625078"/>
          </a:xfrm>
          <a:prstGeom prst="rect">
            <a:avLst/>
          </a:prstGeom>
          <a:solidFill>
            <a:srgbClr val="FFFFFF"/>
          </a:solidFill>
          <a:ln w="9144">
            <a:solidFill>
              <a:srgbClr val="1A1A1A"/>
            </a:solidFill>
            <a:prstDash val="solid"/>
          </a:ln>
        </p:spPr>
      </p:sp>
      <p:sp>
        <p:nvSpPr>
          <p:cNvPr id="14" name="Text 10"/>
          <p:cNvSpPr/>
          <p:nvPr/>
        </p:nvSpPr>
        <p:spPr>
          <a:xfrm>
            <a:off x="2405044" y="3804047"/>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Base de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Connaissances</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(RAG / Qdrant)</a:t>
            </a:r>
            <a:endParaRPr lang="en-US" sz="727" dirty="0"/>
          </a:p>
        </p:txBody>
      </p:sp>
      <p:sp>
        <p:nvSpPr>
          <p:cNvPr id="15" name="Shape 11"/>
          <p:cNvSpPr/>
          <p:nvPr/>
        </p:nvSpPr>
        <p:spPr>
          <a:xfrm>
            <a:off x="428625" y="2259211"/>
            <a:ext cx="1285875" cy="625078"/>
          </a:xfrm>
          <a:prstGeom prst="rect">
            <a:avLst/>
          </a:prstGeom>
          <a:solidFill>
            <a:srgbClr val="FFFFFF"/>
          </a:solidFill>
          <a:ln w="9144">
            <a:solidFill>
              <a:srgbClr val="1A1A1A"/>
            </a:solidFill>
            <a:prstDash val="solid"/>
          </a:ln>
        </p:spPr>
      </p:sp>
      <p:sp>
        <p:nvSpPr>
          <p:cNvPr id="16" name="Text 12"/>
          <p:cNvSpPr/>
          <p:nvPr/>
        </p:nvSpPr>
        <p:spPr>
          <a:xfrm>
            <a:off x="428625" y="2259211"/>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Fournisseurs LLM</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 GPT /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Mistral)</a:t>
            </a:r>
            <a:endParaRPr lang="en-US" sz="727" dirty="0"/>
          </a:p>
        </p:txBody>
      </p:sp>
      <p:sp>
        <p:nvSpPr>
          <p:cNvPr id="17" name="Shape 13"/>
          <p:cNvSpPr/>
          <p:nvPr/>
        </p:nvSpPr>
        <p:spPr>
          <a:xfrm>
            <a:off x="6095991" y="0"/>
            <a:ext cx="3047981" cy="5143500"/>
          </a:xfrm>
          <a:prstGeom prst="rect">
            <a:avLst/>
          </a:prstGeom>
          <a:solidFill>
            <a:srgbClr val="F9F9FA"/>
          </a:solidFill>
          <a:ln/>
        </p:spPr>
      </p:sp>
      <p:sp>
        <p:nvSpPr>
          <p:cNvPr id="18" name="Text 14"/>
          <p:cNvSpPr/>
          <p:nvPr/>
        </p:nvSpPr>
        <p:spPr>
          <a:xfrm>
            <a:off x="6381741" y="605070"/>
            <a:ext cx="2476481" cy="990107"/>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1A1A"/>
                </a:solidFill>
                <a:latin typeface="Playfair Display" pitchFamily="34" charset="0"/>
                <a:ea typeface="Playfair Display" pitchFamily="34" charset="-122"/>
                <a:cs typeface="Playfair Display" pitchFamily="34" charset="-120"/>
              </a:rPr>
              <a:t>Architecture Globale : Simple et Puissante</a:t>
            </a:r>
            <a:endParaRPr lang="en-US" sz="2121" dirty="0"/>
          </a:p>
        </p:txBody>
      </p:sp>
      <p:sp>
        <p:nvSpPr>
          <p:cNvPr id="19" name="Text 15"/>
          <p:cNvSpPr/>
          <p:nvPr/>
        </p:nvSpPr>
        <p:spPr>
          <a:xfrm>
            <a:off x="6381741" y="1880927"/>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Python 3.12 · FastAPI</a:t>
            </a:r>
            <a:endParaRPr lang="en-US" sz="834" dirty="0"/>
          </a:p>
        </p:txBody>
      </p:sp>
      <p:sp>
        <p:nvSpPr>
          <p:cNvPr id="20" name="Text 16"/>
          <p:cNvSpPr/>
          <p:nvPr/>
        </p:nvSpPr>
        <p:spPr>
          <a:xfrm>
            <a:off x="6381741" y="2138102"/>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Docker Containerization</a:t>
            </a:r>
            <a:endParaRPr lang="en-US" sz="834" dirty="0"/>
          </a:p>
        </p:txBody>
      </p:sp>
      <p:sp>
        <p:nvSpPr>
          <p:cNvPr id="21" name="Text 17"/>
          <p:cNvSpPr/>
          <p:nvPr/>
        </p:nvSpPr>
        <p:spPr>
          <a:xfrm>
            <a:off x="6381741" y="2395277"/>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Multi-LLM Strategy</a:t>
            </a:r>
            <a:endParaRPr lang="en-US" sz="834" dirty="0"/>
          </a:p>
        </p:txBody>
      </p:sp>
      <p:sp>
        <p:nvSpPr>
          <p:cNvPr id="22" name="Text 18"/>
          <p:cNvSpPr/>
          <p:nvPr/>
        </p:nvSpPr>
        <p:spPr>
          <a:xfrm>
            <a:off x="6381741" y="2652452"/>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Microservice RAG</a:t>
            </a:r>
            <a:endParaRPr lang="en-US" sz="834" dirty="0"/>
          </a:p>
        </p:txBody>
      </p:sp>
      <p:sp>
        <p:nvSpPr>
          <p:cNvPr id="23" name="Shape 19"/>
          <p:cNvSpPr/>
          <p:nvPr/>
        </p:nvSpPr>
        <p:spPr>
          <a:xfrm>
            <a:off x="6381741" y="3195377"/>
            <a:ext cx="2476481" cy="1343025"/>
          </a:xfrm>
          <a:prstGeom prst="rect">
            <a:avLst/>
          </a:prstGeom>
          <a:solidFill>
            <a:srgbClr val="FFFFFF"/>
          </a:solidFill>
          <a:ln w="9144">
            <a:solidFill>
              <a:srgbClr val="E5E5E5"/>
            </a:solidFill>
            <a:prstDash val="solid"/>
          </a:ln>
        </p:spPr>
      </p:sp>
      <p:sp>
        <p:nvSpPr>
          <p:cNvPr id="24" name="Text 20"/>
          <p:cNvSpPr/>
          <p:nvPr/>
        </p:nvSpPr>
        <p:spPr>
          <a:xfrm>
            <a:off x="6596053" y="3416833"/>
            <a:ext cx="2047856"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latin typeface="Playfair Display" pitchFamily="34" charset="0"/>
                <a:ea typeface="Playfair Display" pitchFamily="34" charset="-122"/>
                <a:cs typeface="Playfair Display" pitchFamily="34" charset="-120"/>
              </a:rPr>
              <a:t>Déploiement Flash</a:t>
            </a:r>
            <a:endParaRPr lang="en-US" sz="1193" dirty="0"/>
          </a:p>
        </p:txBody>
      </p:sp>
      <p:sp>
        <p:nvSpPr>
          <p:cNvPr id="25" name="Text 21"/>
          <p:cNvSpPr/>
          <p:nvPr/>
        </p:nvSpPr>
        <p:spPr>
          <a:xfrm>
            <a:off x="6596053" y="3716871"/>
            <a:ext cx="2047856" cy="600075"/>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Infrastructure complète prête à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l'emploi.</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Déployable en </a:t>
            </a:r>
            <a:pPr algn="l" indent="0" marL="0">
              <a:lnSpc>
                <a:spcPts val="1200"/>
              </a:lnSpc>
              <a:buNone/>
            </a:pPr>
            <a:r>
              <a:rPr lang="en-US" sz="683" b="1" dirty="0">
                <a:solidFill>
                  <a:srgbClr val="666666"/>
                </a:solidFill>
                <a:latin typeface="JetBrains Mono" pitchFamily="34" charset="0"/>
                <a:ea typeface="JetBrains Mono" pitchFamily="34" charset="-122"/>
                <a:cs typeface="JetBrains Mono" pitchFamily="34" charset="-120"/>
              </a:rPr>
              <a:t>5 minutes</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Compatible On-premise ou Cloud.</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sp>
      <p:sp>
        <p:nvSpPr>
          <p:cNvPr id="5" name="Shape 1"/>
          <p:cNvSpPr/>
          <p:nvPr/>
        </p:nvSpPr>
        <p:spPr>
          <a:xfrm>
            <a:off x="428625" y="1189769"/>
            <a:ext cx="8286750" cy="7144"/>
          </a:xfrm>
          <a:prstGeom prst="rect">
            <a:avLst/>
          </a:prstGeom>
          <a:solidFill>
            <a:srgbClr val="E5E5E5"/>
          </a:solidFill>
          <a:ln/>
        </p:spPr>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Roadmap</a:t>
            </a:r>
            <a:endParaRPr lang="en-US" sz="2436" dirty="0"/>
          </a:p>
        </p:txBody>
      </p:sp>
      <p:sp>
        <p:nvSpPr>
          <p:cNvPr id="7" name="Text 3"/>
          <p:cNvSpPr/>
          <p:nvPr/>
        </p:nvSpPr>
        <p:spPr>
          <a:xfrm>
            <a:off x="428625" y="877230"/>
            <a:ext cx="1762720"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CE N'EST QUE LE DÉBUT</a:t>
            </a:r>
            <a:endParaRPr lang="en-US" sz="942" dirty="0"/>
          </a:p>
        </p:txBody>
      </p:sp>
      <p:sp>
        <p:nvSpPr>
          <p:cNvPr id="8" name="Shape 4"/>
          <p:cNvSpPr/>
          <p:nvPr/>
        </p:nvSpPr>
        <p:spPr>
          <a:xfrm>
            <a:off x="428625" y="1546957"/>
            <a:ext cx="425053" cy="169664"/>
          </a:xfrm>
          <a:prstGeom prst="rect">
            <a:avLst/>
          </a:prstGeom>
          <a:solidFill>
            <a:srgbClr val="FF4D4D"/>
          </a:solidFill>
          <a:ln/>
        </p:spPr>
      </p:sp>
      <p:sp>
        <p:nvSpPr>
          <p:cNvPr id="9" name="Text 5"/>
          <p:cNvSpPr/>
          <p:nvPr/>
        </p:nvSpPr>
        <p:spPr>
          <a:xfrm>
            <a:off x="428625" y="1546957"/>
            <a:ext cx="425053" cy="169664"/>
          </a:xfrm>
          <a:prstGeom prst="rect">
            <a:avLst/>
          </a:prstGeom>
          <a:noFill/>
          <a:ln/>
        </p:spPr>
        <p:txBody>
          <a:bodyPr wrap="square" lIns="68072" tIns="34036" rIns="68072" bIns="34036" rtlCol="0" anchor="t">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ACTUEL</a:t>
            </a:r>
            <a:endParaRPr lang="en-US" sz="584" dirty="0"/>
          </a:p>
        </p:txBody>
      </p:sp>
      <p:sp>
        <p:nvSpPr>
          <p:cNvPr id="10" name="Text 6"/>
          <p:cNvSpPr/>
          <p:nvPr/>
        </p:nvSpPr>
        <p:spPr>
          <a:xfrm>
            <a:off x="428625"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FF4D4D"/>
                </a:solidFill>
                <a:latin typeface="Playfair Display" pitchFamily="34" charset="0"/>
                <a:ea typeface="Playfair Display" pitchFamily="34" charset="-122"/>
                <a:cs typeface="Playfair Display" pitchFamily="34" charset="-120"/>
              </a:rPr>
              <a:t>v1.0</a:t>
            </a:r>
            <a:endParaRPr lang="en-US" sz="2121" dirty="0"/>
          </a:p>
        </p:txBody>
      </p:sp>
      <p:sp>
        <p:nvSpPr>
          <p:cNvPr id="11" name="Text 7"/>
          <p:cNvSpPr/>
          <p:nvPr/>
        </p:nvSpPr>
        <p:spPr>
          <a:xfrm>
            <a:off x="428625"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AUJOURD'HUI</a:t>
            </a:r>
            <a:endParaRPr lang="en-US" sz="683" dirty="0"/>
          </a:p>
        </p:txBody>
      </p:sp>
      <p:sp>
        <p:nvSpPr>
          <p:cNvPr id="12" name="Text 8"/>
          <p:cNvSpPr/>
          <p:nvPr/>
        </p:nvSpPr>
        <p:spPr>
          <a:xfrm>
            <a:off x="428625"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3" name="Text 9"/>
          <p:cNvSpPr/>
          <p:nvPr/>
        </p:nvSpPr>
        <p:spPr>
          <a:xfrm>
            <a:off x="571500" y="2654238"/>
            <a:ext cx="542925"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API REST</a:t>
            </a:r>
            <a:endParaRPr lang="en-US" sz="784" dirty="0"/>
          </a:p>
        </p:txBody>
      </p:sp>
      <p:sp>
        <p:nvSpPr>
          <p:cNvPr id="14" name="Text 10"/>
          <p:cNvSpPr/>
          <p:nvPr/>
        </p:nvSpPr>
        <p:spPr>
          <a:xfrm>
            <a:off x="428625"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5" name="Text 11"/>
          <p:cNvSpPr/>
          <p:nvPr/>
        </p:nvSpPr>
        <p:spPr>
          <a:xfrm>
            <a:off x="571500" y="2932844"/>
            <a:ext cx="678656"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Parsing AO</a:t>
            </a:r>
            <a:endParaRPr lang="en-US" sz="784" dirty="0"/>
          </a:p>
        </p:txBody>
      </p:sp>
      <p:sp>
        <p:nvSpPr>
          <p:cNvPr id="16" name="Text 12"/>
          <p:cNvSpPr/>
          <p:nvPr/>
        </p:nvSpPr>
        <p:spPr>
          <a:xfrm>
            <a:off x="428625"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7" name="Text 13"/>
          <p:cNvSpPr/>
          <p:nvPr/>
        </p:nvSpPr>
        <p:spPr>
          <a:xfrm>
            <a:off x="571500" y="3211450"/>
            <a:ext cx="610791"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Multi-LLM</a:t>
            </a:r>
            <a:endParaRPr lang="en-US" sz="784" dirty="0"/>
          </a:p>
        </p:txBody>
      </p:sp>
      <p:sp>
        <p:nvSpPr>
          <p:cNvPr id="18" name="Text 14"/>
          <p:cNvSpPr/>
          <p:nvPr/>
        </p:nvSpPr>
        <p:spPr>
          <a:xfrm>
            <a:off x="428625" y="3479341"/>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9" name="Text 15"/>
          <p:cNvSpPr/>
          <p:nvPr/>
        </p:nvSpPr>
        <p:spPr>
          <a:xfrm>
            <a:off x="571500" y="3490057"/>
            <a:ext cx="407194"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Docker</a:t>
            </a:r>
            <a:endParaRPr lang="en-US" sz="784" dirty="0"/>
          </a:p>
        </p:txBody>
      </p:sp>
      <p:sp>
        <p:nvSpPr>
          <p:cNvPr id="20" name="Text 16"/>
          <p:cNvSpPr/>
          <p:nvPr/>
        </p:nvSpPr>
        <p:spPr>
          <a:xfrm>
            <a:off x="2571750"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v1.5</a:t>
            </a:r>
            <a:endParaRPr lang="en-US" sz="2121" dirty="0"/>
          </a:p>
        </p:txBody>
      </p:sp>
      <p:sp>
        <p:nvSpPr>
          <p:cNvPr id="21" name="Text 17"/>
          <p:cNvSpPr/>
          <p:nvPr/>
        </p:nvSpPr>
        <p:spPr>
          <a:xfrm>
            <a:off x="2571750"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PROCHAIN TRIMESTRE</a:t>
            </a:r>
            <a:endParaRPr lang="en-US" sz="683" dirty="0"/>
          </a:p>
        </p:txBody>
      </p:sp>
      <p:sp>
        <p:nvSpPr>
          <p:cNvPr id="22" name="Text 18"/>
          <p:cNvSpPr/>
          <p:nvPr/>
        </p:nvSpPr>
        <p:spPr>
          <a:xfrm>
            <a:off x="2571750"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3" name="Text 19"/>
          <p:cNvSpPr/>
          <p:nvPr/>
        </p:nvSpPr>
        <p:spPr>
          <a:xfrm>
            <a:off x="2714625" y="2654238"/>
            <a:ext cx="1425178"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Interface Web (React)</a:t>
            </a:r>
            <a:endParaRPr lang="en-US" sz="834" dirty="0"/>
          </a:p>
        </p:txBody>
      </p:sp>
      <p:sp>
        <p:nvSpPr>
          <p:cNvPr id="24" name="Text 20"/>
          <p:cNvSpPr/>
          <p:nvPr/>
        </p:nvSpPr>
        <p:spPr>
          <a:xfrm>
            <a:off x="2571750"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5" name="Text 21"/>
          <p:cNvSpPr/>
          <p:nvPr/>
        </p:nvSpPr>
        <p:spPr>
          <a:xfrm>
            <a:off x="2714625" y="2932844"/>
            <a:ext cx="1085850"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Upload PDF natif</a:t>
            </a:r>
            <a:endParaRPr lang="en-US" sz="834" dirty="0"/>
          </a:p>
        </p:txBody>
      </p:sp>
      <p:sp>
        <p:nvSpPr>
          <p:cNvPr id="26" name="Text 22"/>
          <p:cNvSpPr/>
          <p:nvPr/>
        </p:nvSpPr>
        <p:spPr>
          <a:xfrm>
            <a:off x="2571750"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7" name="Text 23"/>
          <p:cNvSpPr/>
          <p:nvPr/>
        </p:nvSpPr>
        <p:spPr>
          <a:xfrm>
            <a:off x="2714625" y="3211450"/>
            <a:ext cx="1560909"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Historique des réponses</a:t>
            </a:r>
            <a:endParaRPr lang="en-US" sz="834" dirty="0"/>
          </a:p>
        </p:txBody>
      </p:sp>
      <p:sp>
        <p:nvSpPr>
          <p:cNvPr id="28" name="Text 24"/>
          <p:cNvSpPr/>
          <p:nvPr/>
        </p:nvSpPr>
        <p:spPr>
          <a:xfrm>
            <a:off x="4714875"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v2.0</a:t>
            </a:r>
            <a:endParaRPr lang="en-US" sz="2121" dirty="0"/>
          </a:p>
        </p:txBody>
      </p:sp>
      <p:sp>
        <p:nvSpPr>
          <p:cNvPr id="29" name="Text 25"/>
          <p:cNvSpPr/>
          <p:nvPr/>
        </p:nvSpPr>
        <p:spPr>
          <a:xfrm>
            <a:off x="4714875"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2025</a:t>
            </a:r>
            <a:endParaRPr lang="en-US" sz="683" dirty="0"/>
          </a:p>
        </p:txBody>
      </p:sp>
      <p:sp>
        <p:nvSpPr>
          <p:cNvPr id="30" name="Text 26"/>
          <p:cNvSpPr/>
          <p:nvPr/>
        </p:nvSpPr>
        <p:spPr>
          <a:xfrm>
            <a:off x="4714875"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1" name="Text 27"/>
          <p:cNvSpPr/>
          <p:nvPr/>
        </p:nvSpPr>
        <p:spPr>
          <a:xfrm>
            <a:off x="4857750" y="2654238"/>
            <a:ext cx="1493044"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Fine-tuning sur corpus</a:t>
            </a:r>
            <a:endParaRPr lang="en-US" sz="834" dirty="0"/>
          </a:p>
        </p:txBody>
      </p:sp>
      <p:sp>
        <p:nvSpPr>
          <p:cNvPr id="32" name="Text 28"/>
          <p:cNvSpPr/>
          <p:nvPr/>
        </p:nvSpPr>
        <p:spPr>
          <a:xfrm>
            <a:off x="4714875"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3" name="Text 29"/>
          <p:cNvSpPr/>
          <p:nvPr/>
        </p:nvSpPr>
        <p:spPr>
          <a:xfrm>
            <a:off x="4857750" y="2932844"/>
            <a:ext cx="1153716"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Scoring prédictif</a:t>
            </a:r>
            <a:endParaRPr lang="en-US" sz="834" dirty="0"/>
          </a:p>
        </p:txBody>
      </p:sp>
      <p:sp>
        <p:nvSpPr>
          <p:cNvPr id="34" name="Text 30"/>
          <p:cNvSpPr/>
          <p:nvPr/>
        </p:nvSpPr>
        <p:spPr>
          <a:xfrm>
            <a:off x="4714875"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5" name="Text 31"/>
          <p:cNvSpPr/>
          <p:nvPr/>
        </p:nvSpPr>
        <p:spPr>
          <a:xfrm>
            <a:off x="4857750" y="3211450"/>
            <a:ext cx="1085850"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Exports Word/PDF</a:t>
            </a:r>
            <a:endParaRPr lang="en-US" sz="834" dirty="0"/>
          </a:p>
        </p:txBody>
      </p:sp>
      <p:sp>
        <p:nvSpPr>
          <p:cNvPr id="36" name="Text 32"/>
          <p:cNvSpPr/>
          <p:nvPr/>
        </p:nvSpPr>
        <p:spPr>
          <a:xfrm>
            <a:off x="6858000"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v3.0</a:t>
            </a:r>
            <a:endParaRPr lang="en-US" sz="2121" dirty="0"/>
          </a:p>
        </p:txBody>
      </p:sp>
      <p:sp>
        <p:nvSpPr>
          <p:cNvPr id="37" name="Text 33"/>
          <p:cNvSpPr/>
          <p:nvPr/>
        </p:nvSpPr>
        <p:spPr>
          <a:xfrm>
            <a:off x="6858000"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2026</a:t>
            </a:r>
            <a:endParaRPr lang="en-US" sz="683" dirty="0"/>
          </a:p>
        </p:txBody>
      </p:sp>
      <p:sp>
        <p:nvSpPr>
          <p:cNvPr id="38" name="Text 34"/>
          <p:cNvSpPr/>
          <p:nvPr/>
        </p:nvSpPr>
        <p:spPr>
          <a:xfrm>
            <a:off x="6858000"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9" name="Text 35"/>
          <p:cNvSpPr/>
          <p:nvPr/>
        </p:nvSpPr>
        <p:spPr>
          <a:xfrm>
            <a:off x="7000875" y="2654238"/>
            <a:ext cx="1425178"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Apprentissage continu</a:t>
            </a:r>
            <a:endParaRPr lang="en-US" sz="834" dirty="0"/>
          </a:p>
        </p:txBody>
      </p:sp>
      <p:sp>
        <p:nvSpPr>
          <p:cNvPr id="40" name="Text 36"/>
          <p:cNvSpPr/>
          <p:nvPr/>
        </p:nvSpPr>
        <p:spPr>
          <a:xfrm>
            <a:off x="6858000"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41" name="Text 37"/>
          <p:cNvSpPr/>
          <p:nvPr/>
        </p:nvSpPr>
        <p:spPr>
          <a:xfrm>
            <a:off x="7000875" y="2932844"/>
            <a:ext cx="882253"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Feedback loop</a:t>
            </a:r>
            <a:endParaRPr lang="en-US" sz="834" dirty="0"/>
          </a:p>
        </p:txBody>
      </p:sp>
      <p:sp>
        <p:nvSpPr>
          <p:cNvPr id="42" name="Text 38"/>
          <p:cNvSpPr/>
          <p:nvPr/>
        </p:nvSpPr>
        <p:spPr>
          <a:xfrm>
            <a:off x="6858000"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43" name="Text 39"/>
          <p:cNvSpPr/>
          <p:nvPr/>
        </p:nvSpPr>
        <p:spPr>
          <a:xfrm>
            <a:off x="7000875" y="3211450"/>
            <a:ext cx="1696641"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Conformité RGPD certifiée</a:t>
            </a:r>
            <a:endParaRPr lang="en-US" sz="83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5E5E5"/>
          </a:solidFill>
          <a:ln/>
        </p:spPr>
      </p:sp>
      <p:sp>
        <p:nvSpPr>
          <p:cNvPr id="6" name="Text 2"/>
          <p:cNvSpPr/>
          <p:nvPr/>
        </p:nvSpPr>
        <p:spPr>
          <a:xfrm>
            <a:off x="428625" y="1021082"/>
            <a:ext cx="3714750"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Prêt à remporter plus de marchés ?</a:t>
            </a:r>
            <a:endParaRPr lang="en-US" sz="2862" dirty="0"/>
          </a:p>
        </p:txBody>
      </p:sp>
      <p:sp>
        <p:nvSpPr>
          <p:cNvPr id="7" name="Text 3"/>
          <p:cNvSpPr/>
          <p:nvPr/>
        </p:nvSpPr>
        <p:spPr>
          <a:xfrm>
            <a:off x="428625" y="2044033"/>
            <a:ext cx="3714750"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Démarrez en 90 secondes.</a:t>
            </a:r>
            <a:endParaRPr lang="en-US" sz="942" dirty="0"/>
          </a:p>
        </p:txBody>
      </p:sp>
      <p:sp>
        <p:nvSpPr>
          <p:cNvPr id="8" name="Shape 4"/>
          <p:cNvSpPr/>
          <p:nvPr/>
        </p:nvSpPr>
        <p:spPr>
          <a:xfrm>
            <a:off x="428625" y="2642322"/>
            <a:ext cx="3714750" cy="1480096"/>
          </a:xfrm>
          <a:prstGeom prst="rect">
            <a:avLst/>
          </a:prstGeom>
          <a:solidFill>
            <a:srgbClr val="1A1A1A"/>
          </a:solidFill>
          <a:ln/>
        </p:spPr>
      </p:sp>
      <p:sp>
        <p:nvSpPr>
          <p:cNvPr id="9" name="Text 5"/>
          <p:cNvSpPr/>
          <p:nvPr/>
        </p:nvSpPr>
        <p:spPr>
          <a:xfrm>
            <a:off x="642938" y="3085235"/>
            <a:ext cx="3286125" cy="822871"/>
          </a:xfrm>
          <a:prstGeom prst="rect">
            <a:avLst/>
          </a:prstGeom>
          <a:noFill/>
          <a:ln/>
        </p:spPr>
        <p:txBody>
          <a:bodyPr wrap="square" lIns="0" tIns="0" rIns="0" bIns="0" rtlCol="0" anchor="t">
            <a:spAutoFit/>
          </a:bodyPr>
          <a:lstStyle/>
          <a:p>
            <a:pPr algn="l" indent="0" marL="0">
              <a:lnSpc>
                <a:spcPts val="1600"/>
              </a:lnSpc>
              <a:buNone/>
            </a:pP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git clone</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FF4D4D"/>
                </a:solidFill>
                <a:latin typeface="JetBrains Mono" pitchFamily="34" charset="0"/>
                <a:ea typeface="JetBrains Mono" pitchFamily="34" charset="-122"/>
                <a:cs typeface="JetBrains Mono" pitchFamily="34" charset="-120"/>
              </a:rPr>
              <a:t>https://github.com/offria/offria-api</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docker compose up</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i="1" dirty="0">
                <a:solidFill>
                  <a:srgbClr val="666666"/>
                </a:solidFill>
                <a:latin typeface="JetBrains Mono" pitchFamily="34" charset="0"/>
                <a:ea typeface="JetBrains Mono" pitchFamily="34" charset="-122"/>
                <a:cs typeface="JetBrains Mono" pitchFamily="34" charset="-120"/>
              </a:rPr>
              <a:t># Votre premier AO généré en 90 secondes.</a:t>
            </a:r>
            <a:pPr algn="l" indent="0" marL="0">
              <a:lnSpc>
                <a:spcPts val="1600"/>
              </a:lnSpc>
              <a:buNone/>
            </a:pPr>
            <a:endParaRPr lang="en-US" sz="834" dirty="0"/>
          </a:p>
        </p:txBody>
      </p:sp>
      <p:sp>
        <p:nvSpPr>
          <p:cNvPr id="10" name="Shape 6"/>
          <p:cNvSpPr/>
          <p:nvPr/>
        </p:nvSpPr>
        <p:spPr>
          <a:xfrm>
            <a:off x="4572000" y="0"/>
            <a:ext cx="4572000" cy="5143500"/>
          </a:xfrm>
          <a:prstGeom prst="rect">
            <a:avLst/>
          </a:prstGeom>
          <a:solidFill>
            <a:srgbClr val="F9F9FA"/>
          </a:solidFill>
          <a:ln/>
        </p:spPr>
      </p:sp>
      <p:sp>
        <p:nvSpPr>
          <p:cNvPr id="11" name="Text 7"/>
          <p:cNvSpPr/>
          <p:nvPr/>
        </p:nvSpPr>
        <p:spPr>
          <a:xfrm>
            <a:off x="5000625" y="571500"/>
            <a:ext cx="37147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12" name="Text 8"/>
          <p:cNvSpPr/>
          <p:nvPr/>
        </p:nvSpPr>
        <p:spPr>
          <a:xfrm>
            <a:off x="5000625" y="946547"/>
            <a:ext cx="3714750" cy="150019"/>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3" name="Text 9"/>
          <p:cNvSpPr/>
          <p:nvPr/>
        </p:nvSpPr>
        <p:spPr>
          <a:xfrm>
            <a:off x="5243513" y="2827865"/>
            <a:ext cx="3471863" cy="560059"/>
          </a:xfrm>
          <a:prstGeom prst="rect">
            <a:avLst/>
          </a:prstGeom>
          <a:noFill/>
          <a:ln/>
        </p:spPr>
        <p:txBody>
          <a:bodyPr wrap="square" lIns="0" tIns="0" rIns="0" bIns="0" rtlCol="0" anchor="t">
            <a:spAutoFit/>
          </a:bodyPr>
          <a:lstStyle/>
          <a:p>
            <a:pPr algn="l" indent="0" marL="0">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"OffrIA — Parce que chaque appel d'offres mérite une vraie réponse."</a:t>
            </a:r>
            <a:endParaRPr lang="en-US" sz="1486" dirty="0"/>
          </a:p>
        </p:txBody>
      </p:sp>
      <p:sp>
        <p:nvSpPr>
          <p:cNvPr id="14" name="Shape 10"/>
          <p:cNvSpPr/>
          <p:nvPr/>
        </p:nvSpPr>
        <p:spPr>
          <a:xfrm>
            <a:off x="5000625" y="3959423"/>
            <a:ext cx="3714750" cy="612577"/>
          </a:xfrm>
          <a:prstGeom prst="rect">
            <a:avLst/>
          </a:prstGeom>
          <a:solidFill>
            <a:srgbClr val="FFFFFF"/>
          </a:solidFill>
          <a:ln w="9144">
            <a:solidFill>
              <a:srgbClr val="E5E5E5"/>
            </a:solidFill>
            <a:prstDash val="solid"/>
          </a:ln>
        </p:spPr>
      </p:sp>
      <p:pic>
        <p:nvPicPr>
          <p:cNvPr id="15" name="Image 1" descr="preencoded.png">    </p:cNvPr>
          <p:cNvPicPr>
            <a:picLocks noChangeAspect="1"/>
          </p:cNvPicPr>
          <p:nvPr/>
        </p:nvPicPr>
        <p:blipFill>
          <a:blip r:embed="rId2"/>
          <a:stretch>
            <a:fillRect/>
          </a:stretch>
        </p:blipFill>
        <p:spPr>
          <a:xfrm>
            <a:off x="5644455" y="4205883"/>
            <a:ext cx="128588" cy="128588"/>
          </a:xfrm>
          <a:prstGeom prst="rect">
            <a:avLst/>
          </a:prstGeom>
        </p:spPr>
      </p:pic>
      <p:sp>
        <p:nvSpPr>
          <p:cNvPr id="16" name="Text 11"/>
          <p:cNvSpPr/>
          <p:nvPr/>
        </p:nvSpPr>
        <p:spPr>
          <a:xfrm>
            <a:off x="5844480" y="4188023"/>
            <a:ext cx="2227064"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Contactez-nous pour une démo</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2026-03-01T21:06:29Z</dcterms:created>
  <dcterms:modified xsi:type="dcterms:W3CDTF">2026-03-01T21:06:29Z</dcterms:modified>
</cp:coreProperties>
</file>