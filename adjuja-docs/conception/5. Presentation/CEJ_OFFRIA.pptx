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suis Mohamed Echcharif EL JAZOULI, Lead Data Scientist et architecte de la solution OffrIA. Nous sommes ici pour parler d'une révolution dans la manière de remporter des marchés. OffrIA n'est pas juste un outil, c'est une transformation stratégique. J'ai créé un commercial qui ne dort jamais, ne se fatigue pas, et répond à 50 appels d'offres pendant que vous dormez. C'est une promesse audacieuse, mais elle est fondée sur une technologie de pointe et une compréhension profonde de vos défis. Nous allons voir comment OffrIA va vous donner un avantage décisif. Pour comprendre l'ampleur de cette opportunité, il faut d'abord saisir le contexte actuel du marché.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Maroc est un marché dynamique, en pleine transformation, et l'investissement public en est le moteur. En 2024, nous atteindrons un volume record de 335 milliards de dirhams. C'est une croissance de près de 12% par rapport à l'année précédente. Cette manne financière est répartie entre les entreprises publiques, le budget de l'État, et des fonds stratégiques. C'est un marché colossal, avec plus de 20 000 appels d'offres publiés chaque année. La bonne nouvelle, c'est que les PME y trouvent leur place, dépassant même les objectifs légaux. Les délais de paiement sont réduits, le traitement des dossiers est optimisé grâce à la dématérialisation. C'est un environnement propice à la croissance, mais aussi à une concurrence accrue. Et c'est là qu'OffrIA entre en jeu, pour vous donner une longueur d'avance.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venons de voir un marché en pleine effervescence, mais aussi exigeant. Notre vision avec OffrIA est simple : transformer radicalement votre processus de réponse aux appels d'offres. Imaginez réduire 38 heures de travail à moins de 2 minutes. C'est la promesse d'OffrIA. Vous nous donnez un appel d'offres en PDF, notre IA l'analyse, et en quelques secondes, vous obtenez une réponse structurée, professionnelle et prête à soumettre. OffrIA lit l'AO à votre place, identifie les critères clés, et génère une proposition sur-mesure. C'est une automatisation intelligente qui libère vos équipes pour des tâches à plus forte valeur ajoutée. Et cette performance repose sur une solution technique robuste et innovante.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puissance d'OffrIA réside dans son moteur intelligent, combinant IA générative et une base de connaissances riche. Nous commençons par un parsing intelligent qui extrait automatiquement toutes les informations cruciales de l'AO : titre, critères, budget, sections. Ensuite, notre système génère en parallèle un brief stratégique et huit sections de réponse, soit neuf appels LLM simultanés. Cela garantit une cohérence et une complétude inégalées. Nous intégrons également une base de connaissances RAG, enrichie par vos propres documents : références clients, certifications, méthodologies. Votre profil d'entreprise est contextualisé via un prompt engineering métier précis, intégrant vos atouts concurrentiels. Enfin, OffrIA est multi-LLM. Vous choisissez le modèle d'IA le plus adapté à votre besoin, qu'il s'agisse de Claude, GPT, ou Mistral AI. Cette flexibilité est un atout majeur. Et c'est cette architecture qui nous permet de nous démarquer clairement de la concurrence.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examiné la vision et la solution technique d'OffrIA. Maintenant, voyons pourquoi OffrIA devance tous ses concurrents sur huit critères différenciants. Nous sommes les seuls à offrir une approche multi-provider LLM, un parsing automatique complet des AO, et une génération multi-sections en parallèle. Notre base de connaissances RAG, alimentée par vos documents, est un avantage stratégique. Nous contextualisons votre profil d'entreprise, offrons une API intégrable, et proposons un hébergement souverain avec Mistral. De plus, notre cœur est open-source, garantissant transparence et adaptabilité. McKinsey l'affirme : les entreprises qui adoptent l'IA dans leurs processus commerciaux capteront 30% de parts de marché supplémentaires d'ici 2026. OffrIA vous donne cette longueur d'avance. Mais au-delà des fonctionnalités, c'est l'impact concret sur vos opérations qui est le plus parlant.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established OffrIA's unique capabilities, let's now quantify the profound impact it delivers. We're not just talking about incremental gains; we're looking at a complete paradigm shift in how you approach public tenders. OffrIA multiplies your response capacity by 25, drastically reducing the time spent on each tender from potentially 38 hours to under 2 minutes. This efficiency translates directly into a massive increase in volume, allowing you to tackle 10 to 50 tenders monthly, compared to just 1 to 3 previously. And the most compelling figure: the average cost per response plummets from 3,000 euros to mere cents. This isn't about replacing your teams; it's about empowering them with an unprecedented capacity to respond, at a near-zero marginal cost. But what does this cost truly look like in detail? Let's break down the economics of OffrIA versus traditional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Following the dramatic impact figures, it's crucial to understand the underlying cost structure, especially concerning LLMs. Unlike opaque SaaS solutions, OffrIA provides complete transparency, allowing you to choose your provider and see exactly what you're paying for. A full tender response, involving nine parallel LLM calls, costs as little as 0.90 MAD with Mistral Large, or around 1.65 MAD for daily use with Claude Sonnet. Compare this to the human alternative: a senior tender writer costs approximately 900 MAD per response. OffrIA delivers a 545-fold cost efficiency. The real question isn't the cost of OffrIA, but the immense revenue potential it unlocks. A single successful tender can recoup years of OffrIA usage. So, how do we achieve such remarkable efficiency and cost-effectiveness? Let's look at the robust architecture behind OffrIA.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seen the impact and the cost efficiency; now let's explore the simple yet powerful architecture that makes OffrIA possible. Our modular design ensures optimal performance and scalability. The system processes client requests through a FastAPI router, which orchestrates the AO parsing and initiates up to eight parallel LLM calls for section generation. This parallel processing, combined with our RAG service leveraging Qdrant for contextual knowledge, allows for rapid, high-quality output. The entire stack, built on Python, FastAPI, React, and Docker, ensures easy and fast deployment, whether on-premise or in the cloud, typically within five minutes. This robust foundation is just the beginning; our roadmap outlines continuous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architecture robuste, que nous venons de détailler, n'est que le point de départ. Nous avons une vision claire pour l'évolution d'OffrIA, assurant que notre solution reste à la pointe de l'innovation. Nous avons déjà livré des versions majeures, intégrant l'API REST, le parsing automatique des AO, et la génération multi-sections. La version 2.0 a solidifié notre base avec le RAG et les embeddings OpenAI, prouvant notre capacité à innover rapidement. Actuellement, la version 3.0 est en développement, axée sur le fine-tuning et le scoring prédictif, ce qui augmentera encore la pertinence de nos réponses. Enfin, notre roadmap planifiée inclut l'apprentissage continu et la conformité RGPD, garantissant une solution évolutive et sécurisée. Cette trajectoire assure qu'OffrIA continuera de vous offrir un avantage concurrentiel décisif. Voyons maintenant comment vous pouvez intégrer cette puissance dès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exploré la puissance d'OffrIA et sa feuille de route ambitieuse. La question n'est plus de savoir si vous devez l'adopter, mais quand. La bonne nouvelle, c'est que vous pouvez démarrer immédiatement. En seulement 90 secondes, vous pouvez générer votre premier appel d'offres. C'est une solution prête à l'emploi, conçue pour une intégration rapide et sans friction dans vos processus. Mon équipe et moi-même sommes là pour vous accompagner à chaque étape. OffrIA n'est pas seulement un outil; c'est une philosophie : chaque appel d'offres mérite une réponse de qualité. Je vous invite à nous contacter pour une démonstration personnalisée, afin de voir OffrIA en action avec vos propres données. Avant de conclure, je souhaite vous présenter les sources qui étayent nos analyses.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couvert les capacités d'OffrIA et son impact potentiel. Toutes les données et affirmations présentées aujourd'hui sont basées sur des sources fiables et vérifiables. Le Projet de Loi de Finances 2024 confirme l'ampleur de l'investissement public au Maroc, un marché que nous ciblons. Les rapports du Ministère de l'Économie et des Finances et du Portail Marocain des Marchés Publics valident la dynamique et le volume de ce secteur. Enfin, les analyses de la Banque Mondiale et de l'Observatoire des Délais de Paiement soulignent l'efficacité croissante et la saine concurrence du marché. Ces références attestent de la solidité de notre analyse et de la pertinence d'OffrIA dans ce contexte. Merci de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4067473" y="368796"/>
            <a:ext cx="1009055" cy="553641"/>
          </a:xfrm>
          <a:prstGeom prst="rect">
            <a:avLst/>
          </a:prstGeom>
          <a:noFill/>
          <a:ln/>
        </p:spPr>
        <p:txBody>
          <a:bodyPr wrap="none" lIns="0" tIns="0" rIns="0" bIns="0" rtlCol="0" anchor="t">
            <a:spAutoFit/>
          </a:bodyPr>
          <a:lstStyle/>
          <a:p>
            <a:pPr algn="l" indent="0" marL="0">
              <a:lnSpc>
                <a:spcPts val="4300"/>
              </a:lnSpc>
              <a:buNone/>
            </a:pPr>
            <a:r>
              <a:rPr lang="en-US" sz="3294" b="1" spc="-2" kern="0" dirty="0">
                <a:solidFill>
                  <a:srgbClr val="38BDF8"/>
                </a:solidFill>
                <a:latin typeface="Inter" pitchFamily="34" charset="0"/>
                <a:ea typeface="Inter" pitchFamily="34" charset="-122"/>
                <a:cs typeface="Inter" pitchFamily="34" charset="-120"/>
              </a:rPr>
              <a:t>C</a:t>
            </a:r>
            <a:pPr algn="l" indent="0" marL="0">
              <a:lnSpc>
                <a:spcPts val="4300"/>
              </a:lnSpc>
              <a:buNone/>
            </a:pPr>
            <a:r>
              <a:rPr lang="en-US" sz="3294" b="1" spc="-2" kern="0" dirty="0">
                <a:solidFill>
                  <a:srgbClr val="38BDF8"/>
                </a:solidFill>
                <a:latin typeface="Inter" pitchFamily="34" charset="0"/>
                <a:ea typeface="Inter" pitchFamily="34" charset="-122"/>
                <a:cs typeface="Inter" pitchFamily="34" charset="-120"/>
              </a:rPr>
              <a:t>.</a:t>
            </a:r>
            <a:pPr algn="l" indent="0" marL="0">
              <a:lnSpc>
                <a:spcPts val="4300"/>
              </a:lnSpc>
              <a:buNone/>
            </a:pPr>
            <a:r>
              <a:rPr lang="en-US" sz="3294" b="1" spc="-2" kern="0" dirty="0">
                <a:solidFill>
                  <a:srgbClr val="38BDF8"/>
                </a:solidFill>
                <a:latin typeface="Inter" pitchFamily="34" charset="0"/>
                <a:ea typeface="Inter" pitchFamily="34" charset="-122"/>
                <a:cs typeface="Inter" pitchFamily="34" charset="-120"/>
              </a:rPr>
              <a:t>EJ</a:t>
            </a:r>
            <a:endParaRPr lang="en-US" sz="3294" dirty="0"/>
          </a:p>
        </p:txBody>
      </p:sp>
      <p:sp>
        <p:nvSpPr>
          <p:cNvPr id="5" name="Text 1"/>
          <p:cNvSpPr/>
          <p:nvPr/>
        </p:nvSpPr>
        <p:spPr>
          <a:xfrm>
            <a:off x="3547765" y="1358205"/>
            <a:ext cx="2048470" cy="714375"/>
          </a:xfrm>
          <a:prstGeom prst="rect">
            <a:avLst/>
          </a:prstGeom>
          <a:noFill/>
          <a:ln/>
        </p:spPr>
        <p:txBody>
          <a:bodyPr wrap="none" lIns="0" tIns="0" rIns="0" bIns="0" rtlCol="0" anchor="t">
            <a:spAutoFit/>
          </a:bodyPr>
          <a:lstStyle/>
          <a:p>
            <a:pPr algn="l" indent="0" marL="0">
              <a:lnSpc>
                <a:spcPts val="5600"/>
              </a:lnSpc>
              <a:buNone/>
            </a:pPr>
            <a:r>
              <a:rPr lang="en-US" sz="5182" b="1" spc="-3" kern="0" dirty="0">
                <a:solidFill>
                  <a:srgbClr val="38BDF8"/>
                </a:solidFill>
                <a:latin typeface="Inter" pitchFamily="34" charset="0"/>
                <a:ea typeface="Inter" pitchFamily="34" charset="-122"/>
                <a:cs typeface="Inter" pitchFamily="34" charset="-120"/>
              </a:rPr>
              <a:t>OffrIA</a:t>
            </a:r>
            <a:endParaRPr lang="en-US" sz="5182" dirty="0"/>
          </a:p>
        </p:txBody>
      </p:sp>
      <p:sp>
        <p:nvSpPr>
          <p:cNvPr id="6" name="Text 2"/>
          <p:cNvSpPr/>
          <p:nvPr/>
        </p:nvSpPr>
        <p:spPr>
          <a:xfrm>
            <a:off x="2788741" y="2144018"/>
            <a:ext cx="3566517" cy="276820"/>
          </a:xfrm>
          <a:prstGeom prst="rect">
            <a:avLst/>
          </a:prstGeom>
          <a:noFill/>
          <a:ln/>
        </p:spPr>
        <p:txBody>
          <a:bodyPr wrap="none" lIns="0" tIns="0" rIns="0" bIns="0" rtlCol="0" anchor="t">
            <a:spAutoFit/>
          </a:bodyPr>
          <a:lstStyle/>
          <a:p>
            <a:pPr algn="l" indent="0" marL="0">
              <a:lnSpc>
                <a:spcPts val="2200"/>
              </a:lnSpc>
              <a:buNone/>
            </a:pPr>
            <a:r>
              <a:rPr lang="en-US" sz="1704" spc="1" kern="0" dirty="0">
                <a:solidFill>
                  <a:srgbClr val="94A3B8"/>
                </a:solidFill>
                <a:latin typeface="Inter" pitchFamily="34" charset="0"/>
                <a:ea typeface="Inter" pitchFamily="34" charset="-122"/>
                <a:cs typeface="Inter" pitchFamily="34" charset="-120"/>
              </a:rPr>
              <a:t>L'IA qui remporte vos marchés.</a:t>
            </a:r>
            <a:endParaRPr lang="en-US" sz="1704" dirty="0"/>
          </a:p>
        </p:txBody>
      </p:sp>
      <p:sp>
        <p:nvSpPr>
          <p:cNvPr id="7" name="Shape 3"/>
          <p:cNvSpPr/>
          <p:nvPr/>
        </p:nvSpPr>
        <p:spPr>
          <a:xfrm>
            <a:off x="2373511" y="2849463"/>
            <a:ext cx="4396978" cy="817959"/>
          </a:xfrm>
          <a:prstGeom prst="rect">
            <a:avLst/>
          </a:prstGeom>
          <a:solidFill>
            <a:srgbClr val="1E293B">
              <a:alpha val="50000"/>
            </a:srgbClr>
          </a:solidFill>
          <a:ln w="9144">
            <a:solidFill>
              <a:srgbClr val="38BDF8">
                <a:alpha val="20000"/>
              </a:srgbClr>
            </a:solidFill>
            <a:prstDash val="solid"/>
          </a:ln>
        </p:spPr>
      </p:sp>
      <p:sp>
        <p:nvSpPr>
          <p:cNvPr id="8" name="Text 4"/>
          <p:cNvSpPr/>
          <p:nvPr/>
        </p:nvSpPr>
        <p:spPr>
          <a:xfrm>
            <a:off x="2809280" y="3070920"/>
            <a:ext cx="3525441" cy="207169"/>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latin typeface="Inter" pitchFamily="34" charset="0"/>
                <a:ea typeface="Inter" pitchFamily="34" charset="-122"/>
                <a:cs typeface="Inter" pitchFamily="34" charset="-120"/>
              </a:rPr>
              <a:t>Mohamed Echcharif EL JAZOULI</a:t>
            </a:r>
            <a:endParaRPr lang="en-US" sz="1193" dirty="0"/>
          </a:p>
        </p:txBody>
      </p:sp>
      <p:sp>
        <p:nvSpPr>
          <p:cNvPr id="9" name="Text 5"/>
          <p:cNvSpPr/>
          <p:nvPr/>
        </p:nvSpPr>
        <p:spPr>
          <a:xfrm>
            <a:off x="2809280" y="3313807"/>
            <a:ext cx="3525441" cy="132159"/>
          </a:xfrm>
          <a:prstGeom prst="rect">
            <a:avLst/>
          </a:prstGeom>
          <a:noFill/>
          <a:ln/>
        </p:spPr>
        <p:txBody>
          <a:bodyPr wrap="none" lIns="0" tIns="0" rIns="0" bIns="0" rtlCol="0" anchor="t">
            <a:spAutoFit/>
          </a:bodyPr>
          <a:lstStyle/>
          <a:p>
            <a:pPr algn="ctr" indent="0" marL="0">
              <a:lnSpc>
                <a:spcPts val="900"/>
              </a:lnSpc>
              <a:buNone/>
            </a:pPr>
            <a:r>
              <a:rPr lang="en-US" sz="727" spc="2" kern="0" dirty="0">
                <a:solidFill>
                  <a:srgbClr val="38BDF8"/>
                </a:solidFill>
                <a:latin typeface="JetBrains Mono" pitchFamily="34" charset="0"/>
                <a:ea typeface="JetBrains Mono" pitchFamily="34" charset="-122"/>
                <a:cs typeface="JetBrains Mono" pitchFamily="34" charset="-120"/>
              </a:rPr>
              <a:t>LEAD DATA SCIENTIST — ARCHITECTE DE LA SOLUTION</a:t>
            </a:r>
            <a:endParaRPr lang="en-US" sz="727" dirty="0"/>
          </a:p>
        </p:txBody>
      </p:sp>
      <p:sp>
        <p:nvSpPr>
          <p:cNvPr id="10" name="Shape 6"/>
          <p:cNvSpPr/>
          <p:nvPr/>
        </p:nvSpPr>
        <p:spPr>
          <a:xfrm>
            <a:off x="1535906" y="4088904"/>
            <a:ext cx="6072188" cy="678656"/>
          </a:xfrm>
          <a:prstGeom prst="rect">
            <a:avLst/>
          </a:prstGeom>
          <a:solidFill>
            <a:srgbClr val="000000">
              <a:alpha val="0"/>
            </a:srgbClr>
          </a:solidFill>
          <a:ln/>
        </p:spPr>
      </p:sp>
      <p:sp>
        <p:nvSpPr>
          <p:cNvPr id="11" name="Shape 7"/>
          <p:cNvSpPr/>
          <p:nvPr/>
        </p:nvSpPr>
        <p:spPr>
          <a:xfrm>
            <a:off x="1535906" y="4088904"/>
            <a:ext cx="6072188" cy="7144"/>
          </a:xfrm>
          <a:prstGeom prst="rect">
            <a:avLst/>
          </a:prstGeom>
          <a:solidFill>
            <a:srgbClr val="EBF8FE"/>
          </a:solidFill>
          <a:ln/>
        </p:spPr>
      </p:sp>
      <p:sp>
        <p:nvSpPr>
          <p:cNvPr id="12" name="Text 8"/>
          <p:cNvSpPr/>
          <p:nvPr/>
        </p:nvSpPr>
        <p:spPr>
          <a:xfrm>
            <a:off x="1535906" y="4088904"/>
            <a:ext cx="6072188" cy="678656"/>
          </a:xfrm>
          <a:prstGeom prst="rect">
            <a:avLst/>
          </a:prstGeom>
          <a:noFill/>
          <a:ln/>
        </p:spPr>
        <p:txBody>
          <a:bodyPr wrap="square" lIns="0" tIns="255143" rIns="0" bIns="0" rtlCol="0" anchor="t">
            <a:spAutoFit/>
          </a:bodyPr>
          <a:lstStyle/>
          <a:p>
            <a:pPr algn="ctr" indent="0" marL="0">
              <a:lnSpc>
                <a:spcPts val="1800"/>
              </a:lnSpc>
              <a:buNone/>
            </a:pPr>
            <a:r>
              <a:rPr lang="en-US" sz="987" b="1" i="1" dirty="0">
                <a:solidFill>
                  <a:srgbClr val="38BDF8"/>
                </a:solidFill>
                <a:latin typeface="Inter" pitchFamily="34" charset="0"/>
                <a:ea typeface="Inter" pitchFamily="34" charset="-122"/>
                <a:cs typeface="Inter" pitchFamily="34" charset="-120"/>
              </a:rPr>
              <a:t>"Je n'ai pas créé un chatbot. J'ai créé un commercial qui ne dort jamais, ne se fatigue pas, et répond à 50 appels d'offres pendant que vous dormez."</a:t>
            </a:r>
            <a:endParaRPr lang="en-US" sz="98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572000" cy="5143500"/>
          </a:xfrm>
          <a:prstGeom prst="rect">
            <a:avLst/>
          </a:prstGeom>
          <a:solidFill>
            <a:srgbClr val="000000">
              <a:alpha val="0"/>
            </a:srgbClr>
          </a:solidFill>
          <a:ln/>
        </p:spPr>
      </p:sp>
      <p:sp>
        <p:nvSpPr>
          <p:cNvPr id="5" name="Shape 1"/>
          <p:cNvSpPr/>
          <p:nvPr/>
        </p:nvSpPr>
        <p:spPr>
          <a:xfrm>
            <a:off x="4564856" y="0"/>
            <a:ext cx="7144" cy="5143500"/>
          </a:xfrm>
          <a:prstGeom prst="rect">
            <a:avLst/>
          </a:prstGeom>
          <a:solidFill>
            <a:srgbClr val="EBF8FE"/>
          </a:solidFill>
          <a:ln/>
        </p:spPr>
      </p:sp>
      <p:sp>
        <p:nvSpPr>
          <p:cNvPr id="6" name="Text 2"/>
          <p:cNvSpPr/>
          <p:nvPr/>
        </p:nvSpPr>
        <p:spPr>
          <a:xfrm>
            <a:off x="428625" y="571500"/>
            <a:ext cx="3714750" cy="2743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latin typeface="Inter" pitchFamily="34" charset="0"/>
                <a:ea typeface="Inter" pitchFamily="34" charset="-122"/>
                <a:cs typeface="Inter" pitchFamily="34" charset="-120"/>
              </a:rPr>
              <a:t>Investissement Public Record</a:t>
            </a:r>
            <a:endParaRPr lang="en-US" sz="1602" dirty="0"/>
          </a:p>
        </p:txBody>
      </p:sp>
      <p:sp>
        <p:nvSpPr>
          <p:cNvPr id="7" name="Text 3"/>
          <p:cNvSpPr/>
          <p:nvPr/>
        </p:nvSpPr>
        <p:spPr>
          <a:xfrm>
            <a:off x="428625" y="1131559"/>
            <a:ext cx="3714750" cy="571500"/>
          </a:xfrm>
          <a:prstGeom prst="rect">
            <a:avLst/>
          </a:prstGeom>
          <a:noFill/>
          <a:ln/>
        </p:spPr>
        <p:txBody>
          <a:bodyPr wrap="none" lIns="0" tIns="0" rIns="0" bIns="0" rtlCol="0" anchor="t">
            <a:spAutoFit/>
          </a:bodyPr>
          <a:lstStyle/>
          <a:p>
            <a:pPr algn="l" indent="0" marL="0">
              <a:lnSpc>
                <a:spcPts val="4500"/>
              </a:lnSpc>
              <a:buNone/>
            </a:pPr>
            <a:r>
              <a:rPr lang="en-US" sz="4145" b="1" dirty="0">
                <a:solidFill>
                  <a:srgbClr val="38BDF8"/>
                </a:solidFill>
                <a:latin typeface="Inter" pitchFamily="34" charset="0"/>
                <a:ea typeface="Inter" pitchFamily="34" charset="-122"/>
                <a:cs typeface="Inter" pitchFamily="34" charset="-120"/>
              </a:rPr>
              <a:t>335 MMDH</a:t>
            </a:r>
            <a:endParaRPr lang="en-US" sz="4145" dirty="0"/>
          </a:p>
        </p:txBody>
      </p:sp>
      <p:sp>
        <p:nvSpPr>
          <p:cNvPr id="8" name="Text 4"/>
          <p:cNvSpPr/>
          <p:nvPr/>
        </p:nvSpPr>
        <p:spPr>
          <a:xfrm>
            <a:off x="428625" y="1774496"/>
            <a:ext cx="3714750" cy="132159"/>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94A3B8"/>
                </a:solidFill>
                <a:latin typeface="JetBrains Mono" pitchFamily="34" charset="0"/>
                <a:ea typeface="JetBrains Mono" pitchFamily="34" charset="-122"/>
                <a:cs typeface="JetBrains Mono" pitchFamily="34" charset="-120"/>
              </a:rPr>
              <a:t>VOLUME D'INVESTISSEMENT PUBLIC (2024)</a:t>
            </a:r>
            <a:endParaRPr lang="en-US" sz="727" dirty="0"/>
          </a:p>
        </p:txBody>
      </p:sp>
      <p:sp>
        <p:nvSpPr>
          <p:cNvPr id="9" name="Text 5"/>
          <p:cNvSpPr/>
          <p:nvPr/>
        </p:nvSpPr>
        <p:spPr>
          <a:xfrm>
            <a:off x="428625" y="2335281"/>
            <a:ext cx="1814178" cy="223242"/>
          </a:xfrm>
          <a:prstGeom prst="rect">
            <a:avLst/>
          </a:prstGeom>
          <a:noFill/>
          <a:ln/>
        </p:spPr>
        <p:txBody>
          <a:bodyPr wrap="square" lIns="0" tIns="0" rIns="0" bIns="127508" rtlCol="0" anchor="ctr">
            <a:spAutoFit/>
          </a:bodyPr>
          <a:lstStyle/>
          <a:p>
            <a:pPr algn="l" indent="0" marL="0">
              <a:lnSpc>
                <a:spcPts val="800"/>
              </a:lnSpc>
              <a:buNone/>
            </a:pPr>
            <a:r>
              <a:rPr lang="en-US" sz="584" b="1" spc="1" kern="0" dirty="0">
                <a:solidFill>
                  <a:srgbClr val="38BDF8"/>
                </a:solidFill>
                <a:latin typeface="JetBrains Mono" pitchFamily="34" charset="0"/>
                <a:ea typeface="JetBrains Mono" pitchFamily="34" charset="-122"/>
                <a:cs typeface="JetBrains Mono" pitchFamily="34" charset="-120"/>
              </a:rPr>
              <a:t>SOURCE DE FINANCEMENT</a:t>
            </a:r>
            <a:endParaRPr lang="en-US" sz="584" dirty="0"/>
          </a:p>
        </p:txBody>
      </p:sp>
      <p:sp>
        <p:nvSpPr>
          <p:cNvPr id="10" name="Text 6"/>
          <p:cNvSpPr/>
          <p:nvPr/>
        </p:nvSpPr>
        <p:spPr>
          <a:xfrm>
            <a:off x="2242803" y="2335281"/>
            <a:ext cx="1209442" cy="223242"/>
          </a:xfrm>
          <a:prstGeom prst="rect">
            <a:avLst/>
          </a:prstGeom>
          <a:noFill/>
          <a:ln/>
        </p:spPr>
        <p:txBody>
          <a:bodyPr wrap="square" lIns="0" tIns="0" rIns="0" bIns="127508" rtlCol="0" anchor="ctr">
            <a:spAutoFit/>
          </a:bodyPr>
          <a:lstStyle/>
          <a:p>
            <a:pPr algn="l" indent="0" marL="0">
              <a:lnSpc>
                <a:spcPts val="800"/>
              </a:lnSpc>
              <a:buNone/>
            </a:pPr>
            <a:r>
              <a:rPr lang="en-US" sz="584" b="1" spc="1" kern="0" dirty="0">
                <a:solidFill>
                  <a:srgbClr val="38BDF8"/>
                </a:solidFill>
                <a:latin typeface="JetBrains Mono" pitchFamily="34" charset="0"/>
                <a:ea typeface="JetBrains Mono" pitchFamily="34" charset="-122"/>
                <a:cs typeface="JetBrains Mono" pitchFamily="34" charset="-120"/>
              </a:rPr>
              <a:t>MONTANT (MMDH)</a:t>
            </a:r>
            <a:endParaRPr lang="en-US" sz="584" dirty="0"/>
          </a:p>
        </p:txBody>
      </p:sp>
      <p:sp>
        <p:nvSpPr>
          <p:cNvPr id="11" name="Text 7"/>
          <p:cNvSpPr/>
          <p:nvPr/>
        </p:nvSpPr>
        <p:spPr>
          <a:xfrm>
            <a:off x="3452245" y="2335281"/>
            <a:ext cx="691130" cy="223242"/>
          </a:xfrm>
          <a:prstGeom prst="rect">
            <a:avLst/>
          </a:prstGeom>
          <a:noFill/>
          <a:ln/>
        </p:spPr>
        <p:txBody>
          <a:bodyPr wrap="square" lIns="0" tIns="0" rIns="0" bIns="127508" rtlCol="0" anchor="ctr">
            <a:spAutoFit/>
          </a:bodyPr>
          <a:lstStyle/>
          <a:p>
            <a:pPr algn="l" indent="0" marL="0">
              <a:lnSpc>
                <a:spcPts val="800"/>
              </a:lnSpc>
              <a:buNone/>
            </a:pPr>
            <a:r>
              <a:rPr lang="en-US" sz="584" b="1" spc="1" kern="0" dirty="0">
                <a:solidFill>
                  <a:srgbClr val="38BDF8"/>
                </a:solidFill>
                <a:latin typeface="JetBrains Mono" pitchFamily="34" charset="0"/>
                <a:ea typeface="JetBrains Mono" pitchFamily="34" charset="-122"/>
                <a:cs typeface="JetBrains Mono" pitchFamily="34" charset="-120"/>
              </a:rPr>
              <a:t>PART (%)</a:t>
            </a:r>
            <a:endParaRPr lang="en-US" sz="584" dirty="0"/>
          </a:p>
        </p:txBody>
      </p:sp>
      <p:sp>
        <p:nvSpPr>
          <p:cNvPr id="12" name="Text 8"/>
          <p:cNvSpPr/>
          <p:nvPr/>
        </p:nvSpPr>
        <p:spPr>
          <a:xfrm>
            <a:off x="428625" y="2558523"/>
            <a:ext cx="1814178" cy="291108"/>
          </a:xfrm>
          <a:prstGeom prst="rect">
            <a:avLst/>
          </a:prstGeom>
          <a:noFill/>
          <a:ln/>
        </p:spPr>
        <p:txBody>
          <a:bodyPr wrap="square" lIns="0" tIns="102108" rIns="0" bIns="102108" rtlCol="0" anchor="ctr">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EEP</a:t>
            </a:r>
            <a:endParaRPr lang="en-US" sz="584" dirty="0"/>
          </a:p>
        </p:txBody>
      </p:sp>
      <p:sp>
        <p:nvSpPr>
          <p:cNvPr id="13" name="Text 9"/>
          <p:cNvSpPr/>
          <p:nvPr/>
        </p:nvSpPr>
        <p:spPr>
          <a:xfrm>
            <a:off x="2242803" y="2558523"/>
            <a:ext cx="1209442"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152</a:t>
            </a:r>
            <a:endParaRPr lang="en-US" sz="621" dirty="0"/>
          </a:p>
        </p:txBody>
      </p:sp>
      <p:sp>
        <p:nvSpPr>
          <p:cNvPr id="14" name="Text 10"/>
          <p:cNvSpPr/>
          <p:nvPr/>
        </p:nvSpPr>
        <p:spPr>
          <a:xfrm>
            <a:off x="3452245" y="2558523"/>
            <a:ext cx="691130"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45,4%</a:t>
            </a:r>
            <a:endParaRPr lang="en-US" sz="621" dirty="0"/>
          </a:p>
        </p:txBody>
      </p:sp>
      <p:sp>
        <p:nvSpPr>
          <p:cNvPr id="15" name="Text 11"/>
          <p:cNvSpPr/>
          <p:nvPr/>
        </p:nvSpPr>
        <p:spPr>
          <a:xfrm>
            <a:off x="428625" y="2849631"/>
            <a:ext cx="1814178" cy="291108"/>
          </a:xfrm>
          <a:prstGeom prst="rect">
            <a:avLst/>
          </a:prstGeom>
          <a:noFill/>
          <a:ln/>
        </p:spPr>
        <p:txBody>
          <a:bodyPr wrap="square" lIns="0" tIns="102108" rIns="0" bIns="102108" rtlCol="0" anchor="ctr">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Budget de l'État</a:t>
            </a:r>
            <a:endParaRPr lang="en-US" sz="584" dirty="0"/>
          </a:p>
        </p:txBody>
      </p:sp>
      <p:sp>
        <p:nvSpPr>
          <p:cNvPr id="16" name="Text 12"/>
          <p:cNvSpPr/>
          <p:nvPr/>
        </p:nvSpPr>
        <p:spPr>
          <a:xfrm>
            <a:off x="2242803" y="2849631"/>
            <a:ext cx="1209442"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103</a:t>
            </a:r>
            <a:endParaRPr lang="en-US" sz="621" dirty="0"/>
          </a:p>
        </p:txBody>
      </p:sp>
      <p:sp>
        <p:nvSpPr>
          <p:cNvPr id="17" name="Text 13"/>
          <p:cNvSpPr/>
          <p:nvPr/>
        </p:nvSpPr>
        <p:spPr>
          <a:xfrm>
            <a:off x="3452245" y="2849631"/>
            <a:ext cx="691130"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30,7%</a:t>
            </a:r>
            <a:endParaRPr lang="en-US" sz="621" dirty="0"/>
          </a:p>
        </p:txBody>
      </p:sp>
      <p:sp>
        <p:nvSpPr>
          <p:cNvPr id="18" name="Text 14"/>
          <p:cNvSpPr/>
          <p:nvPr/>
        </p:nvSpPr>
        <p:spPr>
          <a:xfrm>
            <a:off x="428625" y="3140739"/>
            <a:ext cx="1814178" cy="291108"/>
          </a:xfrm>
          <a:prstGeom prst="rect">
            <a:avLst/>
          </a:prstGeom>
          <a:noFill/>
          <a:ln/>
        </p:spPr>
        <p:txBody>
          <a:bodyPr wrap="square" lIns="0" tIns="102108" rIns="0" bIns="102108" rtlCol="0" anchor="ctr">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Fonds Mohammed VI</a:t>
            </a:r>
            <a:endParaRPr lang="en-US" sz="584" dirty="0"/>
          </a:p>
        </p:txBody>
      </p:sp>
      <p:sp>
        <p:nvSpPr>
          <p:cNvPr id="19" name="Text 15"/>
          <p:cNvSpPr/>
          <p:nvPr/>
        </p:nvSpPr>
        <p:spPr>
          <a:xfrm>
            <a:off x="2242803" y="3140739"/>
            <a:ext cx="1209442"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45</a:t>
            </a:r>
            <a:endParaRPr lang="en-US" sz="621" dirty="0"/>
          </a:p>
        </p:txBody>
      </p:sp>
      <p:sp>
        <p:nvSpPr>
          <p:cNvPr id="20" name="Text 16"/>
          <p:cNvSpPr/>
          <p:nvPr/>
        </p:nvSpPr>
        <p:spPr>
          <a:xfrm>
            <a:off x="3452245" y="3140739"/>
            <a:ext cx="691130"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13,4%</a:t>
            </a:r>
            <a:endParaRPr lang="en-US" sz="621" dirty="0"/>
          </a:p>
        </p:txBody>
      </p:sp>
      <p:sp>
        <p:nvSpPr>
          <p:cNvPr id="21" name="Text 17"/>
          <p:cNvSpPr/>
          <p:nvPr/>
        </p:nvSpPr>
        <p:spPr>
          <a:xfrm>
            <a:off x="428625" y="3431846"/>
            <a:ext cx="1814178" cy="291108"/>
          </a:xfrm>
          <a:prstGeom prst="rect">
            <a:avLst/>
          </a:prstGeom>
          <a:noFill/>
          <a:ln/>
        </p:spPr>
        <p:txBody>
          <a:bodyPr wrap="square" lIns="0" tIns="102108" rIns="0" bIns="102108" rtlCol="0" anchor="ctr">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Collectivités</a:t>
            </a:r>
            <a:endParaRPr lang="en-US" sz="584" dirty="0"/>
          </a:p>
        </p:txBody>
      </p:sp>
      <p:sp>
        <p:nvSpPr>
          <p:cNvPr id="22" name="Text 18"/>
          <p:cNvSpPr/>
          <p:nvPr/>
        </p:nvSpPr>
        <p:spPr>
          <a:xfrm>
            <a:off x="2242803" y="3431846"/>
            <a:ext cx="1209442"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20</a:t>
            </a:r>
            <a:endParaRPr lang="en-US" sz="621" dirty="0"/>
          </a:p>
        </p:txBody>
      </p:sp>
      <p:sp>
        <p:nvSpPr>
          <p:cNvPr id="23" name="Text 19"/>
          <p:cNvSpPr/>
          <p:nvPr/>
        </p:nvSpPr>
        <p:spPr>
          <a:xfrm>
            <a:off x="3452245" y="3431846"/>
            <a:ext cx="691130" cy="291108"/>
          </a:xfrm>
          <a:prstGeom prst="rect">
            <a:avLst/>
          </a:prstGeom>
          <a:noFill/>
          <a:ln/>
        </p:spPr>
        <p:txBody>
          <a:bodyPr wrap="square" lIns="0" tIns="102108" rIns="0" bIns="102108" rtlCol="0" anchor="ctr">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6,0%</a:t>
            </a:r>
            <a:endParaRPr lang="en-US" sz="621" dirty="0"/>
          </a:p>
        </p:txBody>
      </p:sp>
      <p:sp>
        <p:nvSpPr>
          <p:cNvPr id="24" name="Shape 20"/>
          <p:cNvSpPr/>
          <p:nvPr/>
        </p:nvSpPr>
        <p:spPr>
          <a:xfrm>
            <a:off x="4572000" y="0"/>
            <a:ext cx="4572000" cy="5143500"/>
          </a:xfrm>
          <a:prstGeom prst="rect">
            <a:avLst/>
          </a:prstGeom>
          <a:solidFill>
            <a:srgbClr val="1E293B">
              <a:alpha val="20000"/>
            </a:srgbClr>
          </a:solidFill>
          <a:ln/>
        </p:spPr>
      </p:sp>
      <p:sp>
        <p:nvSpPr>
          <p:cNvPr id="25" name="Text 21"/>
          <p:cNvSpPr/>
          <p:nvPr/>
        </p:nvSpPr>
        <p:spPr>
          <a:xfrm>
            <a:off x="5000625" y="571500"/>
            <a:ext cx="3714750" cy="132159"/>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38BDF8"/>
                </a:solidFill>
                <a:latin typeface="JetBrains Mono" pitchFamily="34" charset="0"/>
                <a:ea typeface="JetBrains Mono" pitchFamily="34" charset="-122"/>
                <a:cs typeface="JetBrains Mono" pitchFamily="34" charset="-120"/>
              </a:rPr>
              <a:t>DYNAMIQUES DU MARCHÉ</a:t>
            </a:r>
            <a:endParaRPr lang="en-US" sz="683" dirty="0"/>
          </a:p>
        </p:txBody>
      </p:sp>
      <p:sp>
        <p:nvSpPr>
          <p:cNvPr id="26" name="Text 22"/>
          <p:cNvSpPr/>
          <p:nvPr/>
        </p:nvSpPr>
        <p:spPr>
          <a:xfrm>
            <a:off x="5157788" y="846534"/>
            <a:ext cx="3557588"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Percée des PME (35%)</a:t>
            </a:r>
            <a:endParaRPr lang="en-US" sz="885" dirty="0"/>
          </a:p>
        </p:txBody>
      </p:sp>
      <p:sp>
        <p:nvSpPr>
          <p:cNvPr id="27" name="Text 23"/>
          <p:cNvSpPr/>
          <p:nvPr/>
        </p:nvSpPr>
        <p:spPr>
          <a:xfrm>
            <a:off x="5157788" y="1037630"/>
            <a:ext cx="3557588"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Dépassement de l'objectif légal de 30% en 2023.</a:t>
            </a:r>
            <a:endParaRPr lang="en-US" sz="727" dirty="0"/>
          </a:p>
        </p:txBody>
      </p:sp>
      <p:sp>
        <p:nvSpPr>
          <p:cNvPr id="28" name="Text 24"/>
          <p:cNvSpPr/>
          <p:nvPr/>
        </p:nvSpPr>
        <p:spPr>
          <a:xfrm>
            <a:off x="5157788" y="1320505"/>
            <a:ext cx="3557588"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20 000+ Appels d'Offres</a:t>
            </a:r>
            <a:endParaRPr lang="en-US" sz="885" dirty="0"/>
          </a:p>
        </p:txBody>
      </p:sp>
      <p:sp>
        <p:nvSpPr>
          <p:cNvPr id="29" name="Text 25"/>
          <p:cNvSpPr/>
          <p:nvPr/>
        </p:nvSpPr>
        <p:spPr>
          <a:xfrm>
            <a:off x="5157788" y="1511601"/>
            <a:ext cx="3557588"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Publiés annuellement via le Portail Marocain (PMMP).</a:t>
            </a:r>
            <a:endParaRPr lang="en-US" sz="727" dirty="0"/>
          </a:p>
        </p:txBody>
      </p:sp>
      <p:sp>
        <p:nvSpPr>
          <p:cNvPr id="30" name="Text 26"/>
          <p:cNvSpPr/>
          <p:nvPr/>
        </p:nvSpPr>
        <p:spPr>
          <a:xfrm>
            <a:off x="5000625" y="2080227"/>
            <a:ext cx="3714750" cy="132159"/>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38BDF8"/>
                </a:solidFill>
                <a:latin typeface="JetBrains Mono" pitchFamily="34" charset="0"/>
                <a:ea typeface="JetBrains Mono" pitchFamily="34" charset="-122"/>
                <a:cs typeface="JetBrains Mono" pitchFamily="34" charset="-120"/>
              </a:rPr>
              <a:t>EFFICACITÉ &amp; MODERNISATION</a:t>
            </a:r>
            <a:endParaRPr lang="en-US" sz="683" dirty="0"/>
          </a:p>
        </p:txBody>
      </p:sp>
      <p:sp>
        <p:nvSpPr>
          <p:cNvPr id="31" name="Text 27"/>
          <p:cNvSpPr/>
          <p:nvPr/>
        </p:nvSpPr>
        <p:spPr>
          <a:xfrm>
            <a:off x="5157788" y="2355261"/>
            <a:ext cx="3557588"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Délais de paiement : 17,5 jours</a:t>
            </a:r>
            <a:endParaRPr lang="en-US" sz="885" dirty="0"/>
          </a:p>
        </p:txBody>
      </p:sp>
      <p:sp>
        <p:nvSpPr>
          <p:cNvPr id="32" name="Text 28"/>
          <p:cNvSpPr/>
          <p:nvPr/>
        </p:nvSpPr>
        <p:spPr>
          <a:xfrm>
            <a:off x="5157788" y="2546356"/>
            <a:ext cx="3557588"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Moyenne record en 2023 pour l'État et les collectivités.</a:t>
            </a:r>
            <a:endParaRPr lang="en-US" sz="727" dirty="0"/>
          </a:p>
        </p:txBody>
      </p:sp>
      <p:sp>
        <p:nvSpPr>
          <p:cNvPr id="33" name="Text 29"/>
          <p:cNvSpPr/>
          <p:nvPr/>
        </p:nvSpPr>
        <p:spPr>
          <a:xfrm>
            <a:off x="5157788" y="2829232"/>
            <a:ext cx="3557588" cy="155377"/>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FFFF"/>
                </a:solidFill>
                <a:latin typeface="Inter" pitchFamily="34" charset="0"/>
                <a:ea typeface="Inter" pitchFamily="34" charset="-122"/>
                <a:cs typeface="Inter" pitchFamily="34" charset="-120"/>
              </a:rPr>
              <a:t>Traitement : 33,9 jours</a:t>
            </a:r>
            <a:endParaRPr lang="en-US" sz="885" dirty="0"/>
          </a:p>
        </p:txBody>
      </p:sp>
      <p:sp>
        <p:nvSpPr>
          <p:cNvPr id="34" name="Text 30"/>
          <p:cNvSpPr/>
          <p:nvPr/>
        </p:nvSpPr>
        <p:spPr>
          <a:xfrm>
            <a:off x="5157788" y="3020327"/>
            <a:ext cx="3557588" cy="14000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94A3B8"/>
                </a:solidFill>
                <a:latin typeface="Inter" pitchFamily="34" charset="0"/>
                <a:ea typeface="Inter" pitchFamily="34" charset="-122"/>
                <a:cs typeface="Inter" pitchFamily="34" charset="-120"/>
              </a:rPr>
              <a:t>Réduction massive grâce à la dématérialisation complète.</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666530" y="786008"/>
            <a:ext cx="1810941" cy="276820"/>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FFFFFF"/>
                </a:solidFill>
                <a:latin typeface="Inter" pitchFamily="34" charset="0"/>
                <a:ea typeface="Inter" pitchFamily="34" charset="-122"/>
                <a:cs typeface="Inter" pitchFamily="34" charset="-120"/>
              </a:rPr>
              <a:t>La Vision OffrIA</a:t>
            </a:r>
            <a:endParaRPr lang="en-US" sz="1602" dirty="0"/>
          </a:p>
        </p:txBody>
      </p:sp>
      <p:sp>
        <p:nvSpPr>
          <p:cNvPr id="5" name="Text 1"/>
          <p:cNvSpPr/>
          <p:nvPr/>
        </p:nvSpPr>
        <p:spPr>
          <a:xfrm>
            <a:off x="1000125" y="1205703"/>
            <a:ext cx="7143750" cy="828675"/>
          </a:xfrm>
          <a:prstGeom prst="rect">
            <a:avLst/>
          </a:prstGeom>
          <a:noFill/>
          <a:ln/>
        </p:spPr>
        <p:txBody>
          <a:bodyPr wrap="square" lIns="0" tIns="0" rIns="0" bIns="0" rtlCol="0" anchor="t">
            <a:spAutoFit/>
          </a:bodyPr>
          <a:lstStyle/>
          <a:p>
            <a:pPr algn="ctr" indent="0" marL="0">
              <a:lnSpc>
                <a:spcPts val="3200"/>
              </a:lnSpc>
              <a:buNone/>
            </a:pPr>
            <a:r>
              <a:rPr lang="en-US" sz="2436" b="1" dirty="0">
                <a:solidFill>
                  <a:srgbClr val="38BDF8"/>
                </a:solidFill>
                <a:latin typeface="Inter" pitchFamily="34" charset="0"/>
                <a:ea typeface="Inter" pitchFamily="34" charset="-122"/>
                <a:cs typeface="Inter" pitchFamily="34" charset="-120"/>
              </a:rPr>
              <a:t>Transformer </a:t>
            </a:r>
            <a:pPr algn="ctr" indent="0" marL="0">
              <a:lnSpc>
                <a:spcPts val="3200"/>
              </a:lnSpc>
              <a:buNone/>
            </a:pPr>
            <a:r>
              <a:rPr lang="en-US" sz="2436" b="1" dirty="0">
                <a:solidFill>
                  <a:srgbClr val="38BDF8"/>
                </a:solidFill>
                <a:latin typeface="Inter" pitchFamily="34" charset="0"/>
                <a:ea typeface="Inter" pitchFamily="34" charset="-122"/>
                <a:cs typeface="Inter" pitchFamily="34" charset="-120"/>
              </a:rPr>
              <a:t>38 heures</a:t>
            </a:r>
            <a:pPr algn="ctr" indent="0" marL="0">
              <a:lnSpc>
                <a:spcPts val="3200"/>
              </a:lnSpc>
              <a:buNone/>
            </a:pPr>
            <a:r>
              <a:rPr lang="en-US" sz="2436" b="1" dirty="0">
                <a:solidFill>
                  <a:srgbClr val="38BDF8"/>
                </a:solidFill>
                <a:latin typeface="Inter" pitchFamily="34" charset="0"/>
                <a:ea typeface="Inter" pitchFamily="34" charset="-122"/>
                <a:cs typeface="Inter" pitchFamily="34" charset="-120"/>
              </a:rPr>
              <a:t> de travail en moins </a:t>
            </a:r>
            <a:pPr algn="ctr" indent="0" marL="0">
              <a:lnSpc>
                <a:spcPts val="3200"/>
              </a:lnSpc>
              <a:buNone/>
            </a:pPr>
            <a:r>
              <a:rPr lang="en-US" sz="2436" b="1" dirty="0">
                <a:solidFill>
                  <a:srgbClr val="38BDF8"/>
                </a:solidFill>
                <a:latin typeface="Inter" pitchFamily="34" charset="0"/>
                <a:ea typeface="Inter" pitchFamily="34" charset="-122"/>
                <a:cs typeface="Inter" pitchFamily="34" charset="-120"/>
              </a:rPr>
              <a:t>de </a:t>
            </a:r>
            <a:pPr algn="ctr" indent="0" marL="0">
              <a:lnSpc>
                <a:spcPts val="3200"/>
              </a:lnSpc>
              <a:buNone/>
            </a:pPr>
            <a:r>
              <a:rPr lang="en-US" sz="2436" b="1" dirty="0">
                <a:solidFill>
                  <a:srgbClr val="38BDF8"/>
                </a:solidFill>
                <a:latin typeface="Inter" pitchFamily="34" charset="0"/>
                <a:ea typeface="Inter" pitchFamily="34" charset="-122"/>
                <a:cs typeface="Inter" pitchFamily="34" charset="-120"/>
              </a:rPr>
              <a:t>2 minutes</a:t>
            </a:r>
            <a:pPr algn="ctr" indent="0" marL="0">
              <a:lnSpc>
                <a:spcPts val="3200"/>
              </a:lnSpc>
              <a:buNone/>
            </a:pPr>
            <a:r>
              <a:rPr lang="en-US" sz="2436" b="1" dirty="0">
                <a:solidFill>
                  <a:srgbClr val="38BDF8"/>
                </a:solidFill>
                <a:latin typeface="Inter" pitchFamily="34" charset="0"/>
                <a:ea typeface="Inter" pitchFamily="34" charset="-122"/>
                <a:cs typeface="Inter" pitchFamily="34" charset="-120"/>
              </a:rPr>
              <a:t>.</a:t>
            </a:r>
            <a:endParaRPr lang="en-US" sz="2436" dirty="0"/>
          </a:p>
        </p:txBody>
      </p:sp>
      <p:sp>
        <p:nvSpPr>
          <p:cNvPr id="6" name="Shape 2"/>
          <p:cNvSpPr/>
          <p:nvPr/>
        </p:nvSpPr>
        <p:spPr>
          <a:xfrm>
            <a:off x="752773" y="2613022"/>
            <a:ext cx="2000250" cy="800100"/>
          </a:xfrm>
          <a:prstGeom prst="rect">
            <a:avLst/>
          </a:prstGeom>
          <a:solidFill>
            <a:srgbClr val="1E293B">
              <a:alpha val="50000"/>
            </a:srgbClr>
          </a:solidFill>
          <a:ln w="9144">
            <a:solidFill>
              <a:srgbClr val="38BDF8">
                <a:alpha val="20000"/>
              </a:srgbClr>
            </a:solidFill>
            <a:prstDash val="solid"/>
          </a:ln>
        </p:spPr>
      </p:sp>
      <p:sp>
        <p:nvSpPr>
          <p:cNvPr id="7" name="Text 3"/>
          <p:cNvSpPr/>
          <p:nvPr/>
        </p:nvSpPr>
        <p:spPr>
          <a:xfrm>
            <a:off x="1038523" y="2834478"/>
            <a:ext cx="1428750" cy="112514"/>
          </a:xfrm>
          <a:prstGeom prst="rect">
            <a:avLst/>
          </a:prstGeom>
          <a:noFill/>
          <a:ln/>
        </p:spPr>
        <p:txBody>
          <a:bodyPr wrap="none" lIns="0" tIns="0" rIns="0" bIns="0" rtlCol="0" anchor="t">
            <a:spAutoFit/>
          </a:bodyPr>
          <a:lstStyle/>
          <a:p>
            <a:pPr algn="ctr" indent="0" marL="0">
              <a:lnSpc>
                <a:spcPts val="800"/>
              </a:lnSpc>
              <a:buNone/>
            </a:pPr>
            <a:r>
              <a:rPr lang="en-US" sz="621" spc="2" kern="0" dirty="0">
                <a:solidFill>
                  <a:srgbClr val="38BDF8"/>
                </a:solidFill>
                <a:latin typeface="JetBrains Mono" pitchFamily="34" charset="0"/>
                <a:ea typeface="JetBrains Mono" pitchFamily="34" charset="-122"/>
                <a:cs typeface="JetBrains Mono" pitchFamily="34" charset="-120"/>
              </a:rPr>
              <a:t>ENTRÉE</a:t>
            </a:r>
            <a:endParaRPr lang="en-US" sz="621" dirty="0"/>
          </a:p>
        </p:txBody>
      </p:sp>
      <p:sp>
        <p:nvSpPr>
          <p:cNvPr id="8" name="Text 4"/>
          <p:cNvSpPr/>
          <p:nvPr/>
        </p:nvSpPr>
        <p:spPr>
          <a:xfrm>
            <a:off x="1038523" y="3018430"/>
            <a:ext cx="1428750"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FFFFF"/>
                </a:solidFill>
                <a:latin typeface="Inter" pitchFamily="34" charset="0"/>
                <a:ea typeface="Inter" pitchFamily="34" charset="-122"/>
                <a:cs typeface="Inter" pitchFamily="34" charset="-120"/>
              </a:rPr>
              <a:t>Appel d'offres PDF</a:t>
            </a:r>
            <a:endParaRPr lang="en-US" sz="987" dirty="0"/>
          </a:p>
        </p:txBody>
      </p:sp>
      <p:sp>
        <p:nvSpPr>
          <p:cNvPr id="9" name="Text 5"/>
          <p:cNvSpPr/>
          <p:nvPr/>
        </p:nvSpPr>
        <p:spPr>
          <a:xfrm>
            <a:off x="3038773" y="2874662"/>
            <a:ext cx="228600" cy="276820"/>
          </a:xfrm>
          <a:prstGeom prst="rect">
            <a:avLst/>
          </a:prstGeom>
          <a:noFill/>
          <a:ln/>
        </p:spPr>
        <p:txBody>
          <a:bodyPr wrap="none" lIns="0" tIns="0" rIns="0" bIns="0" rtlCol="0" anchor="t">
            <a:spAutoFit/>
          </a:bodyPr>
          <a:lstStyle/>
          <a:p>
            <a:pPr algn="l" indent="0" marL="0">
              <a:lnSpc>
                <a:spcPts val="2200"/>
              </a:lnSpc>
              <a:buNone/>
            </a:pPr>
            <a:r>
              <a:rPr lang="en-US" sz="1704" dirty="0">
                <a:solidFill>
                  <a:srgbClr val="38BDF8"/>
                </a:solidFill>
                <a:latin typeface="Inter" pitchFamily="34" charset="0"/>
                <a:ea typeface="Inter" pitchFamily="34" charset="-122"/>
                <a:cs typeface="Inter" pitchFamily="34" charset="-120"/>
              </a:rPr>
              <a:t>→</a:t>
            </a:r>
            <a:endParaRPr lang="en-US" sz="1704" dirty="0"/>
          </a:p>
        </p:txBody>
      </p:sp>
      <p:sp>
        <p:nvSpPr>
          <p:cNvPr id="10" name="Shape 6"/>
          <p:cNvSpPr/>
          <p:nvPr/>
        </p:nvSpPr>
        <p:spPr>
          <a:xfrm>
            <a:off x="3553123" y="2605878"/>
            <a:ext cx="2037755" cy="814388"/>
          </a:xfrm>
          <a:prstGeom prst="rect">
            <a:avLst/>
          </a:prstGeom>
          <a:solidFill>
            <a:srgbClr val="38BDF8">
              <a:alpha val="5000"/>
            </a:srgbClr>
          </a:solidFill>
          <a:ln w="18288">
            <a:solidFill>
              <a:srgbClr val="38BDF8"/>
            </a:solidFill>
            <a:prstDash val="solid"/>
          </a:ln>
        </p:spPr>
      </p:sp>
      <p:sp>
        <p:nvSpPr>
          <p:cNvPr id="11" name="Text 7"/>
          <p:cNvSpPr/>
          <p:nvPr/>
        </p:nvSpPr>
        <p:spPr>
          <a:xfrm>
            <a:off x="3853160" y="2834478"/>
            <a:ext cx="1437680" cy="112514"/>
          </a:xfrm>
          <a:prstGeom prst="rect">
            <a:avLst/>
          </a:prstGeom>
          <a:noFill/>
          <a:ln/>
        </p:spPr>
        <p:txBody>
          <a:bodyPr wrap="none" lIns="0" tIns="0" rIns="0" bIns="0" rtlCol="0" anchor="t">
            <a:spAutoFit/>
          </a:bodyPr>
          <a:lstStyle/>
          <a:p>
            <a:pPr algn="ctr" indent="0" marL="0">
              <a:lnSpc>
                <a:spcPts val="800"/>
              </a:lnSpc>
              <a:buNone/>
            </a:pPr>
            <a:r>
              <a:rPr lang="en-US" sz="621" spc="2" kern="0" dirty="0">
                <a:solidFill>
                  <a:srgbClr val="38BDF8"/>
                </a:solidFill>
                <a:latin typeface="JetBrains Mono" pitchFamily="34" charset="0"/>
                <a:ea typeface="JetBrains Mono" pitchFamily="34" charset="-122"/>
                <a:cs typeface="JetBrains Mono" pitchFamily="34" charset="-120"/>
              </a:rPr>
              <a:t>TRAITEMENT IA</a:t>
            </a:r>
            <a:endParaRPr lang="en-US" sz="621" dirty="0"/>
          </a:p>
        </p:txBody>
      </p:sp>
      <p:sp>
        <p:nvSpPr>
          <p:cNvPr id="12" name="Text 8"/>
          <p:cNvSpPr/>
          <p:nvPr/>
        </p:nvSpPr>
        <p:spPr>
          <a:xfrm>
            <a:off x="3853160" y="3018430"/>
            <a:ext cx="1437680"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FFFFF"/>
                </a:solidFill>
                <a:latin typeface="Inter" pitchFamily="34" charset="0"/>
                <a:ea typeface="Inter" pitchFamily="34" charset="-122"/>
                <a:cs typeface="Inter" pitchFamily="34" charset="-120"/>
              </a:rPr>
              <a:t>Analyse &amp; Rédaction</a:t>
            </a:r>
            <a:endParaRPr lang="en-US" sz="987" dirty="0"/>
          </a:p>
        </p:txBody>
      </p:sp>
      <p:sp>
        <p:nvSpPr>
          <p:cNvPr id="13" name="Text 9"/>
          <p:cNvSpPr/>
          <p:nvPr/>
        </p:nvSpPr>
        <p:spPr>
          <a:xfrm>
            <a:off x="5862340" y="2874662"/>
            <a:ext cx="228600" cy="276820"/>
          </a:xfrm>
          <a:prstGeom prst="rect">
            <a:avLst/>
          </a:prstGeom>
          <a:noFill/>
          <a:ln/>
        </p:spPr>
        <p:txBody>
          <a:bodyPr wrap="none" lIns="0" tIns="0" rIns="0" bIns="0" rtlCol="0" anchor="t">
            <a:spAutoFit/>
          </a:bodyPr>
          <a:lstStyle/>
          <a:p>
            <a:pPr algn="l" indent="0" marL="0">
              <a:lnSpc>
                <a:spcPts val="2200"/>
              </a:lnSpc>
              <a:buNone/>
            </a:pPr>
            <a:r>
              <a:rPr lang="en-US" sz="1704" dirty="0">
                <a:solidFill>
                  <a:srgbClr val="38BDF8"/>
                </a:solidFill>
                <a:latin typeface="Inter" pitchFamily="34" charset="0"/>
                <a:ea typeface="Inter" pitchFamily="34" charset="-122"/>
                <a:cs typeface="Inter" pitchFamily="34" charset="-120"/>
              </a:rPr>
              <a:t>→</a:t>
            </a:r>
            <a:endParaRPr lang="en-US" sz="1704" dirty="0"/>
          </a:p>
        </p:txBody>
      </p:sp>
      <p:sp>
        <p:nvSpPr>
          <p:cNvPr id="14" name="Shape 10"/>
          <p:cNvSpPr/>
          <p:nvPr/>
        </p:nvSpPr>
        <p:spPr>
          <a:xfrm>
            <a:off x="6376690" y="2613022"/>
            <a:ext cx="2000250" cy="800100"/>
          </a:xfrm>
          <a:prstGeom prst="rect">
            <a:avLst/>
          </a:prstGeom>
          <a:solidFill>
            <a:srgbClr val="1E293B">
              <a:alpha val="50000"/>
            </a:srgbClr>
          </a:solidFill>
          <a:ln w="9144">
            <a:solidFill>
              <a:srgbClr val="38BDF8">
                <a:alpha val="20000"/>
              </a:srgbClr>
            </a:solidFill>
            <a:prstDash val="solid"/>
          </a:ln>
        </p:spPr>
      </p:sp>
      <p:sp>
        <p:nvSpPr>
          <p:cNvPr id="15" name="Text 11"/>
          <p:cNvSpPr/>
          <p:nvPr/>
        </p:nvSpPr>
        <p:spPr>
          <a:xfrm>
            <a:off x="6662440" y="2834478"/>
            <a:ext cx="1428750" cy="112514"/>
          </a:xfrm>
          <a:prstGeom prst="rect">
            <a:avLst/>
          </a:prstGeom>
          <a:noFill/>
          <a:ln/>
        </p:spPr>
        <p:txBody>
          <a:bodyPr wrap="none" lIns="0" tIns="0" rIns="0" bIns="0" rtlCol="0" anchor="t">
            <a:spAutoFit/>
          </a:bodyPr>
          <a:lstStyle/>
          <a:p>
            <a:pPr algn="ctr" indent="0" marL="0">
              <a:lnSpc>
                <a:spcPts val="800"/>
              </a:lnSpc>
              <a:buNone/>
            </a:pPr>
            <a:r>
              <a:rPr lang="en-US" sz="621" spc="2" kern="0" dirty="0">
                <a:solidFill>
                  <a:srgbClr val="38BDF8"/>
                </a:solidFill>
                <a:latin typeface="JetBrains Mono" pitchFamily="34" charset="0"/>
                <a:ea typeface="JetBrains Mono" pitchFamily="34" charset="-122"/>
                <a:cs typeface="JetBrains Mono" pitchFamily="34" charset="-120"/>
              </a:rPr>
              <a:t>SORTIE</a:t>
            </a:r>
            <a:endParaRPr lang="en-US" sz="621" dirty="0"/>
          </a:p>
        </p:txBody>
      </p:sp>
      <p:sp>
        <p:nvSpPr>
          <p:cNvPr id="16" name="Text 12"/>
          <p:cNvSpPr/>
          <p:nvPr/>
        </p:nvSpPr>
        <p:spPr>
          <a:xfrm>
            <a:off x="6662440" y="3018430"/>
            <a:ext cx="1428750" cy="173236"/>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FFFFFF"/>
                </a:solidFill>
                <a:latin typeface="Inter" pitchFamily="34" charset="0"/>
                <a:ea typeface="Inter" pitchFamily="34" charset="-122"/>
                <a:cs typeface="Inter" pitchFamily="34" charset="-120"/>
              </a:rPr>
              <a:t>Réponse Structurée</a:t>
            </a:r>
            <a:endParaRPr lang="en-US" sz="987" dirty="0"/>
          </a:p>
        </p:txBody>
      </p:sp>
      <p:sp>
        <p:nvSpPr>
          <p:cNvPr id="17" name="Text 13"/>
          <p:cNvSpPr/>
          <p:nvPr/>
        </p:nvSpPr>
        <p:spPr>
          <a:xfrm>
            <a:off x="1714500" y="3977478"/>
            <a:ext cx="5715000" cy="365727"/>
          </a:xfrm>
          <a:prstGeom prst="rect">
            <a:avLst/>
          </a:prstGeom>
          <a:noFill/>
          <a:ln/>
        </p:spPr>
        <p:txBody>
          <a:bodyPr wrap="square" lIns="0" tIns="0" rIns="0" bIns="0" rtlCol="0" anchor="t">
            <a:spAutoFit/>
          </a:bodyPr>
          <a:lstStyle/>
          <a:p>
            <a:pPr algn="ctr" indent="0" marL="0">
              <a:lnSpc>
                <a:spcPts val="1400"/>
              </a:lnSpc>
              <a:buNone/>
            </a:pPr>
            <a:r>
              <a:rPr lang="en-US" sz="834" dirty="0">
                <a:solidFill>
                  <a:srgbClr val="64748B"/>
                </a:solidFill>
                <a:latin typeface="JetBrains Mono" pitchFamily="34" charset="0"/>
                <a:ea typeface="JetBrains Mono" pitchFamily="34" charset="-122"/>
                <a:cs typeface="JetBrains Mono" pitchFamily="34" charset="-120"/>
              </a:rPr>
              <a:t>OffrIA analyse le document, identifie les critères clés, et génère une réponse professionnelle, structurée et sur-mesure — en quelques secondes.</a:t>
            </a:r>
            <a:endParaRPr lang="en-US"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572000" cy="5143500"/>
          </a:xfrm>
          <a:prstGeom prst="rect">
            <a:avLst/>
          </a:prstGeom>
          <a:solidFill>
            <a:srgbClr val="000000">
              <a:alpha val="0"/>
            </a:srgbClr>
          </a:solidFill>
          <a:ln/>
        </p:spPr>
      </p:sp>
      <p:sp>
        <p:nvSpPr>
          <p:cNvPr id="5" name="Shape 1"/>
          <p:cNvSpPr/>
          <p:nvPr/>
        </p:nvSpPr>
        <p:spPr>
          <a:xfrm>
            <a:off x="4564856" y="0"/>
            <a:ext cx="7144" cy="5143500"/>
          </a:xfrm>
          <a:prstGeom prst="rect">
            <a:avLst/>
          </a:prstGeom>
          <a:solidFill>
            <a:srgbClr val="EBF8FE"/>
          </a:solidFill>
          <a:ln/>
        </p:spPr>
      </p:sp>
      <p:sp>
        <p:nvSpPr>
          <p:cNvPr id="6" name="Text 2"/>
          <p:cNvSpPr/>
          <p:nvPr/>
        </p:nvSpPr>
        <p:spPr>
          <a:xfrm>
            <a:off x="428625" y="571500"/>
            <a:ext cx="3714750" cy="2743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latin typeface="Inter" pitchFamily="34" charset="0"/>
                <a:ea typeface="Inter" pitchFamily="34" charset="-122"/>
                <a:cs typeface="Inter" pitchFamily="34" charset="-120"/>
              </a:rPr>
              <a:t>Moteur Intelligent &amp; RAG</a:t>
            </a:r>
            <a:endParaRPr lang="en-US" sz="1602" dirty="0"/>
          </a:p>
        </p:txBody>
      </p:sp>
      <p:sp>
        <p:nvSpPr>
          <p:cNvPr id="7" name="Text 3"/>
          <p:cNvSpPr/>
          <p:nvPr/>
        </p:nvSpPr>
        <p:spPr>
          <a:xfrm>
            <a:off x="585788" y="1131559"/>
            <a:ext cx="355758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latin typeface="Inter" pitchFamily="34" charset="0"/>
                <a:ea typeface="Inter" pitchFamily="34" charset="-122"/>
                <a:cs typeface="Inter" pitchFamily="34" charset="-120"/>
              </a:rPr>
              <a:t>Parsing Intelligent</a:t>
            </a:r>
            <a:endParaRPr lang="en-US" sz="987" dirty="0"/>
          </a:p>
        </p:txBody>
      </p:sp>
      <p:sp>
        <p:nvSpPr>
          <p:cNvPr id="8" name="Text 4"/>
          <p:cNvSpPr/>
          <p:nvPr/>
        </p:nvSpPr>
        <p:spPr>
          <a:xfrm>
            <a:off x="585788" y="1340514"/>
            <a:ext cx="3557588"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94A3B8"/>
                </a:solidFill>
                <a:latin typeface="JetBrains Mono" pitchFamily="34" charset="0"/>
                <a:ea typeface="JetBrains Mono" pitchFamily="34" charset="-122"/>
                <a:cs typeface="JetBrains Mono" pitchFamily="34" charset="-120"/>
              </a:rPr>
              <a:t>Extraction automatique du titre, critères, budget et sections de l'AO.</a:t>
            </a:r>
            <a:endParaRPr lang="en-US" sz="727" dirty="0"/>
          </a:p>
        </p:txBody>
      </p:sp>
      <p:sp>
        <p:nvSpPr>
          <p:cNvPr id="9" name="Text 5"/>
          <p:cNvSpPr/>
          <p:nvPr/>
        </p:nvSpPr>
        <p:spPr>
          <a:xfrm>
            <a:off x="585788" y="1834828"/>
            <a:ext cx="355758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latin typeface="Inter" pitchFamily="34" charset="0"/>
                <a:ea typeface="Inter" pitchFamily="34" charset="-122"/>
                <a:cs typeface="Inter" pitchFamily="34" charset="-120"/>
              </a:rPr>
              <a:t>Génération Multi-appels</a:t>
            </a:r>
            <a:endParaRPr lang="en-US" sz="987" dirty="0"/>
          </a:p>
        </p:txBody>
      </p:sp>
      <p:sp>
        <p:nvSpPr>
          <p:cNvPr id="10" name="Text 6"/>
          <p:cNvSpPr/>
          <p:nvPr/>
        </p:nvSpPr>
        <p:spPr>
          <a:xfrm>
            <a:off x="585788" y="2043782"/>
            <a:ext cx="3557588"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94A3B8"/>
                </a:solidFill>
                <a:latin typeface="JetBrains Mono" pitchFamily="34" charset="0"/>
                <a:ea typeface="JetBrains Mono" pitchFamily="34" charset="-122"/>
                <a:cs typeface="JetBrains Mono" pitchFamily="34" charset="-120"/>
              </a:rPr>
              <a:t>1 brief stratégique + 8 sections rédigées en parallèle (9 appels LLM simultanés).</a:t>
            </a:r>
            <a:endParaRPr lang="en-US" sz="727" dirty="0"/>
          </a:p>
        </p:txBody>
      </p:sp>
      <p:sp>
        <p:nvSpPr>
          <p:cNvPr id="11" name="Text 7"/>
          <p:cNvSpPr/>
          <p:nvPr/>
        </p:nvSpPr>
        <p:spPr>
          <a:xfrm>
            <a:off x="585788" y="2538096"/>
            <a:ext cx="355758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latin typeface="Inter" pitchFamily="34" charset="0"/>
                <a:ea typeface="Inter" pitchFamily="34" charset="-122"/>
                <a:cs typeface="Inter" pitchFamily="34" charset="-120"/>
              </a:rPr>
              <a:t>Base de connaissances RAG</a:t>
            </a:r>
            <a:endParaRPr lang="en-US" sz="987" dirty="0"/>
          </a:p>
        </p:txBody>
      </p:sp>
      <p:sp>
        <p:nvSpPr>
          <p:cNvPr id="12" name="Text 8"/>
          <p:cNvSpPr/>
          <p:nvPr/>
        </p:nvSpPr>
        <p:spPr>
          <a:xfrm>
            <a:off x="585788" y="2747051"/>
            <a:ext cx="3557588"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94A3B8"/>
                </a:solidFill>
                <a:latin typeface="JetBrains Mono" pitchFamily="34" charset="0"/>
                <a:ea typeface="JetBrains Mono" pitchFamily="34" charset="-122"/>
                <a:cs typeface="JetBrains Mono" pitchFamily="34" charset="-120"/>
              </a:rPr>
              <a:t>Enrichissement automatique via vos références et méthodologies (Qdrant).</a:t>
            </a:r>
            <a:endParaRPr lang="en-US" sz="727" dirty="0"/>
          </a:p>
        </p:txBody>
      </p:sp>
      <p:sp>
        <p:nvSpPr>
          <p:cNvPr id="13" name="Text 9"/>
          <p:cNvSpPr/>
          <p:nvPr/>
        </p:nvSpPr>
        <p:spPr>
          <a:xfrm>
            <a:off x="585788" y="3241365"/>
            <a:ext cx="3557588" cy="173236"/>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FFFFFF"/>
                </a:solidFill>
                <a:latin typeface="Inter" pitchFamily="34" charset="0"/>
                <a:ea typeface="Inter" pitchFamily="34" charset="-122"/>
                <a:cs typeface="Inter" pitchFamily="34" charset="-120"/>
              </a:rPr>
              <a:t>Prompt Engineering Métier</a:t>
            </a:r>
            <a:endParaRPr lang="en-US" sz="987" dirty="0"/>
          </a:p>
        </p:txBody>
      </p:sp>
      <p:sp>
        <p:nvSpPr>
          <p:cNvPr id="14" name="Text 10"/>
          <p:cNvSpPr/>
          <p:nvPr/>
        </p:nvSpPr>
        <p:spPr>
          <a:xfrm>
            <a:off x="585788" y="3450320"/>
            <a:ext cx="3557588" cy="280002"/>
          </a:xfrm>
          <a:prstGeom prst="rect">
            <a:avLst/>
          </a:prstGeom>
          <a:noFill/>
          <a:ln/>
        </p:spPr>
        <p:txBody>
          <a:bodyPr wrap="square" lIns="0" tIns="0" rIns="0" bIns="0" rtlCol="0" anchor="t">
            <a:spAutoFit/>
          </a:bodyPr>
          <a:lstStyle/>
          <a:p>
            <a:pPr algn="l" indent="0" marL="0">
              <a:lnSpc>
                <a:spcPts val="1100"/>
              </a:lnSpc>
              <a:buNone/>
            </a:pPr>
            <a:r>
              <a:rPr lang="en-US" sz="727" dirty="0">
                <a:solidFill>
                  <a:srgbClr val="94A3B8"/>
                </a:solidFill>
                <a:latin typeface="JetBrains Mono" pitchFamily="34" charset="0"/>
                <a:ea typeface="JetBrains Mono" pitchFamily="34" charset="-122"/>
                <a:cs typeface="JetBrains Mono" pitchFamily="34" charset="-120"/>
              </a:rPr>
              <a:t>Prompts contextualisés intégrant votre profil et vos atouts concurrentiels.</a:t>
            </a:r>
            <a:endParaRPr lang="en-US" sz="727" dirty="0"/>
          </a:p>
        </p:txBody>
      </p:sp>
      <p:sp>
        <p:nvSpPr>
          <p:cNvPr id="15" name="Shape 11"/>
          <p:cNvSpPr/>
          <p:nvPr/>
        </p:nvSpPr>
        <p:spPr>
          <a:xfrm>
            <a:off x="4572000" y="0"/>
            <a:ext cx="4572000" cy="5143500"/>
          </a:xfrm>
          <a:prstGeom prst="rect">
            <a:avLst/>
          </a:prstGeom>
          <a:solidFill>
            <a:srgbClr val="1E293B">
              <a:alpha val="20000"/>
            </a:srgbClr>
          </a:solidFill>
          <a:ln/>
        </p:spPr>
      </p:sp>
      <p:sp>
        <p:nvSpPr>
          <p:cNvPr id="16" name="Text 12"/>
          <p:cNvSpPr/>
          <p:nvPr/>
        </p:nvSpPr>
        <p:spPr>
          <a:xfrm>
            <a:off x="5000625" y="571500"/>
            <a:ext cx="3714750" cy="132159"/>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38BDF8"/>
                </a:solidFill>
                <a:latin typeface="JetBrains Mono" pitchFamily="34" charset="0"/>
                <a:ea typeface="JetBrains Mono" pitchFamily="34" charset="-122"/>
                <a:cs typeface="JetBrains Mono" pitchFamily="34" charset="-120"/>
              </a:rPr>
              <a:t>ARCHITECTURE FLEXIBLE</a:t>
            </a:r>
            <a:endParaRPr lang="en-US" sz="683" dirty="0"/>
          </a:p>
        </p:txBody>
      </p:sp>
      <p:sp>
        <p:nvSpPr>
          <p:cNvPr id="17" name="Text 13"/>
          <p:cNvSpPr/>
          <p:nvPr/>
        </p:nvSpPr>
        <p:spPr>
          <a:xfrm>
            <a:off x="5000625" y="846534"/>
            <a:ext cx="3714750" cy="207169"/>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FFFF"/>
                </a:solidFill>
                <a:latin typeface="Inter" pitchFamily="34" charset="0"/>
                <a:ea typeface="Inter" pitchFamily="34" charset="-122"/>
                <a:cs typeface="Inter" pitchFamily="34" charset="-120"/>
              </a:rPr>
              <a:t>Multi-LLM : Choisissez votre modèle</a:t>
            </a:r>
            <a:endParaRPr lang="en-US" sz="1193" dirty="0"/>
          </a:p>
        </p:txBody>
      </p:sp>
      <p:sp>
        <p:nvSpPr>
          <p:cNvPr id="18" name="Text 14"/>
          <p:cNvSpPr/>
          <p:nvPr/>
        </p:nvSpPr>
        <p:spPr>
          <a:xfrm>
            <a:off x="5000625" y="1339453"/>
            <a:ext cx="928688" cy="223242"/>
          </a:xfrm>
          <a:prstGeom prst="rect">
            <a:avLst/>
          </a:prstGeom>
          <a:noFill/>
          <a:ln/>
        </p:spPr>
        <p:txBody>
          <a:bodyPr wrap="square" lIns="0" tIns="0" rIns="0" bIns="127508" rtlCol="0" anchor="ctr">
            <a:spAutoFit/>
          </a:bodyPr>
          <a:lstStyle/>
          <a:p>
            <a:pPr algn="l" indent="0" marL="0">
              <a:lnSpc>
                <a:spcPts val="800"/>
              </a:lnSpc>
              <a:buNone/>
            </a:pPr>
            <a:r>
              <a:rPr lang="en-US" sz="584" b="1" spc="1" kern="0" dirty="0">
                <a:solidFill>
                  <a:srgbClr val="38BDF8"/>
                </a:solidFill>
                <a:latin typeface="JetBrains Mono" pitchFamily="34" charset="0"/>
                <a:ea typeface="JetBrains Mono" pitchFamily="34" charset="-122"/>
                <a:cs typeface="JetBrains Mono" pitchFamily="34" charset="-120"/>
              </a:rPr>
              <a:t>PROVIDER</a:t>
            </a:r>
            <a:endParaRPr lang="en-US" sz="584" dirty="0"/>
          </a:p>
        </p:txBody>
      </p:sp>
      <p:sp>
        <p:nvSpPr>
          <p:cNvPr id="19" name="Text 15"/>
          <p:cNvSpPr/>
          <p:nvPr/>
        </p:nvSpPr>
        <p:spPr>
          <a:xfrm>
            <a:off x="5929313" y="1339453"/>
            <a:ext cx="1114425" cy="223242"/>
          </a:xfrm>
          <a:prstGeom prst="rect">
            <a:avLst/>
          </a:prstGeom>
          <a:noFill/>
          <a:ln/>
        </p:spPr>
        <p:txBody>
          <a:bodyPr wrap="square" lIns="0" tIns="0" rIns="0" bIns="127508" rtlCol="0" anchor="ctr">
            <a:spAutoFit/>
          </a:bodyPr>
          <a:lstStyle/>
          <a:p>
            <a:pPr algn="l" indent="0" marL="0">
              <a:lnSpc>
                <a:spcPts val="800"/>
              </a:lnSpc>
              <a:buNone/>
            </a:pPr>
            <a:r>
              <a:rPr lang="en-US" sz="584" b="1" spc="1" kern="0" dirty="0">
                <a:solidFill>
                  <a:srgbClr val="38BDF8"/>
                </a:solidFill>
                <a:latin typeface="JetBrains Mono" pitchFamily="34" charset="0"/>
                <a:ea typeface="JetBrains Mono" pitchFamily="34" charset="-122"/>
                <a:cs typeface="JetBrains Mono" pitchFamily="34" charset="-120"/>
              </a:rPr>
              <a:t>MODÈLE</a:t>
            </a:r>
            <a:endParaRPr lang="en-US" sz="584" dirty="0"/>
          </a:p>
        </p:txBody>
      </p:sp>
      <p:sp>
        <p:nvSpPr>
          <p:cNvPr id="20" name="Text 16"/>
          <p:cNvSpPr/>
          <p:nvPr/>
        </p:nvSpPr>
        <p:spPr>
          <a:xfrm>
            <a:off x="7043738" y="1339453"/>
            <a:ext cx="1671638" cy="223242"/>
          </a:xfrm>
          <a:prstGeom prst="rect">
            <a:avLst/>
          </a:prstGeom>
          <a:noFill/>
          <a:ln/>
        </p:spPr>
        <p:txBody>
          <a:bodyPr wrap="square" lIns="0" tIns="0" rIns="0" bIns="127508" rtlCol="0" anchor="ctr">
            <a:spAutoFit/>
          </a:bodyPr>
          <a:lstStyle/>
          <a:p>
            <a:pPr algn="l" indent="0" marL="0">
              <a:lnSpc>
                <a:spcPts val="800"/>
              </a:lnSpc>
              <a:buNone/>
            </a:pPr>
            <a:r>
              <a:rPr lang="en-US" sz="584" b="1" spc="1" kern="0" dirty="0">
                <a:solidFill>
                  <a:srgbClr val="38BDF8"/>
                </a:solidFill>
                <a:latin typeface="JetBrains Mono" pitchFamily="34" charset="0"/>
                <a:ea typeface="JetBrains Mono" pitchFamily="34" charset="-122"/>
                <a:cs typeface="JetBrains Mono" pitchFamily="34" charset="-120"/>
              </a:rPr>
              <a:t>POINT FORT</a:t>
            </a:r>
            <a:endParaRPr lang="en-US" sz="584" dirty="0"/>
          </a:p>
        </p:txBody>
      </p:sp>
      <p:sp>
        <p:nvSpPr>
          <p:cNvPr id="21" name="Text 17"/>
          <p:cNvSpPr/>
          <p:nvPr/>
        </p:nvSpPr>
        <p:spPr>
          <a:xfrm>
            <a:off x="5000625" y="1562695"/>
            <a:ext cx="928688" cy="517922"/>
          </a:xfrm>
          <a:prstGeom prst="rect">
            <a:avLst/>
          </a:prstGeom>
          <a:noFill/>
          <a:ln/>
        </p:spPr>
        <p:txBody>
          <a:bodyPr wrap="square" lIns="0" tIns="170053" rIns="0" bIns="170053" rtlCol="0" anchor="t">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Anthropic</a:t>
            </a:r>
            <a:endParaRPr lang="en-US" sz="584" dirty="0"/>
          </a:p>
        </p:txBody>
      </p:sp>
      <p:sp>
        <p:nvSpPr>
          <p:cNvPr id="22" name="Text 18"/>
          <p:cNvSpPr/>
          <p:nvPr/>
        </p:nvSpPr>
        <p:spPr>
          <a:xfrm>
            <a:off x="5929313" y="1562695"/>
            <a:ext cx="1114425" cy="517922"/>
          </a:xfrm>
          <a:prstGeom prst="rect">
            <a:avLst/>
          </a:prstGeom>
          <a:noFill/>
          <a:ln/>
        </p:spPr>
        <p:txBody>
          <a:bodyPr wrap="square" lIns="0" tIns="170053" rIns="0" bIns="170053" rtlCol="0" anchor="t">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Claude Opus</a:t>
            </a:r>
            <a:endParaRPr lang="en-US" sz="621" dirty="0"/>
          </a:p>
        </p:txBody>
      </p:sp>
      <p:sp>
        <p:nvSpPr>
          <p:cNvPr id="23" name="Text 19"/>
          <p:cNvSpPr/>
          <p:nvPr/>
        </p:nvSpPr>
        <p:spPr>
          <a:xfrm>
            <a:off x="7043738" y="1562695"/>
            <a:ext cx="1671638" cy="517922"/>
          </a:xfrm>
          <a:prstGeom prst="rect">
            <a:avLst/>
          </a:prstGeom>
          <a:noFill/>
          <a:ln/>
        </p:spPr>
        <p:txBody>
          <a:bodyPr wrap="square" lIns="0" tIns="170053" rIns="0" bIns="170053" rtlCol="0" anchor="t">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Raisonnement long, documents complexes</a:t>
            </a:r>
            <a:endParaRPr lang="en-US" sz="621" dirty="0"/>
          </a:p>
        </p:txBody>
      </p:sp>
      <p:sp>
        <p:nvSpPr>
          <p:cNvPr id="24" name="Text 20"/>
          <p:cNvSpPr/>
          <p:nvPr/>
        </p:nvSpPr>
        <p:spPr>
          <a:xfrm>
            <a:off x="5000625" y="2080617"/>
            <a:ext cx="928688" cy="517922"/>
          </a:xfrm>
          <a:prstGeom prst="rect">
            <a:avLst/>
          </a:prstGeom>
          <a:noFill/>
          <a:ln/>
        </p:spPr>
        <p:txBody>
          <a:bodyPr wrap="square" lIns="0" tIns="170053" rIns="0" bIns="170053" rtlCol="0" anchor="t">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OpenAI</a:t>
            </a:r>
            <a:endParaRPr lang="en-US" sz="584" dirty="0"/>
          </a:p>
        </p:txBody>
      </p:sp>
      <p:sp>
        <p:nvSpPr>
          <p:cNvPr id="25" name="Text 21"/>
          <p:cNvSpPr/>
          <p:nvPr/>
        </p:nvSpPr>
        <p:spPr>
          <a:xfrm>
            <a:off x="5929313" y="2080617"/>
            <a:ext cx="1114425" cy="517922"/>
          </a:xfrm>
          <a:prstGeom prst="rect">
            <a:avLst/>
          </a:prstGeom>
          <a:noFill/>
          <a:ln/>
        </p:spPr>
        <p:txBody>
          <a:bodyPr wrap="square" lIns="0" tIns="170053" rIns="0" bIns="170053" rtlCol="0" anchor="t">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GPT-4o</a:t>
            </a:r>
            <a:endParaRPr lang="en-US" sz="621" dirty="0"/>
          </a:p>
        </p:txBody>
      </p:sp>
      <p:sp>
        <p:nvSpPr>
          <p:cNvPr id="26" name="Text 22"/>
          <p:cNvSpPr/>
          <p:nvPr/>
        </p:nvSpPr>
        <p:spPr>
          <a:xfrm>
            <a:off x="7043738" y="2080617"/>
            <a:ext cx="1671638" cy="517922"/>
          </a:xfrm>
          <a:prstGeom prst="rect">
            <a:avLst/>
          </a:prstGeom>
          <a:noFill/>
          <a:ln/>
        </p:spPr>
        <p:txBody>
          <a:bodyPr wrap="square" lIns="0" tIns="170053" rIns="0" bIns="170053" rtlCol="0" anchor="t">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Créativité, formulation commerciale</a:t>
            </a:r>
            <a:endParaRPr lang="en-US" sz="621" dirty="0"/>
          </a:p>
        </p:txBody>
      </p:sp>
      <p:sp>
        <p:nvSpPr>
          <p:cNvPr id="27" name="Text 23"/>
          <p:cNvSpPr/>
          <p:nvPr/>
        </p:nvSpPr>
        <p:spPr>
          <a:xfrm>
            <a:off x="5000625" y="2598539"/>
            <a:ext cx="928688" cy="517922"/>
          </a:xfrm>
          <a:prstGeom prst="rect">
            <a:avLst/>
          </a:prstGeom>
          <a:noFill/>
          <a:ln/>
        </p:spPr>
        <p:txBody>
          <a:bodyPr wrap="square" lIns="0" tIns="170053" rIns="0" bIns="170053" rtlCol="0" anchor="t">
            <a:spAutoFit/>
          </a:bodyPr>
          <a:lstStyle/>
          <a:p>
            <a:pPr algn="l"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Mistral AI</a:t>
            </a:r>
            <a:endParaRPr lang="en-US" sz="584" dirty="0"/>
          </a:p>
        </p:txBody>
      </p:sp>
      <p:sp>
        <p:nvSpPr>
          <p:cNvPr id="28" name="Text 24"/>
          <p:cNvSpPr/>
          <p:nvPr/>
        </p:nvSpPr>
        <p:spPr>
          <a:xfrm>
            <a:off x="5929313" y="2598539"/>
            <a:ext cx="1114425" cy="517922"/>
          </a:xfrm>
          <a:prstGeom prst="rect">
            <a:avLst/>
          </a:prstGeom>
          <a:noFill/>
          <a:ln/>
        </p:spPr>
        <p:txBody>
          <a:bodyPr wrap="square" lIns="0" tIns="170053" rIns="0" bIns="170053" rtlCol="0" anchor="t">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Mistral Large</a:t>
            </a:r>
            <a:endParaRPr lang="en-US" sz="621" dirty="0"/>
          </a:p>
        </p:txBody>
      </p:sp>
      <p:sp>
        <p:nvSpPr>
          <p:cNvPr id="29" name="Text 25"/>
          <p:cNvSpPr/>
          <p:nvPr/>
        </p:nvSpPr>
        <p:spPr>
          <a:xfrm>
            <a:off x="7043738" y="2598539"/>
            <a:ext cx="1671638" cy="517922"/>
          </a:xfrm>
          <a:prstGeom prst="rect">
            <a:avLst/>
          </a:prstGeom>
          <a:noFill/>
          <a:ln/>
        </p:spPr>
        <p:txBody>
          <a:bodyPr wrap="square" lIns="0" tIns="170053" rIns="0" bIns="170053" rtlCol="0" anchor="t">
            <a:spAutoFit/>
          </a:bodyPr>
          <a:lstStyle/>
          <a:p>
            <a:pPr algn="l" indent="0" marL="0">
              <a:lnSpc>
                <a:spcPts val="800"/>
              </a:lnSpc>
              <a:buNone/>
            </a:pPr>
            <a:r>
              <a:rPr lang="en-US" sz="621" dirty="0">
                <a:solidFill>
                  <a:srgbClr val="94A3B8"/>
                </a:solidFill>
                <a:latin typeface="JetBrains Mono" pitchFamily="34" charset="0"/>
                <a:ea typeface="JetBrains Mono" pitchFamily="34" charset="-122"/>
                <a:cs typeface="JetBrains Mono" pitchFamily="34" charset="-120"/>
              </a:rPr>
              <a:t>Souveraineté des données, hébergement EU</a:t>
            </a:r>
            <a:endParaRPr lang="en-US" sz="62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0" y="428625"/>
            <a:ext cx="9144000" cy="274309"/>
          </a:xfrm>
          <a:prstGeom prst="rect">
            <a:avLst/>
          </a:prstGeom>
          <a:noFill/>
          <a:ln/>
        </p:spPr>
        <p:txBody>
          <a:bodyPr wrap="none" lIns="680339" tIns="0" rIns="0" bIns="0" rtlCol="0" anchor="t">
            <a:spAutoFit/>
          </a:bodyPr>
          <a:lstStyle/>
          <a:p>
            <a:pPr algn="l" indent="0" marL="0">
              <a:lnSpc>
                <a:spcPts val="2200"/>
              </a:lnSpc>
              <a:buNone/>
            </a:pPr>
            <a:r>
              <a:rPr lang="en-US" sz="1602" b="1" dirty="0">
                <a:solidFill>
                  <a:srgbClr val="FFFFFF"/>
                </a:solidFill>
                <a:latin typeface="Inter" pitchFamily="34" charset="0"/>
                <a:ea typeface="Inter" pitchFamily="34" charset="-122"/>
                <a:cs typeface="Inter" pitchFamily="34" charset="-120"/>
              </a:rPr>
              <a:t>Pourquoi OffrIA ? Une longueur d'avance décisive</a:t>
            </a:r>
            <a:endParaRPr lang="en-US" sz="1602" dirty="0"/>
          </a:p>
        </p:txBody>
      </p:sp>
      <p:sp>
        <p:nvSpPr>
          <p:cNvPr id="5" name="Text 1"/>
          <p:cNvSpPr/>
          <p:nvPr/>
        </p:nvSpPr>
        <p:spPr>
          <a:xfrm>
            <a:off x="571500" y="988684"/>
            <a:ext cx="3998714" cy="221456"/>
          </a:xfrm>
          <a:prstGeom prst="rect">
            <a:avLst/>
          </a:prstGeom>
          <a:noFill/>
          <a:ln/>
        </p:spPr>
        <p:txBody>
          <a:bodyPr wrap="square" lIns="0" tIns="0" rIns="0" bIns="102108" rtlCol="0" anchor="ctr">
            <a:spAutoFit/>
          </a:bodyPr>
          <a:lstStyle/>
          <a:p>
            <a:pPr algn="l" indent="0" marL="0">
              <a:lnSpc>
                <a:spcPts val="900"/>
              </a:lnSpc>
              <a:buNone/>
            </a:pPr>
            <a:r>
              <a:rPr lang="en-US" sz="727" spc="1" kern="0" dirty="0">
                <a:solidFill>
                  <a:srgbClr val="FFFFFF"/>
                </a:solidFill>
                <a:latin typeface="JetBrains Mono" pitchFamily="34" charset="0"/>
                <a:ea typeface="JetBrains Mono" pitchFamily="34" charset="-122"/>
                <a:cs typeface="JetBrains Mono" pitchFamily="34" charset="-120"/>
              </a:rPr>
              <a:t>FONCTIONNALITÉ</a:t>
            </a:r>
            <a:endParaRPr lang="en-US" sz="727" dirty="0"/>
          </a:p>
        </p:txBody>
      </p:sp>
      <p:sp>
        <p:nvSpPr>
          <p:cNvPr id="6" name="Text 2"/>
          <p:cNvSpPr/>
          <p:nvPr/>
        </p:nvSpPr>
        <p:spPr>
          <a:xfrm>
            <a:off x="4570214" y="988684"/>
            <a:ext cx="1999357" cy="221456"/>
          </a:xfrm>
          <a:prstGeom prst="rect">
            <a:avLst/>
          </a:prstGeom>
          <a:noFill/>
          <a:ln/>
        </p:spPr>
        <p:txBody>
          <a:bodyPr wrap="square" lIns="0" tIns="0" rIns="0" bIns="102108" rtlCol="0" anchor="ctr">
            <a:spAutoFit/>
          </a:bodyPr>
          <a:lstStyle/>
          <a:p>
            <a:pPr algn="ctr" indent="0" marL="0">
              <a:lnSpc>
                <a:spcPts val="900"/>
              </a:lnSpc>
              <a:buNone/>
            </a:pPr>
            <a:r>
              <a:rPr lang="en-US" sz="683" b="1" spc="1" kern="0" dirty="0">
                <a:solidFill>
                  <a:srgbClr val="64748B"/>
                </a:solidFill>
                <a:latin typeface="JetBrains Mono" pitchFamily="34" charset="0"/>
                <a:ea typeface="JetBrains Mono" pitchFamily="34" charset="-122"/>
                <a:cs typeface="JetBrains Mono" pitchFamily="34" charset="-120"/>
              </a:rPr>
              <a:t>CONCURRENTS</a:t>
            </a:r>
            <a:endParaRPr lang="en-US" sz="683" dirty="0"/>
          </a:p>
        </p:txBody>
      </p:sp>
      <p:sp>
        <p:nvSpPr>
          <p:cNvPr id="7" name="Shape 3"/>
          <p:cNvSpPr/>
          <p:nvPr/>
        </p:nvSpPr>
        <p:spPr>
          <a:xfrm>
            <a:off x="6569571" y="988684"/>
            <a:ext cx="1999357" cy="221456"/>
          </a:xfrm>
          <a:prstGeom prst="rect">
            <a:avLst/>
          </a:prstGeom>
          <a:solidFill>
            <a:srgbClr val="38BDF8">
              <a:alpha val="5000"/>
            </a:srgbClr>
          </a:solidFill>
          <a:ln/>
        </p:spPr>
      </p:sp>
      <p:sp>
        <p:nvSpPr>
          <p:cNvPr id="8" name="Shape 4"/>
          <p:cNvSpPr/>
          <p:nvPr/>
        </p:nvSpPr>
        <p:spPr>
          <a:xfrm>
            <a:off x="8561784" y="988684"/>
            <a:ext cx="7144" cy="221456"/>
          </a:xfrm>
          <a:prstGeom prst="rect">
            <a:avLst/>
          </a:prstGeom>
          <a:solidFill>
            <a:srgbClr val="D7F2FE"/>
          </a:solidFill>
          <a:ln/>
        </p:spPr>
      </p:sp>
      <p:sp>
        <p:nvSpPr>
          <p:cNvPr id="9" name="Shape 5"/>
          <p:cNvSpPr/>
          <p:nvPr/>
        </p:nvSpPr>
        <p:spPr>
          <a:xfrm>
            <a:off x="6569571" y="1202996"/>
            <a:ext cx="1999357" cy="7144"/>
          </a:xfrm>
          <a:prstGeom prst="rect">
            <a:avLst/>
          </a:prstGeom>
          <a:solidFill>
            <a:srgbClr val="F4F6F8"/>
          </a:solidFill>
          <a:ln/>
        </p:spPr>
      </p:sp>
      <p:sp>
        <p:nvSpPr>
          <p:cNvPr id="10" name="Shape 6"/>
          <p:cNvSpPr/>
          <p:nvPr/>
        </p:nvSpPr>
        <p:spPr>
          <a:xfrm>
            <a:off x="6569571" y="988684"/>
            <a:ext cx="7144" cy="221456"/>
          </a:xfrm>
          <a:prstGeom prst="rect">
            <a:avLst/>
          </a:prstGeom>
          <a:solidFill>
            <a:srgbClr val="D7F2FE"/>
          </a:solidFill>
          <a:ln/>
        </p:spPr>
      </p:sp>
      <p:sp>
        <p:nvSpPr>
          <p:cNvPr id="11" name="Text 7"/>
          <p:cNvSpPr/>
          <p:nvPr/>
        </p:nvSpPr>
        <p:spPr>
          <a:xfrm>
            <a:off x="6569571" y="988684"/>
            <a:ext cx="1999357" cy="221456"/>
          </a:xfrm>
          <a:prstGeom prst="rect">
            <a:avLst/>
          </a:prstGeom>
          <a:noFill/>
          <a:ln/>
        </p:spPr>
        <p:txBody>
          <a:bodyPr wrap="square" lIns="0" tIns="0" rIns="0" bIns="102108" rtlCol="0" anchor="ctr">
            <a:spAutoFit/>
          </a:bodyPr>
          <a:lstStyle/>
          <a:p>
            <a:pPr algn="ctr" indent="0" marL="0">
              <a:lnSpc>
                <a:spcPts val="900"/>
              </a:lnSpc>
              <a:buNone/>
            </a:pPr>
            <a:r>
              <a:rPr lang="en-US" sz="683" b="1" spc="1" kern="0" dirty="0">
                <a:solidFill>
                  <a:srgbClr val="38BDF8"/>
                </a:solidFill>
                <a:latin typeface="JetBrains Mono" pitchFamily="34" charset="0"/>
                <a:ea typeface="JetBrains Mono" pitchFamily="34" charset="-122"/>
                <a:cs typeface="JetBrains Mono" pitchFamily="34" charset="-120"/>
              </a:rPr>
              <a:t>OFFRIA</a:t>
            </a:r>
            <a:endParaRPr lang="en-US" sz="683" dirty="0"/>
          </a:p>
        </p:txBody>
      </p:sp>
      <p:sp>
        <p:nvSpPr>
          <p:cNvPr id="12" name="Text 8"/>
          <p:cNvSpPr/>
          <p:nvPr/>
        </p:nvSpPr>
        <p:spPr>
          <a:xfrm>
            <a:off x="571500" y="1210140"/>
            <a:ext cx="3998714" cy="291108"/>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Multi-provider LLM (Claude, GPT, Mistral)</a:t>
            </a:r>
            <a:endParaRPr lang="en-US" sz="727" dirty="0"/>
          </a:p>
        </p:txBody>
      </p:sp>
      <p:sp>
        <p:nvSpPr>
          <p:cNvPr id="13" name="Text 9"/>
          <p:cNvSpPr/>
          <p:nvPr/>
        </p:nvSpPr>
        <p:spPr>
          <a:xfrm>
            <a:off x="5514529" y="1270862"/>
            <a:ext cx="107156" cy="169664"/>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64748B"/>
                </a:solidFill>
                <a:latin typeface="JetBrains Mono" pitchFamily="34" charset="0"/>
                <a:ea typeface="JetBrains Mono" pitchFamily="34" charset="-122"/>
                <a:cs typeface="JetBrains Mono" pitchFamily="34" charset="-120"/>
              </a:rPr>
              <a:t>✗</a:t>
            </a:r>
            <a:endParaRPr lang="en-US" sz="942" dirty="0"/>
          </a:p>
        </p:txBody>
      </p:sp>
      <p:sp>
        <p:nvSpPr>
          <p:cNvPr id="14" name="Shape 10"/>
          <p:cNvSpPr/>
          <p:nvPr/>
        </p:nvSpPr>
        <p:spPr>
          <a:xfrm>
            <a:off x="6569571" y="1210140"/>
            <a:ext cx="1999357" cy="291108"/>
          </a:xfrm>
          <a:prstGeom prst="rect">
            <a:avLst/>
          </a:prstGeom>
          <a:solidFill>
            <a:srgbClr val="38BDF8">
              <a:alpha val="5000"/>
            </a:srgbClr>
          </a:solidFill>
          <a:ln/>
        </p:spPr>
      </p:sp>
      <p:sp>
        <p:nvSpPr>
          <p:cNvPr id="15" name="Shape 11"/>
          <p:cNvSpPr/>
          <p:nvPr/>
        </p:nvSpPr>
        <p:spPr>
          <a:xfrm>
            <a:off x="8561784" y="1210140"/>
            <a:ext cx="7144" cy="291108"/>
          </a:xfrm>
          <a:prstGeom prst="rect">
            <a:avLst/>
          </a:prstGeom>
          <a:solidFill>
            <a:srgbClr val="D7F2FE"/>
          </a:solidFill>
          <a:ln/>
        </p:spPr>
      </p:sp>
      <p:sp>
        <p:nvSpPr>
          <p:cNvPr id="16" name="Shape 12"/>
          <p:cNvSpPr/>
          <p:nvPr/>
        </p:nvSpPr>
        <p:spPr>
          <a:xfrm>
            <a:off x="6569571" y="1494104"/>
            <a:ext cx="1999357" cy="7144"/>
          </a:xfrm>
          <a:prstGeom prst="rect">
            <a:avLst/>
          </a:prstGeom>
          <a:solidFill>
            <a:srgbClr val="F4F6F8"/>
          </a:solidFill>
          <a:ln/>
        </p:spPr>
      </p:sp>
      <p:sp>
        <p:nvSpPr>
          <p:cNvPr id="17" name="Shape 13"/>
          <p:cNvSpPr/>
          <p:nvPr/>
        </p:nvSpPr>
        <p:spPr>
          <a:xfrm>
            <a:off x="6569571" y="1210140"/>
            <a:ext cx="7144" cy="291108"/>
          </a:xfrm>
          <a:prstGeom prst="rect">
            <a:avLst/>
          </a:prstGeom>
          <a:solidFill>
            <a:srgbClr val="D7F2FE"/>
          </a:solidFill>
          <a:ln/>
        </p:spPr>
      </p:sp>
      <p:sp>
        <p:nvSpPr>
          <p:cNvPr id="18" name="Text 14"/>
          <p:cNvSpPr/>
          <p:nvPr/>
        </p:nvSpPr>
        <p:spPr>
          <a:xfrm>
            <a:off x="7515671" y="1270862"/>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19" name="Text 15"/>
          <p:cNvSpPr/>
          <p:nvPr/>
        </p:nvSpPr>
        <p:spPr>
          <a:xfrm>
            <a:off x="571500" y="1501248"/>
            <a:ext cx="3998714" cy="287536"/>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Parsing AO automatique (PDF/Docx)</a:t>
            </a:r>
            <a:endParaRPr lang="en-US" sz="727" dirty="0"/>
          </a:p>
        </p:txBody>
      </p:sp>
      <p:sp>
        <p:nvSpPr>
          <p:cNvPr id="20" name="Text 16"/>
          <p:cNvSpPr/>
          <p:nvPr/>
        </p:nvSpPr>
        <p:spPr>
          <a:xfrm>
            <a:off x="4570214" y="1501248"/>
            <a:ext cx="1999357" cy="287536"/>
          </a:xfrm>
          <a:prstGeom prst="rect">
            <a:avLst/>
          </a:prstGeom>
          <a:noFill/>
          <a:ln/>
        </p:spPr>
        <p:txBody>
          <a:bodyPr wrap="square" lIns="0" tIns="68072" rIns="0" bIns="68072" rtlCol="0" anchor="ctr">
            <a:spAutoFit/>
          </a:bodyPr>
          <a:lstStyle/>
          <a:p>
            <a:pPr algn="ctr" indent="0" marL="0">
              <a:lnSpc>
                <a:spcPts val="900"/>
              </a:lnSpc>
              <a:buNone/>
            </a:pPr>
            <a:r>
              <a:rPr lang="en-US" sz="727" dirty="0">
                <a:solidFill>
                  <a:srgbClr val="64748B"/>
                </a:solidFill>
                <a:latin typeface="JetBrains Mono" pitchFamily="34" charset="0"/>
                <a:ea typeface="JetBrains Mono" pitchFamily="34" charset="-122"/>
                <a:cs typeface="JetBrains Mono" pitchFamily="34" charset="-120"/>
              </a:rPr>
              <a:t>Partiel</a:t>
            </a:r>
            <a:endParaRPr lang="en-US" sz="727" dirty="0"/>
          </a:p>
        </p:txBody>
      </p:sp>
      <p:sp>
        <p:nvSpPr>
          <p:cNvPr id="21" name="Shape 17"/>
          <p:cNvSpPr/>
          <p:nvPr/>
        </p:nvSpPr>
        <p:spPr>
          <a:xfrm>
            <a:off x="6569571" y="1501248"/>
            <a:ext cx="1999357" cy="287536"/>
          </a:xfrm>
          <a:prstGeom prst="rect">
            <a:avLst/>
          </a:prstGeom>
          <a:solidFill>
            <a:srgbClr val="38BDF8">
              <a:alpha val="5000"/>
            </a:srgbClr>
          </a:solidFill>
          <a:ln/>
        </p:spPr>
      </p:sp>
      <p:sp>
        <p:nvSpPr>
          <p:cNvPr id="22" name="Shape 18"/>
          <p:cNvSpPr/>
          <p:nvPr/>
        </p:nvSpPr>
        <p:spPr>
          <a:xfrm>
            <a:off x="8561784" y="1501248"/>
            <a:ext cx="7144" cy="287536"/>
          </a:xfrm>
          <a:prstGeom prst="rect">
            <a:avLst/>
          </a:prstGeom>
          <a:solidFill>
            <a:srgbClr val="D7F2FE"/>
          </a:solidFill>
          <a:ln/>
        </p:spPr>
      </p:sp>
      <p:sp>
        <p:nvSpPr>
          <p:cNvPr id="23" name="Shape 19"/>
          <p:cNvSpPr/>
          <p:nvPr/>
        </p:nvSpPr>
        <p:spPr>
          <a:xfrm>
            <a:off x="6569571" y="1781640"/>
            <a:ext cx="1999357" cy="7144"/>
          </a:xfrm>
          <a:prstGeom prst="rect">
            <a:avLst/>
          </a:prstGeom>
          <a:solidFill>
            <a:srgbClr val="F4F6F8"/>
          </a:solidFill>
          <a:ln/>
        </p:spPr>
      </p:sp>
      <p:sp>
        <p:nvSpPr>
          <p:cNvPr id="24" name="Shape 20"/>
          <p:cNvSpPr/>
          <p:nvPr/>
        </p:nvSpPr>
        <p:spPr>
          <a:xfrm>
            <a:off x="6569571" y="1501248"/>
            <a:ext cx="7144" cy="287536"/>
          </a:xfrm>
          <a:prstGeom prst="rect">
            <a:avLst/>
          </a:prstGeom>
          <a:solidFill>
            <a:srgbClr val="D7F2FE"/>
          </a:solidFill>
          <a:ln/>
        </p:spPr>
      </p:sp>
      <p:sp>
        <p:nvSpPr>
          <p:cNvPr id="25" name="Text 21"/>
          <p:cNvSpPr/>
          <p:nvPr/>
        </p:nvSpPr>
        <p:spPr>
          <a:xfrm>
            <a:off x="7515671" y="1558398"/>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26" name="Text 22"/>
          <p:cNvSpPr/>
          <p:nvPr/>
        </p:nvSpPr>
        <p:spPr>
          <a:xfrm>
            <a:off x="571500" y="1785212"/>
            <a:ext cx="3998714" cy="291108"/>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Génération multi-sections en parallèle</a:t>
            </a:r>
            <a:endParaRPr lang="en-US" sz="727" dirty="0"/>
          </a:p>
        </p:txBody>
      </p:sp>
      <p:sp>
        <p:nvSpPr>
          <p:cNvPr id="27" name="Text 23"/>
          <p:cNvSpPr/>
          <p:nvPr/>
        </p:nvSpPr>
        <p:spPr>
          <a:xfrm>
            <a:off x="5514529" y="1845934"/>
            <a:ext cx="107156" cy="169664"/>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64748B"/>
                </a:solidFill>
                <a:latin typeface="JetBrains Mono" pitchFamily="34" charset="0"/>
                <a:ea typeface="JetBrains Mono" pitchFamily="34" charset="-122"/>
                <a:cs typeface="JetBrains Mono" pitchFamily="34" charset="-120"/>
              </a:rPr>
              <a:t>✗</a:t>
            </a:r>
            <a:endParaRPr lang="en-US" sz="942" dirty="0"/>
          </a:p>
        </p:txBody>
      </p:sp>
      <p:sp>
        <p:nvSpPr>
          <p:cNvPr id="28" name="Shape 24"/>
          <p:cNvSpPr/>
          <p:nvPr/>
        </p:nvSpPr>
        <p:spPr>
          <a:xfrm>
            <a:off x="6569571" y="1785212"/>
            <a:ext cx="1999357" cy="291108"/>
          </a:xfrm>
          <a:prstGeom prst="rect">
            <a:avLst/>
          </a:prstGeom>
          <a:solidFill>
            <a:srgbClr val="38BDF8">
              <a:alpha val="5000"/>
            </a:srgbClr>
          </a:solidFill>
          <a:ln/>
        </p:spPr>
      </p:sp>
      <p:sp>
        <p:nvSpPr>
          <p:cNvPr id="29" name="Shape 25"/>
          <p:cNvSpPr/>
          <p:nvPr/>
        </p:nvSpPr>
        <p:spPr>
          <a:xfrm>
            <a:off x="8561784" y="1785212"/>
            <a:ext cx="7144" cy="291108"/>
          </a:xfrm>
          <a:prstGeom prst="rect">
            <a:avLst/>
          </a:prstGeom>
          <a:solidFill>
            <a:srgbClr val="D7F2FE"/>
          </a:solidFill>
          <a:ln/>
        </p:spPr>
      </p:sp>
      <p:sp>
        <p:nvSpPr>
          <p:cNvPr id="30" name="Shape 26"/>
          <p:cNvSpPr/>
          <p:nvPr/>
        </p:nvSpPr>
        <p:spPr>
          <a:xfrm>
            <a:off x="6569571" y="2069176"/>
            <a:ext cx="1999357" cy="7144"/>
          </a:xfrm>
          <a:prstGeom prst="rect">
            <a:avLst/>
          </a:prstGeom>
          <a:solidFill>
            <a:srgbClr val="F4F6F8"/>
          </a:solidFill>
          <a:ln/>
        </p:spPr>
      </p:sp>
      <p:sp>
        <p:nvSpPr>
          <p:cNvPr id="31" name="Shape 27"/>
          <p:cNvSpPr/>
          <p:nvPr/>
        </p:nvSpPr>
        <p:spPr>
          <a:xfrm>
            <a:off x="6569571" y="1785212"/>
            <a:ext cx="7144" cy="291108"/>
          </a:xfrm>
          <a:prstGeom prst="rect">
            <a:avLst/>
          </a:prstGeom>
          <a:solidFill>
            <a:srgbClr val="D7F2FE"/>
          </a:solidFill>
          <a:ln/>
        </p:spPr>
      </p:sp>
      <p:sp>
        <p:nvSpPr>
          <p:cNvPr id="32" name="Text 28"/>
          <p:cNvSpPr/>
          <p:nvPr/>
        </p:nvSpPr>
        <p:spPr>
          <a:xfrm>
            <a:off x="7515671" y="1845934"/>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33" name="Text 29"/>
          <p:cNvSpPr/>
          <p:nvPr/>
        </p:nvSpPr>
        <p:spPr>
          <a:xfrm>
            <a:off x="571500" y="2076320"/>
            <a:ext cx="3998714" cy="291108"/>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Base de connaissances RAG (vos documents)</a:t>
            </a:r>
            <a:endParaRPr lang="en-US" sz="727" dirty="0"/>
          </a:p>
        </p:txBody>
      </p:sp>
      <p:sp>
        <p:nvSpPr>
          <p:cNvPr id="34" name="Text 30"/>
          <p:cNvSpPr/>
          <p:nvPr/>
        </p:nvSpPr>
        <p:spPr>
          <a:xfrm>
            <a:off x="5514529" y="2137042"/>
            <a:ext cx="107156" cy="169664"/>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64748B"/>
                </a:solidFill>
                <a:latin typeface="JetBrains Mono" pitchFamily="34" charset="0"/>
                <a:ea typeface="JetBrains Mono" pitchFamily="34" charset="-122"/>
                <a:cs typeface="JetBrains Mono" pitchFamily="34" charset="-120"/>
              </a:rPr>
              <a:t>✗</a:t>
            </a:r>
            <a:endParaRPr lang="en-US" sz="942" dirty="0"/>
          </a:p>
        </p:txBody>
      </p:sp>
      <p:sp>
        <p:nvSpPr>
          <p:cNvPr id="35" name="Shape 31"/>
          <p:cNvSpPr/>
          <p:nvPr/>
        </p:nvSpPr>
        <p:spPr>
          <a:xfrm>
            <a:off x="6569571" y="2076320"/>
            <a:ext cx="1999357" cy="291108"/>
          </a:xfrm>
          <a:prstGeom prst="rect">
            <a:avLst/>
          </a:prstGeom>
          <a:solidFill>
            <a:srgbClr val="38BDF8">
              <a:alpha val="5000"/>
            </a:srgbClr>
          </a:solidFill>
          <a:ln/>
        </p:spPr>
      </p:sp>
      <p:sp>
        <p:nvSpPr>
          <p:cNvPr id="36" name="Shape 32"/>
          <p:cNvSpPr/>
          <p:nvPr/>
        </p:nvSpPr>
        <p:spPr>
          <a:xfrm>
            <a:off x="8561784" y="2076320"/>
            <a:ext cx="7144" cy="291108"/>
          </a:xfrm>
          <a:prstGeom prst="rect">
            <a:avLst/>
          </a:prstGeom>
          <a:solidFill>
            <a:srgbClr val="D7F2FE"/>
          </a:solidFill>
          <a:ln/>
        </p:spPr>
      </p:sp>
      <p:sp>
        <p:nvSpPr>
          <p:cNvPr id="37" name="Shape 33"/>
          <p:cNvSpPr/>
          <p:nvPr/>
        </p:nvSpPr>
        <p:spPr>
          <a:xfrm>
            <a:off x="6569571" y="2360284"/>
            <a:ext cx="1999357" cy="7144"/>
          </a:xfrm>
          <a:prstGeom prst="rect">
            <a:avLst/>
          </a:prstGeom>
          <a:solidFill>
            <a:srgbClr val="F4F6F8"/>
          </a:solidFill>
          <a:ln/>
        </p:spPr>
      </p:sp>
      <p:sp>
        <p:nvSpPr>
          <p:cNvPr id="38" name="Shape 34"/>
          <p:cNvSpPr/>
          <p:nvPr/>
        </p:nvSpPr>
        <p:spPr>
          <a:xfrm>
            <a:off x="6569571" y="2076320"/>
            <a:ext cx="7144" cy="291108"/>
          </a:xfrm>
          <a:prstGeom prst="rect">
            <a:avLst/>
          </a:prstGeom>
          <a:solidFill>
            <a:srgbClr val="D7F2FE"/>
          </a:solidFill>
          <a:ln/>
        </p:spPr>
      </p:sp>
      <p:sp>
        <p:nvSpPr>
          <p:cNvPr id="39" name="Text 35"/>
          <p:cNvSpPr/>
          <p:nvPr/>
        </p:nvSpPr>
        <p:spPr>
          <a:xfrm>
            <a:off x="7515671" y="2137042"/>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40" name="Text 36"/>
          <p:cNvSpPr/>
          <p:nvPr/>
        </p:nvSpPr>
        <p:spPr>
          <a:xfrm>
            <a:off x="571500" y="2367428"/>
            <a:ext cx="3998714" cy="291108"/>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Profil entreprise contextualisé</a:t>
            </a:r>
            <a:endParaRPr lang="en-US" sz="727" dirty="0"/>
          </a:p>
        </p:txBody>
      </p:sp>
      <p:sp>
        <p:nvSpPr>
          <p:cNvPr id="41" name="Text 37"/>
          <p:cNvSpPr/>
          <p:nvPr/>
        </p:nvSpPr>
        <p:spPr>
          <a:xfrm>
            <a:off x="5514529" y="2428149"/>
            <a:ext cx="107156" cy="169664"/>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64748B"/>
                </a:solidFill>
                <a:latin typeface="JetBrains Mono" pitchFamily="34" charset="0"/>
                <a:ea typeface="JetBrains Mono" pitchFamily="34" charset="-122"/>
                <a:cs typeface="JetBrains Mono" pitchFamily="34" charset="-120"/>
              </a:rPr>
              <a:t>✗</a:t>
            </a:r>
            <a:endParaRPr lang="en-US" sz="942" dirty="0"/>
          </a:p>
        </p:txBody>
      </p:sp>
      <p:sp>
        <p:nvSpPr>
          <p:cNvPr id="42" name="Shape 38"/>
          <p:cNvSpPr/>
          <p:nvPr/>
        </p:nvSpPr>
        <p:spPr>
          <a:xfrm>
            <a:off x="6569571" y="2367428"/>
            <a:ext cx="1999357" cy="291108"/>
          </a:xfrm>
          <a:prstGeom prst="rect">
            <a:avLst/>
          </a:prstGeom>
          <a:solidFill>
            <a:srgbClr val="38BDF8">
              <a:alpha val="5000"/>
            </a:srgbClr>
          </a:solidFill>
          <a:ln/>
        </p:spPr>
      </p:sp>
      <p:sp>
        <p:nvSpPr>
          <p:cNvPr id="43" name="Shape 39"/>
          <p:cNvSpPr/>
          <p:nvPr/>
        </p:nvSpPr>
        <p:spPr>
          <a:xfrm>
            <a:off x="8561784" y="2367428"/>
            <a:ext cx="7144" cy="291108"/>
          </a:xfrm>
          <a:prstGeom prst="rect">
            <a:avLst/>
          </a:prstGeom>
          <a:solidFill>
            <a:srgbClr val="D7F2FE"/>
          </a:solidFill>
          <a:ln/>
        </p:spPr>
      </p:sp>
      <p:sp>
        <p:nvSpPr>
          <p:cNvPr id="44" name="Shape 40"/>
          <p:cNvSpPr/>
          <p:nvPr/>
        </p:nvSpPr>
        <p:spPr>
          <a:xfrm>
            <a:off x="6569571" y="2651392"/>
            <a:ext cx="1999357" cy="7144"/>
          </a:xfrm>
          <a:prstGeom prst="rect">
            <a:avLst/>
          </a:prstGeom>
          <a:solidFill>
            <a:srgbClr val="F4F6F8"/>
          </a:solidFill>
          <a:ln/>
        </p:spPr>
      </p:sp>
      <p:sp>
        <p:nvSpPr>
          <p:cNvPr id="45" name="Shape 41"/>
          <p:cNvSpPr/>
          <p:nvPr/>
        </p:nvSpPr>
        <p:spPr>
          <a:xfrm>
            <a:off x="6569571" y="2367428"/>
            <a:ext cx="7144" cy="291108"/>
          </a:xfrm>
          <a:prstGeom prst="rect">
            <a:avLst/>
          </a:prstGeom>
          <a:solidFill>
            <a:srgbClr val="D7F2FE"/>
          </a:solidFill>
          <a:ln/>
        </p:spPr>
      </p:sp>
      <p:sp>
        <p:nvSpPr>
          <p:cNvPr id="46" name="Text 42"/>
          <p:cNvSpPr/>
          <p:nvPr/>
        </p:nvSpPr>
        <p:spPr>
          <a:xfrm>
            <a:off x="7515671" y="2428149"/>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47" name="Text 43"/>
          <p:cNvSpPr/>
          <p:nvPr/>
        </p:nvSpPr>
        <p:spPr>
          <a:xfrm>
            <a:off x="571500" y="2658535"/>
            <a:ext cx="3998714" cy="291108"/>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API REST intégrable (ERP, CRM)</a:t>
            </a:r>
            <a:endParaRPr lang="en-US" sz="727" dirty="0"/>
          </a:p>
        </p:txBody>
      </p:sp>
      <p:sp>
        <p:nvSpPr>
          <p:cNvPr id="48" name="Text 44"/>
          <p:cNvSpPr/>
          <p:nvPr/>
        </p:nvSpPr>
        <p:spPr>
          <a:xfrm>
            <a:off x="5514529" y="2719257"/>
            <a:ext cx="107156" cy="169664"/>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64748B"/>
                </a:solidFill>
                <a:latin typeface="JetBrains Mono" pitchFamily="34" charset="0"/>
                <a:ea typeface="JetBrains Mono" pitchFamily="34" charset="-122"/>
                <a:cs typeface="JetBrains Mono" pitchFamily="34" charset="-120"/>
              </a:rPr>
              <a:t>✗</a:t>
            </a:r>
            <a:endParaRPr lang="en-US" sz="942" dirty="0"/>
          </a:p>
        </p:txBody>
      </p:sp>
      <p:sp>
        <p:nvSpPr>
          <p:cNvPr id="49" name="Shape 45"/>
          <p:cNvSpPr/>
          <p:nvPr/>
        </p:nvSpPr>
        <p:spPr>
          <a:xfrm>
            <a:off x="6569571" y="2658535"/>
            <a:ext cx="1999357" cy="291108"/>
          </a:xfrm>
          <a:prstGeom prst="rect">
            <a:avLst/>
          </a:prstGeom>
          <a:solidFill>
            <a:srgbClr val="38BDF8">
              <a:alpha val="5000"/>
            </a:srgbClr>
          </a:solidFill>
          <a:ln/>
        </p:spPr>
      </p:sp>
      <p:sp>
        <p:nvSpPr>
          <p:cNvPr id="50" name="Shape 46"/>
          <p:cNvSpPr/>
          <p:nvPr/>
        </p:nvSpPr>
        <p:spPr>
          <a:xfrm>
            <a:off x="8561784" y="2658535"/>
            <a:ext cx="7144" cy="291108"/>
          </a:xfrm>
          <a:prstGeom prst="rect">
            <a:avLst/>
          </a:prstGeom>
          <a:solidFill>
            <a:srgbClr val="D7F2FE"/>
          </a:solidFill>
          <a:ln/>
        </p:spPr>
      </p:sp>
      <p:sp>
        <p:nvSpPr>
          <p:cNvPr id="51" name="Shape 47"/>
          <p:cNvSpPr/>
          <p:nvPr/>
        </p:nvSpPr>
        <p:spPr>
          <a:xfrm>
            <a:off x="6569571" y="2942499"/>
            <a:ext cx="1999357" cy="7144"/>
          </a:xfrm>
          <a:prstGeom prst="rect">
            <a:avLst/>
          </a:prstGeom>
          <a:solidFill>
            <a:srgbClr val="F4F6F8"/>
          </a:solidFill>
          <a:ln/>
        </p:spPr>
      </p:sp>
      <p:sp>
        <p:nvSpPr>
          <p:cNvPr id="52" name="Shape 48"/>
          <p:cNvSpPr/>
          <p:nvPr/>
        </p:nvSpPr>
        <p:spPr>
          <a:xfrm>
            <a:off x="6569571" y="2658535"/>
            <a:ext cx="7144" cy="291108"/>
          </a:xfrm>
          <a:prstGeom prst="rect">
            <a:avLst/>
          </a:prstGeom>
          <a:solidFill>
            <a:srgbClr val="D7F2FE"/>
          </a:solidFill>
          <a:ln/>
        </p:spPr>
      </p:sp>
      <p:sp>
        <p:nvSpPr>
          <p:cNvPr id="53" name="Text 49"/>
          <p:cNvSpPr/>
          <p:nvPr/>
        </p:nvSpPr>
        <p:spPr>
          <a:xfrm>
            <a:off x="7515671" y="2719257"/>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54" name="Text 50"/>
          <p:cNvSpPr/>
          <p:nvPr/>
        </p:nvSpPr>
        <p:spPr>
          <a:xfrm>
            <a:off x="571500" y="2949643"/>
            <a:ext cx="3998714" cy="291108"/>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Hébergement souverain (Mistral AI)</a:t>
            </a:r>
            <a:endParaRPr lang="en-US" sz="727" dirty="0"/>
          </a:p>
        </p:txBody>
      </p:sp>
      <p:sp>
        <p:nvSpPr>
          <p:cNvPr id="55" name="Text 51"/>
          <p:cNvSpPr/>
          <p:nvPr/>
        </p:nvSpPr>
        <p:spPr>
          <a:xfrm>
            <a:off x="5514529" y="3010365"/>
            <a:ext cx="107156" cy="169664"/>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64748B"/>
                </a:solidFill>
                <a:latin typeface="JetBrains Mono" pitchFamily="34" charset="0"/>
                <a:ea typeface="JetBrains Mono" pitchFamily="34" charset="-122"/>
                <a:cs typeface="JetBrains Mono" pitchFamily="34" charset="-120"/>
              </a:rPr>
              <a:t>✗</a:t>
            </a:r>
            <a:endParaRPr lang="en-US" sz="942" dirty="0"/>
          </a:p>
        </p:txBody>
      </p:sp>
      <p:sp>
        <p:nvSpPr>
          <p:cNvPr id="56" name="Shape 52"/>
          <p:cNvSpPr/>
          <p:nvPr/>
        </p:nvSpPr>
        <p:spPr>
          <a:xfrm>
            <a:off x="6569571" y="2949643"/>
            <a:ext cx="1999357" cy="291108"/>
          </a:xfrm>
          <a:prstGeom prst="rect">
            <a:avLst/>
          </a:prstGeom>
          <a:solidFill>
            <a:srgbClr val="38BDF8">
              <a:alpha val="5000"/>
            </a:srgbClr>
          </a:solidFill>
          <a:ln/>
        </p:spPr>
      </p:sp>
      <p:sp>
        <p:nvSpPr>
          <p:cNvPr id="57" name="Shape 53"/>
          <p:cNvSpPr/>
          <p:nvPr/>
        </p:nvSpPr>
        <p:spPr>
          <a:xfrm>
            <a:off x="8561784" y="2949643"/>
            <a:ext cx="7144" cy="291108"/>
          </a:xfrm>
          <a:prstGeom prst="rect">
            <a:avLst/>
          </a:prstGeom>
          <a:solidFill>
            <a:srgbClr val="D7F2FE"/>
          </a:solidFill>
          <a:ln/>
        </p:spPr>
      </p:sp>
      <p:sp>
        <p:nvSpPr>
          <p:cNvPr id="58" name="Shape 54"/>
          <p:cNvSpPr/>
          <p:nvPr/>
        </p:nvSpPr>
        <p:spPr>
          <a:xfrm>
            <a:off x="6569571" y="3233607"/>
            <a:ext cx="1999357" cy="7144"/>
          </a:xfrm>
          <a:prstGeom prst="rect">
            <a:avLst/>
          </a:prstGeom>
          <a:solidFill>
            <a:srgbClr val="F4F6F8"/>
          </a:solidFill>
          <a:ln/>
        </p:spPr>
      </p:sp>
      <p:sp>
        <p:nvSpPr>
          <p:cNvPr id="59" name="Shape 55"/>
          <p:cNvSpPr/>
          <p:nvPr/>
        </p:nvSpPr>
        <p:spPr>
          <a:xfrm>
            <a:off x="6569571" y="2949643"/>
            <a:ext cx="7144" cy="291108"/>
          </a:xfrm>
          <a:prstGeom prst="rect">
            <a:avLst/>
          </a:prstGeom>
          <a:solidFill>
            <a:srgbClr val="D7F2FE"/>
          </a:solidFill>
          <a:ln/>
        </p:spPr>
      </p:sp>
      <p:sp>
        <p:nvSpPr>
          <p:cNvPr id="60" name="Text 56"/>
          <p:cNvSpPr/>
          <p:nvPr/>
        </p:nvSpPr>
        <p:spPr>
          <a:xfrm>
            <a:off x="7515671" y="3010365"/>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61" name="Text 57"/>
          <p:cNvSpPr/>
          <p:nvPr/>
        </p:nvSpPr>
        <p:spPr>
          <a:xfrm>
            <a:off x="571500" y="3240751"/>
            <a:ext cx="3998714" cy="291108"/>
          </a:xfrm>
          <a:prstGeom prst="rect">
            <a:avLst/>
          </a:prstGeom>
          <a:noFill/>
          <a:ln/>
        </p:spPr>
        <p:txBody>
          <a:bodyPr wrap="square" lIns="0" tIns="68072" rIns="0" bIns="68072" rtlCol="0" anchor="ctr">
            <a:spAutoFit/>
          </a:bodyPr>
          <a:lstStyle/>
          <a:p>
            <a:pPr algn="l"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Open-source core (Transparence)</a:t>
            </a:r>
            <a:endParaRPr lang="en-US" sz="727" dirty="0"/>
          </a:p>
        </p:txBody>
      </p:sp>
      <p:sp>
        <p:nvSpPr>
          <p:cNvPr id="62" name="Text 58"/>
          <p:cNvSpPr/>
          <p:nvPr/>
        </p:nvSpPr>
        <p:spPr>
          <a:xfrm>
            <a:off x="5514529" y="3301473"/>
            <a:ext cx="107156" cy="169664"/>
          </a:xfrm>
          <a:prstGeom prst="rect">
            <a:avLst/>
          </a:prstGeom>
          <a:noFill/>
          <a:ln/>
        </p:spPr>
        <p:txBody>
          <a:bodyPr wrap="none" lIns="0" tIns="0" rIns="0" bIns="0" rtlCol="0" anchor="t">
            <a:spAutoFit/>
          </a:bodyPr>
          <a:lstStyle/>
          <a:p>
            <a:pPr algn="ctr" indent="0" marL="0">
              <a:lnSpc>
                <a:spcPts val="1200"/>
              </a:lnSpc>
              <a:buNone/>
            </a:pPr>
            <a:r>
              <a:rPr lang="en-US" sz="942" dirty="0">
                <a:solidFill>
                  <a:srgbClr val="64748B"/>
                </a:solidFill>
                <a:latin typeface="JetBrains Mono" pitchFamily="34" charset="0"/>
                <a:ea typeface="JetBrains Mono" pitchFamily="34" charset="-122"/>
                <a:cs typeface="JetBrains Mono" pitchFamily="34" charset="-120"/>
              </a:rPr>
              <a:t>✗</a:t>
            </a:r>
            <a:endParaRPr lang="en-US" sz="942" dirty="0"/>
          </a:p>
        </p:txBody>
      </p:sp>
      <p:sp>
        <p:nvSpPr>
          <p:cNvPr id="63" name="Shape 59"/>
          <p:cNvSpPr/>
          <p:nvPr/>
        </p:nvSpPr>
        <p:spPr>
          <a:xfrm>
            <a:off x="6569571" y="3240751"/>
            <a:ext cx="1999357" cy="291108"/>
          </a:xfrm>
          <a:prstGeom prst="rect">
            <a:avLst/>
          </a:prstGeom>
          <a:solidFill>
            <a:srgbClr val="38BDF8">
              <a:alpha val="5000"/>
            </a:srgbClr>
          </a:solidFill>
          <a:ln/>
        </p:spPr>
      </p:sp>
      <p:sp>
        <p:nvSpPr>
          <p:cNvPr id="64" name="Shape 60"/>
          <p:cNvSpPr/>
          <p:nvPr/>
        </p:nvSpPr>
        <p:spPr>
          <a:xfrm>
            <a:off x="8561784" y="3240751"/>
            <a:ext cx="7144" cy="291108"/>
          </a:xfrm>
          <a:prstGeom prst="rect">
            <a:avLst/>
          </a:prstGeom>
          <a:solidFill>
            <a:srgbClr val="D7F2FE"/>
          </a:solidFill>
          <a:ln/>
        </p:spPr>
      </p:sp>
      <p:sp>
        <p:nvSpPr>
          <p:cNvPr id="65" name="Shape 61"/>
          <p:cNvSpPr/>
          <p:nvPr/>
        </p:nvSpPr>
        <p:spPr>
          <a:xfrm>
            <a:off x="6569571" y="3524715"/>
            <a:ext cx="1999357" cy="7144"/>
          </a:xfrm>
          <a:prstGeom prst="rect">
            <a:avLst/>
          </a:prstGeom>
          <a:solidFill>
            <a:srgbClr val="F4F6F8"/>
          </a:solidFill>
          <a:ln/>
        </p:spPr>
      </p:sp>
      <p:sp>
        <p:nvSpPr>
          <p:cNvPr id="66" name="Shape 62"/>
          <p:cNvSpPr/>
          <p:nvPr/>
        </p:nvSpPr>
        <p:spPr>
          <a:xfrm>
            <a:off x="6569571" y="3240751"/>
            <a:ext cx="7144" cy="291108"/>
          </a:xfrm>
          <a:prstGeom prst="rect">
            <a:avLst/>
          </a:prstGeom>
          <a:solidFill>
            <a:srgbClr val="D7F2FE"/>
          </a:solidFill>
          <a:ln/>
        </p:spPr>
      </p:sp>
      <p:sp>
        <p:nvSpPr>
          <p:cNvPr id="67" name="Text 63"/>
          <p:cNvSpPr/>
          <p:nvPr/>
        </p:nvSpPr>
        <p:spPr>
          <a:xfrm>
            <a:off x="7518797" y="3301473"/>
            <a:ext cx="107156"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a:t>
            </a:r>
            <a:endParaRPr lang="en-US" sz="885" dirty="0"/>
          </a:p>
        </p:txBody>
      </p:sp>
      <p:sp>
        <p:nvSpPr>
          <p:cNvPr id="68" name="Shape 64"/>
          <p:cNvSpPr/>
          <p:nvPr/>
        </p:nvSpPr>
        <p:spPr>
          <a:xfrm>
            <a:off x="571500" y="4005188"/>
            <a:ext cx="8001000" cy="852562"/>
          </a:xfrm>
          <a:prstGeom prst="rect">
            <a:avLst/>
          </a:prstGeom>
          <a:solidFill>
            <a:srgbClr val="1E293B">
              <a:alpha val="50000"/>
            </a:srgbClr>
          </a:solidFill>
          <a:ln/>
        </p:spPr>
      </p:sp>
      <p:sp>
        <p:nvSpPr>
          <p:cNvPr id="69" name="Shape 65"/>
          <p:cNvSpPr/>
          <p:nvPr/>
        </p:nvSpPr>
        <p:spPr>
          <a:xfrm>
            <a:off x="571500" y="4005188"/>
            <a:ext cx="28575" cy="852562"/>
          </a:xfrm>
          <a:prstGeom prst="rect">
            <a:avLst/>
          </a:prstGeom>
          <a:solidFill>
            <a:srgbClr val="38BDF8"/>
          </a:solidFill>
          <a:ln/>
        </p:spPr>
      </p:sp>
      <p:sp>
        <p:nvSpPr>
          <p:cNvPr id="70" name="Text 66"/>
          <p:cNvSpPr/>
          <p:nvPr/>
        </p:nvSpPr>
        <p:spPr>
          <a:xfrm>
            <a:off x="700088" y="4133776"/>
            <a:ext cx="7743825" cy="411435"/>
          </a:xfrm>
          <a:prstGeom prst="rect">
            <a:avLst/>
          </a:prstGeom>
          <a:noFill/>
          <a:ln/>
        </p:spPr>
        <p:txBody>
          <a:bodyPr wrap="square" lIns="0" tIns="0" rIns="0" bIns="0" rtlCol="0" anchor="t">
            <a:spAutoFit/>
          </a:bodyPr>
          <a:lstStyle/>
          <a:p>
            <a:pPr algn="l" indent="0" marL="0">
              <a:lnSpc>
                <a:spcPts val="1600"/>
              </a:lnSpc>
              <a:buNone/>
            </a:pPr>
            <a:r>
              <a:rPr lang="en-US" sz="942" i="1" dirty="0">
                <a:solidFill>
                  <a:srgbClr val="94A3B8"/>
                </a:solidFill>
                <a:latin typeface="Inter" pitchFamily="34" charset="0"/>
                <a:ea typeface="Inter" pitchFamily="34" charset="-122"/>
                <a:cs typeface="Inter" pitchFamily="34" charset="-120"/>
              </a:rPr>
              <a:t>"Les entreprises qui adopteront l'IA dans leurs processus commerciaux d'ici 2026 captureront 30 % de parts de marché supplémentaires sur les marchés publics."</a:t>
            </a:r>
            <a:endParaRPr lang="en-US" sz="942" dirty="0"/>
          </a:p>
        </p:txBody>
      </p:sp>
      <p:sp>
        <p:nvSpPr>
          <p:cNvPr id="71" name="Text 67"/>
          <p:cNvSpPr/>
          <p:nvPr/>
        </p:nvSpPr>
        <p:spPr>
          <a:xfrm>
            <a:off x="700088" y="4616648"/>
            <a:ext cx="7743825" cy="112514"/>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38BDF8"/>
                </a:solidFill>
                <a:latin typeface="JetBrains Mono" pitchFamily="34" charset="0"/>
                <a:ea typeface="JetBrains Mono" pitchFamily="34" charset="-122"/>
                <a:cs typeface="JetBrains Mono" pitchFamily="34" charset="-120"/>
              </a:rPr>
              <a:t>— MCKINSEY, 2024</a:t>
            </a:r>
            <a:endParaRPr lang="en-US" sz="62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5486400" cy="5143500"/>
          </a:xfrm>
          <a:prstGeom prst="rect">
            <a:avLst/>
          </a:prstGeom>
          <a:solidFill>
            <a:srgbClr val="000000">
              <a:alpha val="0"/>
            </a:srgbClr>
          </a:solidFill>
          <a:ln/>
        </p:spPr>
      </p:sp>
      <p:sp>
        <p:nvSpPr>
          <p:cNvPr id="5" name="Shape 1"/>
          <p:cNvSpPr/>
          <p:nvPr/>
        </p:nvSpPr>
        <p:spPr>
          <a:xfrm>
            <a:off x="5479256" y="0"/>
            <a:ext cx="7144" cy="5143500"/>
          </a:xfrm>
          <a:prstGeom prst="rect">
            <a:avLst/>
          </a:prstGeom>
          <a:solidFill>
            <a:srgbClr val="EBF8FE"/>
          </a:solidFill>
          <a:ln/>
        </p:spPr>
      </p:sp>
      <p:sp>
        <p:nvSpPr>
          <p:cNvPr id="6" name="Text 2"/>
          <p:cNvSpPr/>
          <p:nvPr/>
        </p:nvSpPr>
        <p:spPr>
          <a:xfrm>
            <a:off x="428625" y="571500"/>
            <a:ext cx="4629150" cy="2743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latin typeface="Inter" pitchFamily="34" charset="0"/>
                <a:ea typeface="Inter" pitchFamily="34" charset="-122"/>
                <a:cs typeface="Inter" pitchFamily="34" charset="-120"/>
              </a:rPr>
              <a:t>L'Impact : Des chiffres qui parlent</a:t>
            </a:r>
            <a:endParaRPr lang="en-US" sz="1602" dirty="0"/>
          </a:p>
        </p:txBody>
      </p:sp>
      <p:sp>
        <p:nvSpPr>
          <p:cNvPr id="7" name="Text 3"/>
          <p:cNvSpPr/>
          <p:nvPr/>
        </p:nvSpPr>
        <p:spPr>
          <a:xfrm>
            <a:off x="428625" y="1274434"/>
            <a:ext cx="1890833" cy="278606"/>
          </a:xfrm>
          <a:prstGeom prst="rect">
            <a:avLst/>
          </a:prstGeom>
          <a:noFill/>
          <a:ln/>
        </p:spPr>
        <p:txBody>
          <a:bodyPr wrap="square" lIns="0" tIns="0" rIns="0" bIns="170053" rtlCol="0" anchor="ctr">
            <a:spAutoFit/>
          </a:bodyPr>
          <a:lstStyle/>
          <a:p>
            <a:pPr algn="l" indent="0" marL="0">
              <a:lnSpc>
                <a:spcPts val="900"/>
              </a:lnSpc>
              <a:buNone/>
            </a:pPr>
            <a:r>
              <a:rPr lang="en-US" sz="683" b="1" spc="1" kern="0" dirty="0">
                <a:solidFill>
                  <a:srgbClr val="38BDF8"/>
                </a:solidFill>
                <a:latin typeface="JetBrains Mono" pitchFamily="34" charset="0"/>
                <a:ea typeface="JetBrains Mono" pitchFamily="34" charset="-122"/>
                <a:cs typeface="JetBrains Mono" pitchFamily="34" charset="-120"/>
              </a:rPr>
              <a:t>INDICATEUR</a:t>
            </a:r>
            <a:endParaRPr lang="en-US" sz="683" dirty="0"/>
          </a:p>
        </p:txBody>
      </p:sp>
      <p:sp>
        <p:nvSpPr>
          <p:cNvPr id="8" name="Text 4"/>
          <p:cNvSpPr/>
          <p:nvPr/>
        </p:nvSpPr>
        <p:spPr>
          <a:xfrm>
            <a:off x="2319458" y="1274434"/>
            <a:ext cx="1207601" cy="278606"/>
          </a:xfrm>
          <a:prstGeom prst="rect">
            <a:avLst/>
          </a:prstGeom>
          <a:noFill/>
          <a:ln/>
        </p:spPr>
        <p:txBody>
          <a:bodyPr wrap="square" lIns="0" tIns="0" rIns="0" bIns="170053" rtlCol="0" anchor="ctr">
            <a:spAutoFit/>
          </a:bodyPr>
          <a:lstStyle/>
          <a:p>
            <a:pPr algn="l" indent="0" marL="0">
              <a:lnSpc>
                <a:spcPts val="900"/>
              </a:lnSpc>
              <a:buNone/>
            </a:pPr>
            <a:r>
              <a:rPr lang="en-US" sz="683" b="1" spc="1" kern="0" dirty="0">
                <a:solidFill>
                  <a:srgbClr val="38BDF8"/>
                </a:solidFill>
                <a:latin typeface="JetBrains Mono" pitchFamily="34" charset="0"/>
                <a:ea typeface="JetBrains Mono" pitchFamily="34" charset="-122"/>
                <a:cs typeface="JetBrains Mono" pitchFamily="34" charset="-120"/>
              </a:rPr>
              <a:t>AVANT OFFRIA</a:t>
            </a:r>
            <a:endParaRPr lang="en-US" sz="683" dirty="0"/>
          </a:p>
        </p:txBody>
      </p:sp>
      <p:sp>
        <p:nvSpPr>
          <p:cNvPr id="9" name="Text 5"/>
          <p:cNvSpPr/>
          <p:nvPr/>
        </p:nvSpPr>
        <p:spPr>
          <a:xfrm>
            <a:off x="3527059" y="1274434"/>
            <a:ext cx="1530716" cy="278606"/>
          </a:xfrm>
          <a:prstGeom prst="rect">
            <a:avLst/>
          </a:prstGeom>
          <a:noFill/>
          <a:ln/>
        </p:spPr>
        <p:txBody>
          <a:bodyPr wrap="square" lIns="0" tIns="0" rIns="0" bIns="170053" rtlCol="0" anchor="ctr">
            <a:spAutoFit/>
          </a:bodyPr>
          <a:lstStyle/>
          <a:p>
            <a:pPr algn="l" indent="0" marL="0">
              <a:lnSpc>
                <a:spcPts val="900"/>
              </a:lnSpc>
              <a:buNone/>
            </a:pPr>
            <a:r>
              <a:rPr lang="en-US" sz="683" b="1" spc="1" kern="0" dirty="0">
                <a:solidFill>
                  <a:srgbClr val="38BDF8"/>
                </a:solidFill>
                <a:latin typeface="JetBrains Mono" pitchFamily="34" charset="0"/>
                <a:ea typeface="JetBrains Mono" pitchFamily="34" charset="-122"/>
                <a:cs typeface="JetBrains Mono" pitchFamily="34" charset="-120"/>
              </a:rPr>
              <a:t>APRÈS OFFRIA</a:t>
            </a:r>
            <a:endParaRPr lang="en-US" sz="683" dirty="0"/>
          </a:p>
        </p:txBody>
      </p:sp>
      <p:sp>
        <p:nvSpPr>
          <p:cNvPr id="10" name="Text 6"/>
          <p:cNvSpPr/>
          <p:nvPr/>
        </p:nvSpPr>
        <p:spPr>
          <a:xfrm>
            <a:off x="428625" y="1553040"/>
            <a:ext cx="1890833"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FFFFFF"/>
                </a:solidFill>
                <a:latin typeface="JetBrains Mono" pitchFamily="34" charset="0"/>
                <a:ea typeface="JetBrains Mono" pitchFamily="34" charset="-122"/>
                <a:cs typeface="JetBrains Mono" pitchFamily="34" charset="-120"/>
              </a:rPr>
              <a:t>Temps par réponse</a:t>
            </a:r>
            <a:endParaRPr lang="en-US" sz="683" dirty="0"/>
          </a:p>
        </p:txBody>
      </p:sp>
      <p:sp>
        <p:nvSpPr>
          <p:cNvPr id="11" name="Text 7"/>
          <p:cNvSpPr/>
          <p:nvPr/>
        </p:nvSpPr>
        <p:spPr>
          <a:xfrm>
            <a:off x="2319458" y="1553040"/>
            <a:ext cx="1207601" cy="496491"/>
          </a:xfrm>
          <a:prstGeom prst="rect">
            <a:avLst/>
          </a:prstGeom>
          <a:noFill/>
          <a:ln/>
        </p:spPr>
        <p:txBody>
          <a:bodyPr wrap="square" lIns="0" tIns="212598" rIns="0" bIns="212598" rtlCol="0" anchor="ctr">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16–38 heures</a:t>
            </a:r>
            <a:endParaRPr lang="en-US" sz="727" dirty="0"/>
          </a:p>
        </p:txBody>
      </p:sp>
      <p:sp>
        <p:nvSpPr>
          <p:cNvPr id="12" name="Text 8"/>
          <p:cNvSpPr/>
          <p:nvPr/>
        </p:nvSpPr>
        <p:spPr>
          <a:xfrm>
            <a:off x="3527059" y="1553040"/>
            <a:ext cx="1530716"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38BDF8"/>
                </a:solidFill>
                <a:latin typeface="JetBrains Mono" pitchFamily="34" charset="0"/>
                <a:ea typeface="JetBrains Mono" pitchFamily="34" charset="-122"/>
                <a:cs typeface="JetBrains Mono" pitchFamily="34" charset="-120"/>
              </a:rPr>
              <a:t>&lt; 2 minutes</a:t>
            </a:r>
            <a:endParaRPr lang="en-US" sz="683" dirty="0"/>
          </a:p>
        </p:txBody>
      </p:sp>
      <p:sp>
        <p:nvSpPr>
          <p:cNvPr id="13" name="Text 9"/>
          <p:cNvSpPr/>
          <p:nvPr/>
        </p:nvSpPr>
        <p:spPr>
          <a:xfrm>
            <a:off x="428625" y="2049531"/>
            <a:ext cx="1890833"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FFFFFF"/>
                </a:solidFill>
                <a:latin typeface="JetBrains Mono" pitchFamily="34" charset="0"/>
                <a:ea typeface="JetBrains Mono" pitchFamily="34" charset="-122"/>
                <a:cs typeface="JetBrains Mono" pitchFamily="34" charset="-120"/>
              </a:rPr>
              <a:t>Volume mensuel</a:t>
            </a:r>
            <a:endParaRPr lang="en-US" sz="683" dirty="0"/>
          </a:p>
        </p:txBody>
      </p:sp>
      <p:sp>
        <p:nvSpPr>
          <p:cNvPr id="14" name="Text 10"/>
          <p:cNvSpPr/>
          <p:nvPr/>
        </p:nvSpPr>
        <p:spPr>
          <a:xfrm>
            <a:off x="2319458" y="2049531"/>
            <a:ext cx="1207601" cy="496491"/>
          </a:xfrm>
          <a:prstGeom prst="rect">
            <a:avLst/>
          </a:prstGeom>
          <a:noFill/>
          <a:ln/>
        </p:spPr>
        <p:txBody>
          <a:bodyPr wrap="square" lIns="0" tIns="212598" rIns="0" bIns="212598" rtlCol="0" anchor="ctr">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1 à 3 AO</a:t>
            </a:r>
            <a:endParaRPr lang="en-US" sz="727" dirty="0"/>
          </a:p>
        </p:txBody>
      </p:sp>
      <p:sp>
        <p:nvSpPr>
          <p:cNvPr id="15" name="Text 11"/>
          <p:cNvSpPr/>
          <p:nvPr/>
        </p:nvSpPr>
        <p:spPr>
          <a:xfrm>
            <a:off x="3527059" y="2049531"/>
            <a:ext cx="1530716"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38BDF8"/>
                </a:solidFill>
                <a:latin typeface="JetBrains Mono" pitchFamily="34" charset="0"/>
                <a:ea typeface="JetBrains Mono" pitchFamily="34" charset="-122"/>
                <a:cs typeface="JetBrains Mono" pitchFamily="34" charset="-120"/>
              </a:rPr>
              <a:t>10 à 50 AO</a:t>
            </a:r>
            <a:endParaRPr lang="en-US" sz="683" dirty="0"/>
          </a:p>
        </p:txBody>
      </p:sp>
      <p:sp>
        <p:nvSpPr>
          <p:cNvPr id="16" name="Text 12"/>
          <p:cNvSpPr/>
          <p:nvPr/>
        </p:nvSpPr>
        <p:spPr>
          <a:xfrm>
            <a:off x="428625" y="2546021"/>
            <a:ext cx="1890833"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FFFFFF"/>
                </a:solidFill>
                <a:latin typeface="JetBrains Mono" pitchFamily="34" charset="0"/>
                <a:ea typeface="JetBrains Mono" pitchFamily="34" charset="-122"/>
                <a:cs typeface="JetBrains Mono" pitchFamily="34" charset="-120"/>
              </a:rPr>
              <a:t>Coût moyen</a:t>
            </a:r>
            <a:endParaRPr lang="en-US" sz="683" dirty="0"/>
          </a:p>
        </p:txBody>
      </p:sp>
      <p:sp>
        <p:nvSpPr>
          <p:cNvPr id="17" name="Text 13"/>
          <p:cNvSpPr/>
          <p:nvPr/>
        </p:nvSpPr>
        <p:spPr>
          <a:xfrm>
            <a:off x="2319458" y="2546021"/>
            <a:ext cx="1207601" cy="496491"/>
          </a:xfrm>
          <a:prstGeom prst="rect">
            <a:avLst/>
          </a:prstGeom>
          <a:noFill/>
          <a:ln/>
        </p:spPr>
        <p:txBody>
          <a:bodyPr wrap="square" lIns="0" tIns="212598" rIns="0" bIns="212598" rtlCol="0" anchor="ctr">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3 000 €</a:t>
            </a:r>
            <a:endParaRPr lang="en-US" sz="727" dirty="0"/>
          </a:p>
        </p:txBody>
      </p:sp>
      <p:sp>
        <p:nvSpPr>
          <p:cNvPr id="18" name="Text 14"/>
          <p:cNvSpPr/>
          <p:nvPr/>
        </p:nvSpPr>
        <p:spPr>
          <a:xfrm>
            <a:off x="3527059" y="2546021"/>
            <a:ext cx="1530716"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38BDF8"/>
                </a:solidFill>
                <a:latin typeface="JetBrains Mono" pitchFamily="34" charset="0"/>
                <a:ea typeface="JetBrains Mono" pitchFamily="34" charset="-122"/>
                <a:cs typeface="JetBrains Mono" pitchFamily="34" charset="-120"/>
              </a:rPr>
              <a:t>Quelques centimes</a:t>
            </a:r>
            <a:endParaRPr lang="en-US" sz="683" dirty="0"/>
          </a:p>
        </p:txBody>
      </p:sp>
      <p:sp>
        <p:nvSpPr>
          <p:cNvPr id="19" name="Text 15"/>
          <p:cNvSpPr/>
          <p:nvPr/>
        </p:nvSpPr>
        <p:spPr>
          <a:xfrm>
            <a:off x="428625" y="3042512"/>
            <a:ext cx="1890833"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FFFFFF"/>
                </a:solidFill>
                <a:latin typeface="JetBrains Mono" pitchFamily="34" charset="0"/>
                <a:ea typeface="JetBrains Mono" pitchFamily="34" charset="-122"/>
                <a:cs typeface="JetBrains Mono" pitchFamily="34" charset="-120"/>
              </a:rPr>
              <a:t>Taux de réponse cible</a:t>
            </a:r>
            <a:endParaRPr lang="en-US" sz="683" dirty="0"/>
          </a:p>
        </p:txBody>
      </p:sp>
      <p:sp>
        <p:nvSpPr>
          <p:cNvPr id="20" name="Text 16"/>
          <p:cNvSpPr/>
          <p:nvPr/>
        </p:nvSpPr>
        <p:spPr>
          <a:xfrm>
            <a:off x="2319458" y="3042512"/>
            <a:ext cx="1207601" cy="496491"/>
          </a:xfrm>
          <a:prstGeom prst="rect">
            <a:avLst/>
          </a:prstGeom>
          <a:noFill/>
          <a:ln/>
        </p:spPr>
        <p:txBody>
          <a:bodyPr wrap="square" lIns="0" tIns="212598" rIns="0" bIns="212598" rtlCol="0" anchor="ctr">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20 %</a:t>
            </a:r>
            <a:endParaRPr lang="en-US" sz="727" dirty="0"/>
          </a:p>
        </p:txBody>
      </p:sp>
      <p:sp>
        <p:nvSpPr>
          <p:cNvPr id="21" name="Text 17"/>
          <p:cNvSpPr/>
          <p:nvPr/>
        </p:nvSpPr>
        <p:spPr>
          <a:xfrm>
            <a:off x="3527059" y="3042512"/>
            <a:ext cx="1530716" cy="496491"/>
          </a:xfrm>
          <a:prstGeom prst="rect">
            <a:avLst/>
          </a:prstGeom>
          <a:noFill/>
          <a:ln/>
        </p:spPr>
        <p:txBody>
          <a:bodyPr wrap="square" lIns="0" tIns="212598" rIns="0" bIns="212598" rtlCol="0" anchor="ctr">
            <a:spAutoFit/>
          </a:bodyPr>
          <a:lstStyle/>
          <a:p>
            <a:pPr algn="l" indent="0" marL="0">
              <a:lnSpc>
                <a:spcPts val="900"/>
              </a:lnSpc>
              <a:buNone/>
            </a:pPr>
            <a:r>
              <a:rPr lang="en-US" sz="683" b="1" dirty="0">
                <a:solidFill>
                  <a:srgbClr val="38BDF8"/>
                </a:solidFill>
                <a:latin typeface="JetBrains Mono" pitchFamily="34" charset="0"/>
                <a:ea typeface="JetBrains Mono" pitchFamily="34" charset="-122"/>
                <a:cs typeface="JetBrains Mono" pitchFamily="34" charset="-120"/>
              </a:rPr>
              <a:t>80 %+</a:t>
            </a:r>
            <a:endParaRPr lang="en-US" sz="683" dirty="0"/>
          </a:p>
        </p:txBody>
      </p:sp>
      <p:sp>
        <p:nvSpPr>
          <p:cNvPr id="22" name="Shape 18"/>
          <p:cNvSpPr/>
          <p:nvPr/>
        </p:nvSpPr>
        <p:spPr>
          <a:xfrm>
            <a:off x="5486400" y="0"/>
            <a:ext cx="3657600" cy="5143500"/>
          </a:xfrm>
          <a:prstGeom prst="rect">
            <a:avLst/>
          </a:prstGeom>
          <a:solidFill>
            <a:srgbClr val="1E293B">
              <a:alpha val="20000"/>
            </a:srgbClr>
          </a:solidFill>
          <a:ln/>
        </p:spPr>
      </p:sp>
      <p:sp>
        <p:nvSpPr>
          <p:cNvPr id="23" name="Text 19"/>
          <p:cNvSpPr/>
          <p:nvPr/>
        </p:nvSpPr>
        <p:spPr>
          <a:xfrm>
            <a:off x="5915025" y="1335212"/>
            <a:ext cx="2800350" cy="857250"/>
          </a:xfrm>
          <a:prstGeom prst="rect">
            <a:avLst/>
          </a:prstGeom>
          <a:noFill/>
          <a:ln/>
        </p:spPr>
        <p:txBody>
          <a:bodyPr wrap="none" lIns="0" tIns="0" rIns="0" bIns="0" rtlCol="0" anchor="t">
            <a:spAutoFit/>
          </a:bodyPr>
          <a:lstStyle/>
          <a:p>
            <a:pPr algn="ctr" indent="0" marL="0">
              <a:lnSpc>
                <a:spcPts val="6800"/>
              </a:lnSpc>
              <a:buNone/>
            </a:pPr>
            <a:r>
              <a:rPr lang="en-US" sz="6218" b="1" dirty="0">
                <a:solidFill>
                  <a:srgbClr val="38BDF8"/>
                </a:solidFill>
                <a:latin typeface="Inter" pitchFamily="34" charset="0"/>
                <a:ea typeface="Inter" pitchFamily="34" charset="-122"/>
                <a:cs typeface="Inter" pitchFamily="34" charset="-120"/>
              </a:rPr>
              <a:t>x25</a:t>
            </a:r>
            <a:endParaRPr lang="en-US" sz="6218" dirty="0"/>
          </a:p>
        </p:txBody>
      </p:sp>
      <p:sp>
        <p:nvSpPr>
          <p:cNvPr id="24" name="Text 20"/>
          <p:cNvSpPr/>
          <p:nvPr/>
        </p:nvSpPr>
        <p:spPr>
          <a:xfrm>
            <a:off x="5915025" y="2263899"/>
            <a:ext cx="2800350" cy="150019"/>
          </a:xfrm>
          <a:prstGeom prst="rect">
            <a:avLst/>
          </a:prstGeom>
          <a:noFill/>
          <a:ln/>
        </p:spPr>
        <p:txBody>
          <a:bodyPr wrap="none" lIns="0" tIns="0" rIns="0" bIns="0" rtlCol="0" anchor="t">
            <a:spAutoFit/>
          </a:bodyPr>
          <a:lstStyle/>
          <a:p>
            <a:pPr algn="ctr" indent="0" marL="0">
              <a:lnSpc>
                <a:spcPts val="1100"/>
              </a:lnSpc>
              <a:buNone/>
            </a:pPr>
            <a:r>
              <a:rPr lang="en-US" sz="834" spc="2" kern="0" dirty="0">
                <a:solidFill>
                  <a:srgbClr val="94A3B8"/>
                </a:solidFill>
                <a:latin typeface="JetBrains Mono" pitchFamily="34" charset="0"/>
                <a:ea typeface="JetBrains Mono" pitchFamily="34" charset="-122"/>
                <a:cs typeface="JetBrains Mono" pitchFamily="34" charset="-120"/>
              </a:rPr>
              <a:t>CAPACITÉ DE RÉPONSE</a:t>
            </a:r>
            <a:endParaRPr lang="en-US" sz="834" dirty="0"/>
          </a:p>
        </p:txBody>
      </p:sp>
      <p:sp>
        <p:nvSpPr>
          <p:cNvPr id="25" name="Text 21"/>
          <p:cNvSpPr/>
          <p:nvPr/>
        </p:nvSpPr>
        <p:spPr>
          <a:xfrm>
            <a:off x="5915025" y="2985418"/>
            <a:ext cx="2800350" cy="822871"/>
          </a:xfrm>
          <a:prstGeom prst="rect">
            <a:avLst/>
          </a:prstGeom>
          <a:noFill/>
          <a:ln/>
        </p:spPr>
        <p:txBody>
          <a:bodyPr wrap="square" lIns="170053" tIns="0" rIns="0" bIns="0" rtlCol="0" anchor="t">
            <a:spAutoFit/>
          </a:bodyPr>
          <a:lstStyle/>
          <a:p>
            <a:pPr algn="l" indent="0" marL="0">
              <a:lnSpc>
                <a:spcPts val="1600"/>
              </a:lnSpc>
              <a:buNone/>
            </a:pPr>
            <a:r>
              <a:rPr lang="en-US" sz="942" i="1" dirty="0">
                <a:solidFill>
                  <a:srgbClr val="64748B"/>
                </a:solidFill>
                <a:latin typeface="Inter" pitchFamily="34" charset="0"/>
                <a:ea typeface="Inter" pitchFamily="34" charset="-122"/>
                <a:cs typeface="Inter" pitchFamily="34" charset="-120"/>
              </a:rPr>
              <a:t>OffrIA ne remplace pas vos équipes — elle leur donne une capacité de réponse démultipliée pour un coût marginal quasi nul.</a:t>
            </a:r>
            <a:endParaRPr lang="en-US" sz="94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572000" cy="5143500"/>
          </a:xfrm>
          <a:prstGeom prst="rect">
            <a:avLst/>
          </a:prstGeom>
          <a:solidFill>
            <a:srgbClr val="000000">
              <a:alpha val="0"/>
            </a:srgbClr>
          </a:solidFill>
          <a:ln/>
        </p:spPr>
      </p:sp>
      <p:sp>
        <p:nvSpPr>
          <p:cNvPr id="5" name="Shape 1"/>
          <p:cNvSpPr/>
          <p:nvPr/>
        </p:nvSpPr>
        <p:spPr>
          <a:xfrm>
            <a:off x="4564856" y="0"/>
            <a:ext cx="7144" cy="5143500"/>
          </a:xfrm>
          <a:prstGeom prst="rect">
            <a:avLst/>
          </a:prstGeom>
          <a:solidFill>
            <a:srgbClr val="EBF8FE"/>
          </a:solidFill>
          <a:ln/>
        </p:spPr>
      </p:sp>
      <p:sp>
        <p:nvSpPr>
          <p:cNvPr id="6" name="Text 2"/>
          <p:cNvSpPr/>
          <p:nvPr/>
        </p:nvSpPr>
        <p:spPr>
          <a:xfrm>
            <a:off x="428625" y="571500"/>
            <a:ext cx="3714750" cy="112514"/>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38BDF8"/>
                </a:solidFill>
                <a:latin typeface="JetBrains Mono" pitchFamily="34" charset="0"/>
                <a:ea typeface="JetBrains Mono" pitchFamily="34" charset="-122"/>
                <a:cs typeface="JetBrains Mono" pitchFamily="34" charset="-120"/>
              </a:rPr>
              <a:t>TRANSPARENCE DES COÛTS LLM</a:t>
            </a:r>
            <a:endParaRPr lang="en-US" sz="621" dirty="0"/>
          </a:p>
        </p:txBody>
      </p:sp>
      <p:sp>
        <p:nvSpPr>
          <p:cNvPr id="7" name="Text 3"/>
          <p:cNvSpPr/>
          <p:nvPr/>
        </p:nvSpPr>
        <p:spPr>
          <a:xfrm>
            <a:off x="428625" y="826889"/>
            <a:ext cx="3714750" cy="2743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FFFFFF"/>
                </a:solidFill>
                <a:latin typeface="Inter" pitchFamily="34" charset="0"/>
                <a:ea typeface="Inter" pitchFamily="34" charset="-122"/>
                <a:cs typeface="Inter" pitchFamily="34" charset="-120"/>
              </a:rPr>
              <a:t>Coût par génération</a:t>
            </a:r>
            <a:endParaRPr lang="en-US" sz="1602" dirty="0"/>
          </a:p>
        </p:txBody>
      </p:sp>
      <p:sp>
        <p:nvSpPr>
          <p:cNvPr id="8" name="Text 4"/>
          <p:cNvSpPr/>
          <p:nvPr/>
        </p:nvSpPr>
        <p:spPr>
          <a:xfrm>
            <a:off x="428625" y="1386948"/>
            <a:ext cx="1857375" cy="233958"/>
          </a:xfrm>
          <a:prstGeom prst="rect">
            <a:avLst/>
          </a:prstGeom>
          <a:noFill/>
          <a:ln/>
        </p:spPr>
        <p:txBody>
          <a:bodyPr wrap="square" lIns="0" tIns="0" rIns="0" bIns="127508" rtlCol="0" anchor="ctr">
            <a:spAutoFit/>
          </a:bodyPr>
          <a:lstStyle/>
          <a:p>
            <a:pPr algn="l" indent="0" marL="0">
              <a:lnSpc>
                <a:spcPts val="900"/>
              </a:lnSpc>
              <a:buNone/>
            </a:pPr>
            <a:r>
              <a:rPr lang="en-US" sz="634" b="1" spc="1" kern="0" dirty="0">
                <a:solidFill>
                  <a:srgbClr val="38BDF8"/>
                </a:solidFill>
                <a:latin typeface="JetBrains Mono" pitchFamily="34" charset="0"/>
                <a:ea typeface="JetBrains Mono" pitchFamily="34" charset="-122"/>
                <a:cs typeface="JetBrains Mono" pitchFamily="34" charset="-120"/>
              </a:rPr>
              <a:t>PROVIDER / MODÈLE</a:t>
            </a:r>
            <a:endParaRPr lang="en-US" sz="634" dirty="0"/>
          </a:p>
        </p:txBody>
      </p:sp>
      <p:sp>
        <p:nvSpPr>
          <p:cNvPr id="9" name="Text 5"/>
          <p:cNvSpPr/>
          <p:nvPr/>
        </p:nvSpPr>
        <p:spPr>
          <a:xfrm>
            <a:off x="2286000" y="1386948"/>
            <a:ext cx="1857375" cy="233958"/>
          </a:xfrm>
          <a:prstGeom prst="rect">
            <a:avLst/>
          </a:prstGeom>
          <a:noFill/>
          <a:ln/>
        </p:spPr>
        <p:txBody>
          <a:bodyPr wrap="square" lIns="0" tIns="0" rIns="0" bIns="127508" rtlCol="0" anchor="ctr">
            <a:spAutoFit/>
          </a:bodyPr>
          <a:lstStyle/>
          <a:p>
            <a:pPr algn="l" indent="0" marL="0">
              <a:lnSpc>
                <a:spcPts val="900"/>
              </a:lnSpc>
              <a:buNone/>
            </a:pPr>
            <a:r>
              <a:rPr lang="en-US" sz="634" b="1" spc="1" kern="0" dirty="0">
                <a:solidFill>
                  <a:srgbClr val="38BDF8"/>
                </a:solidFill>
                <a:latin typeface="JetBrains Mono" pitchFamily="34" charset="0"/>
                <a:ea typeface="JetBrains Mono" pitchFamily="34" charset="-122"/>
                <a:cs typeface="JetBrains Mono" pitchFamily="34" charset="-120"/>
              </a:rPr>
              <a:t>COÛT / GÉNÉRATION</a:t>
            </a:r>
            <a:endParaRPr lang="en-US" sz="634" dirty="0"/>
          </a:p>
        </p:txBody>
      </p:sp>
      <p:sp>
        <p:nvSpPr>
          <p:cNvPr id="10" name="Text 6"/>
          <p:cNvSpPr/>
          <p:nvPr/>
        </p:nvSpPr>
        <p:spPr>
          <a:xfrm>
            <a:off x="428625" y="1620906"/>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74" dirty="0">
                <a:solidFill>
                  <a:srgbClr val="94A3B8"/>
                </a:solidFill>
                <a:latin typeface="JetBrains Mono" pitchFamily="34" charset="0"/>
                <a:ea typeface="JetBrains Mono" pitchFamily="34" charset="-122"/>
                <a:cs typeface="JetBrains Mono" pitchFamily="34" charset="-120"/>
              </a:rPr>
              <a:t>Claude Sonnet</a:t>
            </a:r>
            <a:endParaRPr lang="en-US" sz="674" dirty="0"/>
          </a:p>
        </p:txBody>
      </p:sp>
      <p:sp>
        <p:nvSpPr>
          <p:cNvPr id="11" name="Text 7"/>
          <p:cNvSpPr/>
          <p:nvPr/>
        </p:nvSpPr>
        <p:spPr>
          <a:xfrm>
            <a:off x="2286000" y="1620906"/>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34" b="1" dirty="0">
                <a:solidFill>
                  <a:srgbClr val="FFFFFF"/>
                </a:solidFill>
                <a:latin typeface="JetBrains Mono" pitchFamily="34" charset="0"/>
                <a:ea typeface="JetBrains Mono" pitchFamily="34" charset="-122"/>
                <a:cs typeface="JetBrains Mono" pitchFamily="34" charset="-120"/>
              </a:rPr>
              <a:t>~1,65 MAD</a:t>
            </a:r>
            <a:endParaRPr lang="en-US" sz="634" dirty="0"/>
          </a:p>
        </p:txBody>
      </p:sp>
      <p:sp>
        <p:nvSpPr>
          <p:cNvPr id="12" name="Text 8"/>
          <p:cNvSpPr/>
          <p:nvPr/>
        </p:nvSpPr>
        <p:spPr>
          <a:xfrm>
            <a:off x="428625" y="1965592"/>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74" dirty="0">
                <a:solidFill>
                  <a:srgbClr val="94A3B8"/>
                </a:solidFill>
                <a:latin typeface="JetBrains Mono" pitchFamily="34" charset="0"/>
                <a:ea typeface="JetBrains Mono" pitchFamily="34" charset="-122"/>
                <a:cs typeface="JetBrains Mono" pitchFamily="34" charset="-120"/>
              </a:rPr>
              <a:t>Claude Opus</a:t>
            </a:r>
            <a:endParaRPr lang="en-US" sz="674" dirty="0"/>
          </a:p>
        </p:txBody>
      </p:sp>
      <p:sp>
        <p:nvSpPr>
          <p:cNvPr id="13" name="Text 9"/>
          <p:cNvSpPr/>
          <p:nvPr/>
        </p:nvSpPr>
        <p:spPr>
          <a:xfrm>
            <a:off x="2286000" y="1965592"/>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34" b="1" dirty="0">
                <a:solidFill>
                  <a:srgbClr val="FFFFFF"/>
                </a:solidFill>
                <a:latin typeface="JetBrains Mono" pitchFamily="34" charset="0"/>
                <a:ea typeface="JetBrains Mono" pitchFamily="34" charset="-122"/>
                <a:cs typeface="JetBrains Mono" pitchFamily="34" charset="-120"/>
              </a:rPr>
              <a:t>~8,25 MAD</a:t>
            </a:r>
            <a:endParaRPr lang="en-US" sz="634" dirty="0"/>
          </a:p>
        </p:txBody>
      </p:sp>
      <p:sp>
        <p:nvSpPr>
          <p:cNvPr id="14" name="Text 10"/>
          <p:cNvSpPr/>
          <p:nvPr/>
        </p:nvSpPr>
        <p:spPr>
          <a:xfrm>
            <a:off x="428625" y="2310278"/>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74" dirty="0">
                <a:solidFill>
                  <a:srgbClr val="94A3B8"/>
                </a:solidFill>
                <a:latin typeface="JetBrains Mono" pitchFamily="34" charset="0"/>
                <a:ea typeface="JetBrains Mono" pitchFamily="34" charset="-122"/>
                <a:cs typeface="JetBrains Mono" pitchFamily="34" charset="-120"/>
              </a:rPr>
              <a:t>GPT-4o</a:t>
            </a:r>
            <a:endParaRPr lang="en-US" sz="674" dirty="0"/>
          </a:p>
        </p:txBody>
      </p:sp>
      <p:sp>
        <p:nvSpPr>
          <p:cNvPr id="15" name="Text 11"/>
          <p:cNvSpPr/>
          <p:nvPr/>
        </p:nvSpPr>
        <p:spPr>
          <a:xfrm>
            <a:off x="2286000" y="2310278"/>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34" b="1" dirty="0">
                <a:solidFill>
                  <a:srgbClr val="FFFFFF"/>
                </a:solidFill>
                <a:latin typeface="JetBrains Mono" pitchFamily="34" charset="0"/>
                <a:ea typeface="JetBrains Mono" pitchFamily="34" charset="-122"/>
                <a:cs typeface="JetBrains Mono" pitchFamily="34" charset="-120"/>
              </a:rPr>
              <a:t>~2,20 MAD</a:t>
            </a:r>
            <a:endParaRPr lang="en-US" sz="634" dirty="0"/>
          </a:p>
        </p:txBody>
      </p:sp>
      <p:sp>
        <p:nvSpPr>
          <p:cNvPr id="16" name="Text 12"/>
          <p:cNvSpPr/>
          <p:nvPr/>
        </p:nvSpPr>
        <p:spPr>
          <a:xfrm>
            <a:off x="428625" y="2654964"/>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74" dirty="0">
                <a:solidFill>
                  <a:srgbClr val="94A3B8"/>
                </a:solidFill>
                <a:latin typeface="JetBrains Mono" pitchFamily="34" charset="0"/>
                <a:ea typeface="JetBrains Mono" pitchFamily="34" charset="-122"/>
                <a:cs typeface="JetBrains Mono" pitchFamily="34" charset="-120"/>
              </a:rPr>
              <a:t>Mistral Large</a:t>
            </a:r>
            <a:endParaRPr lang="en-US" sz="674" dirty="0"/>
          </a:p>
        </p:txBody>
      </p:sp>
      <p:sp>
        <p:nvSpPr>
          <p:cNvPr id="17" name="Text 13"/>
          <p:cNvSpPr/>
          <p:nvPr/>
        </p:nvSpPr>
        <p:spPr>
          <a:xfrm>
            <a:off x="2286000" y="2654964"/>
            <a:ext cx="1857375" cy="344686"/>
          </a:xfrm>
          <a:prstGeom prst="rect">
            <a:avLst/>
          </a:prstGeom>
          <a:noFill/>
          <a:ln/>
        </p:spPr>
        <p:txBody>
          <a:bodyPr wrap="square" lIns="0" tIns="127508" rIns="0" bIns="127508" rtlCol="0" anchor="ctr">
            <a:spAutoFit/>
          </a:bodyPr>
          <a:lstStyle/>
          <a:p>
            <a:pPr algn="l" indent="0" marL="0">
              <a:lnSpc>
                <a:spcPts val="900"/>
              </a:lnSpc>
              <a:buNone/>
            </a:pPr>
            <a:r>
              <a:rPr lang="en-US" sz="634" b="1" dirty="0">
                <a:solidFill>
                  <a:srgbClr val="FFFFFF"/>
                </a:solidFill>
                <a:latin typeface="JetBrains Mono" pitchFamily="34" charset="0"/>
                <a:ea typeface="JetBrains Mono" pitchFamily="34" charset="-122"/>
                <a:cs typeface="JetBrains Mono" pitchFamily="34" charset="-120"/>
              </a:rPr>
              <a:t>~0,90 MAD</a:t>
            </a:r>
            <a:endParaRPr lang="en-US" sz="634" dirty="0"/>
          </a:p>
        </p:txBody>
      </p:sp>
      <p:sp>
        <p:nvSpPr>
          <p:cNvPr id="18" name="Text 14"/>
          <p:cNvSpPr/>
          <p:nvPr/>
        </p:nvSpPr>
        <p:spPr>
          <a:xfrm>
            <a:off x="428625" y="3217534"/>
            <a:ext cx="3714750" cy="220005"/>
          </a:xfrm>
          <a:prstGeom prst="rect">
            <a:avLst/>
          </a:prstGeom>
          <a:noFill/>
          <a:ln/>
        </p:spPr>
        <p:txBody>
          <a:bodyPr wrap="square" lIns="0" tIns="0" rIns="0" bIns="0" rtlCol="0" anchor="t">
            <a:spAutoFit/>
          </a:bodyPr>
          <a:lstStyle/>
          <a:p>
            <a:pPr algn="l" indent="0" marL="0">
              <a:lnSpc>
                <a:spcPts val="900"/>
              </a:lnSpc>
              <a:buNone/>
            </a:pPr>
            <a:r>
              <a:rPr lang="en-US" sz="568" dirty="0">
                <a:solidFill>
                  <a:srgbClr val="64748B"/>
                </a:solidFill>
                <a:latin typeface="JetBrains Mono" pitchFamily="34" charset="0"/>
                <a:ea typeface="JetBrains Mono" pitchFamily="34" charset="-122"/>
                <a:cs typeface="JetBrains Mono" pitchFamily="34" charset="-120"/>
              </a:rPr>
              <a:t>*Estimations basées sur ~25 000 tokens par génération.</a:t>
            </a:r>
            <a:pPr algn="l" indent="0" marL="0">
              <a:lnSpc>
                <a:spcPts val="900"/>
              </a:lnSpc>
              <a:buNone/>
            </a:pPr>
            <a:r>
              <a:rPr lang="en-US" sz="568" dirty="0">
                <a:solidFill>
                  <a:srgbClr val="64748B"/>
                </a:solidFill>
                <a:latin typeface="JetBrains Mono" pitchFamily="34" charset="0"/>
                <a:ea typeface="JetBrains Mono" pitchFamily="34" charset="-122"/>
                <a:cs typeface="JetBrains Mono" pitchFamily="34" charset="-120"/>
              </a:rPr>
              <a:t>
</a:t>
            </a:r>
            <a:pPr algn="l" indent="0" marL="0">
              <a:lnSpc>
                <a:spcPts val="900"/>
              </a:lnSpc>
              <a:buNone/>
            </a:pPr>
            <a:r>
              <a:rPr lang="en-US" sz="568" dirty="0">
                <a:solidFill>
                  <a:srgbClr val="64748B"/>
                </a:solidFill>
                <a:latin typeface="JetBrains Mono" pitchFamily="34" charset="0"/>
                <a:ea typeface="JetBrains Mono" pitchFamily="34" charset="-122"/>
                <a:cs typeface="JetBrains Mono" pitchFamily="34" charset="-120"/>
              </a:rPr>
              <a:t> Taux de change : 1 € ≈ 11 MAD. Prix indicatifs, mars 2026.</a:t>
            </a:r>
            <a:endParaRPr lang="en-US" sz="568" dirty="0"/>
          </a:p>
        </p:txBody>
      </p:sp>
      <p:sp>
        <p:nvSpPr>
          <p:cNvPr id="19" name="Shape 15"/>
          <p:cNvSpPr/>
          <p:nvPr/>
        </p:nvSpPr>
        <p:spPr>
          <a:xfrm>
            <a:off x="4572000" y="0"/>
            <a:ext cx="4572000" cy="5143500"/>
          </a:xfrm>
          <a:prstGeom prst="rect">
            <a:avLst/>
          </a:prstGeom>
          <a:solidFill>
            <a:srgbClr val="1E293B">
              <a:alpha val="20000"/>
            </a:srgbClr>
          </a:solidFill>
          <a:ln/>
        </p:spPr>
      </p:sp>
      <p:sp>
        <p:nvSpPr>
          <p:cNvPr id="20" name="Text 16"/>
          <p:cNvSpPr/>
          <p:nvPr/>
        </p:nvSpPr>
        <p:spPr>
          <a:xfrm>
            <a:off x="5000625" y="571500"/>
            <a:ext cx="3714750" cy="112514"/>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38BDF8"/>
                </a:solidFill>
                <a:latin typeface="JetBrains Mono" pitchFamily="34" charset="0"/>
                <a:ea typeface="JetBrains Mono" pitchFamily="34" charset="-122"/>
                <a:cs typeface="JetBrains Mono" pitchFamily="34" charset="-120"/>
              </a:rPr>
              <a:t>DÉTAIL DU COÛT HUMAIN</a:t>
            </a:r>
            <a:endParaRPr lang="en-US" sz="621" dirty="0"/>
          </a:p>
        </p:txBody>
      </p:sp>
      <p:sp>
        <p:nvSpPr>
          <p:cNvPr id="21" name="Text 17"/>
          <p:cNvSpPr/>
          <p:nvPr/>
        </p:nvSpPr>
        <p:spPr>
          <a:xfrm>
            <a:off x="5157788" y="829568"/>
            <a:ext cx="1821656"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Salaire mensuel (Rédacteur AO)</a:t>
            </a:r>
            <a:endParaRPr lang="en-US" sz="727" dirty="0"/>
          </a:p>
        </p:txBody>
      </p:sp>
      <p:sp>
        <p:nvSpPr>
          <p:cNvPr id="22" name="Text 18"/>
          <p:cNvSpPr/>
          <p:nvPr/>
        </p:nvSpPr>
        <p:spPr>
          <a:xfrm>
            <a:off x="8029575" y="826889"/>
            <a:ext cx="68580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latin typeface="Inter" pitchFamily="34" charset="0"/>
                <a:ea typeface="Inter" pitchFamily="34" charset="-122"/>
                <a:cs typeface="Inter" pitchFamily="34" charset="-120"/>
              </a:rPr>
              <a:t>10 000 MAD</a:t>
            </a:r>
            <a:endParaRPr lang="en-US" sz="784" dirty="0"/>
          </a:p>
        </p:txBody>
      </p:sp>
      <p:sp>
        <p:nvSpPr>
          <p:cNvPr id="23" name="Text 19"/>
          <p:cNvSpPr/>
          <p:nvPr/>
        </p:nvSpPr>
        <p:spPr>
          <a:xfrm>
            <a:off x="5157788" y="1109960"/>
            <a:ext cx="1275159"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Jours ouvrés par mois</a:t>
            </a:r>
            <a:endParaRPr lang="en-US" sz="727" dirty="0"/>
          </a:p>
        </p:txBody>
      </p:sp>
      <p:sp>
        <p:nvSpPr>
          <p:cNvPr id="24" name="Text 20"/>
          <p:cNvSpPr/>
          <p:nvPr/>
        </p:nvSpPr>
        <p:spPr>
          <a:xfrm>
            <a:off x="8227814" y="1107281"/>
            <a:ext cx="487561"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latin typeface="Inter" pitchFamily="34" charset="0"/>
                <a:ea typeface="Inter" pitchFamily="34" charset="-122"/>
                <a:cs typeface="Inter" pitchFamily="34" charset="-120"/>
              </a:rPr>
              <a:t>22 Jours</a:t>
            </a:r>
            <a:endParaRPr lang="en-US" sz="784" dirty="0"/>
          </a:p>
        </p:txBody>
      </p:sp>
      <p:sp>
        <p:nvSpPr>
          <p:cNvPr id="25" name="Text 21"/>
          <p:cNvSpPr/>
          <p:nvPr/>
        </p:nvSpPr>
        <p:spPr>
          <a:xfrm>
            <a:off x="5157788" y="1390352"/>
            <a:ext cx="1760934"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Coût journalier (10 000 / 22)</a:t>
            </a:r>
            <a:endParaRPr lang="en-US" sz="727" dirty="0"/>
          </a:p>
        </p:txBody>
      </p:sp>
      <p:sp>
        <p:nvSpPr>
          <p:cNvPr id="26" name="Text 22"/>
          <p:cNvSpPr/>
          <p:nvPr/>
        </p:nvSpPr>
        <p:spPr>
          <a:xfrm>
            <a:off x="8111728" y="1387673"/>
            <a:ext cx="603647"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latin typeface="Inter" pitchFamily="34" charset="0"/>
                <a:ea typeface="Inter" pitchFamily="34" charset="-122"/>
                <a:cs typeface="Inter" pitchFamily="34" charset="-120"/>
              </a:rPr>
              <a:t>~454 MAD</a:t>
            </a:r>
            <a:endParaRPr lang="en-US" sz="784" dirty="0"/>
          </a:p>
        </p:txBody>
      </p:sp>
      <p:sp>
        <p:nvSpPr>
          <p:cNvPr id="27" name="Text 23"/>
          <p:cNvSpPr/>
          <p:nvPr/>
        </p:nvSpPr>
        <p:spPr>
          <a:xfrm>
            <a:off x="5157788" y="1670745"/>
            <a:ext cx="1578769"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94A3B8"/>
                </a:solidFill>
                <a:latin typeface="JetBrains Mono" pitchFamily="34" charset="0"/>
                <a:ea typeface="JetBrains Mono" pitchFamily="34" charset="-122"/>
                <a:cs typeface="JetBrains Mono" pitchFamily="34" charset="-120"/>
              </a:rPr>
              <a:t>Temps moyen par réponse AO</a:t>
            </a:r>
            <a:endParaRPr lang="en-US" sz="727" dirty="0"/>
          </a:p>
        </p:txBody>
      </p:sp>
      <p:sp>
        <p:nvSpPr>
          <p:cNvPr id="28" name="Text 24"/>
          <p:cNvSpPr/>
          <p:nvPr/>
        </p:nvSpPr>
        <p:spPr>
          <a:xfrm>
            <a:off x="8299252" y="1668066"/>
            <a:ext cx="416123"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FFFFFF"/>
                </a:solidFill>
                <a:latin typeface="Inter" pitchFamily="34" charset="0"/>
                <a:ea typeface="Inter" pitchFamily="34" charset="-122"/>
                <a:cs typeface="Inter" pitchFamily="34" charset="-120"/>
              </a:rPr>
              <a:t>2 Jours</a:t>
            </a:r>
            <a:endParaRPr lang="en-US" sz="784" dirty="0"/>
          </a:p>
        </p:txBody>
      </p:sp>
      <p:sp>
        <p:nvSpPr>
          <p:cNvPr id="29" name="Shape 25"/>
          <p:cNvSpPr/>
          <p:nvPr/>
        </p:nvSpPr>
        <p:spPr>
          <a:xfrm>
            <a:off x="5000625" y="2234208"/>
            <a:ext cx="3714750" cy="817959"/>
          </a:xfrm>
          <a:prstGeom prst="rect">
            <a:avLst/>
          </a:prstGeom>
          <a:solidFill>
            <a:srgbClr val="0B0F1A">
              <a:alpha val="80000"/>
            </a:srgbClr>
          </a:solidFill>
          <a:ln w="9144">
            <a:solidFill>
              <a:srgbClr val="38BDF8">
                <a:alpha val="20000"/>
              </a:srgbClr>
            </a:solidFill>
            <a:prstDash val="solid"/>
          </a:ln>
        </p:spPr>
      </p:sp>
      <p:sp>
        <p:nvSpPr>
          <p:cNvPr id="30" name="Text 26"/>
          <p:cNvSpPr/>
          <p:nvPr/>
        </p:nvSpPr>
        <p:spPr>
          <a:xfrm>
            <a:off x="5214938" y="2448520"/>
            <a:ext cx="1087636" cy="96441"/>
          </a:xfrm>
          <a:prstGeom prst="rect">
            <a:avLst/>
          </a:prstGeom>
          <a:noFill/>
          <a:ln/>
        </p:spPr>
        <p:txBody>
          <a:bodyPr wrap="none" lIns="0" tIns="0" rIns="0" bIns="0" rtlCol="0" anchor="t">
            <a:spAutoFit/>
          </a:bodyPr>
          <a:lstStyle/>
          <a:p>
            <a:pPr algn="ctr" indent="0" marL="0">
              <a:lnSpc>
                <a:spcPts val="700"/>
              </a:lnSpc>
              <a:buNone/>
            </a:pPr>
            <a:r>
              <a:rPr lang="en-US" sz="568" spc="1" kern="0" dirty="0">
                <a:solidFill>
                  <a:srgbClr val="64748B"/>
                </a:solidFill>
                <a:latin typeface="Inter" pitchFamily="34" charset="0"/>
                <a:ea typeface="Inter" pitchFamily="34" charset="-122"/>
                <a:cs typeface="Inter" pitchFamily="34" charset="-120"/>
              </a:rPr>
              <a:t>COÛT HUMAIN</a:t>
            </a:r>
            <a:endParaRPr lang="en-US" sz="568" dirty="0"/>
          </a:p>
        </p:txBody>
      </p:sp>
      <p:sp>
        <p:nvSpPr>
          <p:cNvPr id="31" name="Text 27"/>
          <p:cNvSpPr/>
          <p:nvPr/>
        </p:nvSpPr>
        <p:spPr>
          <a:xfrm>
            <a:off x="5214938" y="2580680"/>
            <a:ext cx="1087636" cy="24288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FFFFFF"/>
                </a:solidFill>
                <a:latin typeface="Inter" pitchFamily="34" charset="0"/>
                <a:ea typeface="Inter" pitchFamily="34" charset="-122"/>
                <a:cs typeface="Inter" pitchFamily="34" charset="-120"/>
              </a:rPr>
              <a:t>~908 MAD</a:t>
            </a:r>
            <a:endParaRPr lang="en-US" sz="1397" dirty="0"/>
          </a:p>
        </p:txBody>
      </p:sp>
      <p:sp>
        <p:nvSpPr>
          <p:cNvPr id="32" name="Text 28"/>
          <p:cNvSpPr/>
          <p:nvPr/>
        </p:nvSpPr>
        <p:spPr>
          <a:xfrm>
            <a:off x="6759773" y="2532459"/>
            <a:ext cx="187523" cy="207169"/>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64748B"/>
                </a:solidFill>
                <a:latin typeface="Inter" pitchFamily="34" charset="0"/>
                <a:ea typeface="Inter" pitchFamily="34" charset="-122"/>
                <a:cs typeface="Inter" pitchFamily="34" charset="-120"/>
              </a:rPr>
              <a:t>vs</a:t>
            </a:r>
            <a:endParaRPr lang="en-US" sz="1269" dirty="0"/>
          </a:p>
        </p:txBody>
      </p:sp>
      <p:sp>
        <p:nvSpPr>
          <p:cNvPr id="33" name="Text 29"/>
          <p:cNvSpPr/>
          <p:nvPr/>
        </p:nvSpPr>
        <p:spPr>
          <a:xfrm>
            <a:off x="7404497" y="2448520"/>
            <a:ext cx="1096566" cy="96441"/>
          </a:xfrm>
          <a:prstGeom prst="rect">
            <a:avLst/>
          </a:prstGeom>
          <a:noFill/>
          <a:ln/>
        </p:spPr>
        <p:txBody>
          <a:bodyPr wrap="none" lIns="0" tIns="0" rIns="0" bIns="0" rtlCol="0" anchor="t">
            <a:spAutoFit/>
          </a:bodyPr>
          <a:lstStyle/>
          <a:p>
            <a:pPr algn="ctr" indent="0" marL="0">
              <a:lnSpc>
                <a:spcPts val="700"/>
              </a:lnSpc>
              <a:buNone/>
            </a:pPr>
            <a:r>
              <a:rPr lang="en-US" sz="568" spc="1" kern="0" dirty="0">
                <a:solidFill>
                  <a:srgbClr val="64748B"/>
                </a:solidFill>
                <a:latin typeface="Inter" pitchFamily="34" charset="0"/>
                <a:ea typeface="Inter" pitchFamily="34" charset="-122"/>
                <a:cs typeface="Inter" pitchFamily="34" charset="-120"/>
              </a:rPr>
              <a:t>COÛT OFFRIA</a:t>
            </a:r>
            <a:endParaRPr lang="en-US" sz="568" dirty="0"/>
          </a:p>
        </p:txBody>
      </p:sp>
      <p:sp>
        <p:nvSpPr>
          <p:cNvPr id="34" name="Text 30"/>
          <p:cNvSpPr/>
          <p:nvPr/>
        </p:nvSpPr>
        <p:spPr>
          <a:xfrm>
            <a:off x="7404497" y="2580680"/>
            <a:ext cx="1096566" cy="242888"/>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38BDF8"/>
                </a:solidFill>
                <a:latin typeface="Inter" pitchFamily="34" charset="0"/>
                <a:ea typeface="Inter" pitchFamily="34" charset="-122"/>
                <a:cs typeface="Inter" pitchFamily="34" charset="-120"/>
              </a:rPr>
              <a:t>~1,65 MAD</a:t>
            </a:r>
            <a:endParaRPr lang="en-US" sz="1397" dirty="0"/>
          </a:p>
        </p:txBody>
      </p:sp>
      <p:sp>
        <p:nvSpPr>
          <p:cNvPr id="35" name="Text 31"/>
          <p:cNvSpPr/>
          <p:nvPr/>
        </p:nvSpPr>
        <p:spPr>
          <a:xfrm>
            <a:off x="5000625" y="3323630"/>
            <a:ext cx="3714750" cy="514350"/>
          </a:xfrm>
          <a:prstGeom prst="rect">
            <a:avLst/>
          </a:prstGeom>
          <a:noFill/>
          <a:ln/>
        </p:spPr>
        <p:txBody>
          <a:bodyPr wrap="none" lIns="0" tIns="0" rIns="0" bIns="0" rtlCol="0" anchor="t">
            <a:spAutoFit/>
          </a:bodyPr>
          <a:lstStyle/>
          <a:p>
            <a:pPr algn="ctr" indent="0" marL="0">
              <a:lnSpc>
                <a:spcPts val="4100"/>
              </a:lnSpc>
              <a:buNone/>
            </a:pPr>
            <a:r>
              <a:rPr lang="en-US" sz="3731" b="1" dirty="0">
                <a:solidFill>
                  <a:srgbClr val="38BDF8"/>
                </a:solidFill>
                <a:latin typeface="Inter" pitchFamily="34" charset="0"/>
                <a:ea typeface="Inter" pitchFamily="34" charset="-122"/>
                <a:cs typeface="Inter" pitchFamily="34" charset="-120"/>
              </a:rPr>
              <a:t>×545</a:t>
            </a:r>
            <a:endParaRPr lang="en-US" sz="3731" dirty="0"/>
          </a:p>
        </p:txBody>
      </p:sp>
      <p:sp>
        <p:nvSpPr>
          <p:cNvPr id="36" name="Text 32"/>
          <p:cNvSpPr/>
          <p:nvPr/>
        </p:nvSpPr>
        <p:spPr>
          <a:xfrm>
            <a:off x="5000625" y="3909417"/>
            <a:ext cx="3714750" cy="112514"/>
          </a:xfrm>
          <a:prstGeom prst="rect">
            <a:avLst/>
          </a:prstGeom>
          <a:noFill/>
          <a:ln/>
        </p:spPr>
        <p:txBody>
          <a:bodyPr wrap="none" lIns="0" tIns="0" rIns="0" bIns="0" rtlCol="0" anchor="t">
            <a:spAutoFit/>
          </a:bodyPr>
          <a:lstStyle/>
          <a:p>
            <a:pPr algn="ctr" indent="0" marL="0">
              <a:lnSpc>
                <a:spcPts val="800"/>
              </a:lnSpc>
              <a:buNone/>
            </a:pPr>
            <a:r>
              <a:rPr lang="en-US" sz="621" spc="2" kern="0" dirty="0">
                <a:solidFill>
                  <a:srgbClr val="94A3B8"/>
                </a:solidFill>
                <a:latin typeface="JetBrains Mono" pitchFamily="34" charset="0"/>
                <a:ea typeface="JetBrains Mono" pitchFamily="34" charset="-122"/>
                <a:cs typeface="JetBrains Mono" pitchFamily="34" charset="-120"/>
              </a:rPr>
              <a:t>RAPPORT DE RENTABILITÉ</a:t>
            </a:r>
            <a:endParaRPr lang="en-US" sz="6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6095991" cy="5143500"/>
          </a:xfrm>
          <a:prstGeom prst="rect">
            <a:avLst/>
          </a:prstGeom>
          <a:solidFill>
            <a:srgbClr val="000000">
              <a:alpha val="0"/>
            </a:srgbClr>
          </a:solidFill>
          <a:ln/>
        </p:spPr>
      </p:sp>
      <p:sp>
        <p:nvSpPr>
          <p:cNvPr id="5" name="Shape 1"/>
          <p:cNvSpPr/>
          <p:nvPr/>
        </p:nvSpPr>
        <p:spPr>
          <a:xfrm>
            <a:off x="6088847" y="0"/>
            <a:ext cx="7144" cy="5143500"/>
          </a:xfrm>
          <a:prstGeom prst="rect">
            <a:avLst/>
          </a:prstGeom>
          <a:solidFill>
            <a:srgbClr val="EBF8FE"/>
          </a:solidFill>
          <a:ln/>
        </p:spPr>
      </p:sp>
      <p:sp>
        <p:nvSpPr>
          <p:cNvPr id="6" name="Shape 2"/>
          <p:cNvSpPr/>
          <p:nvPr/>
        </p:nvSpPr>
        <p:spPr>
          <a:xfrm>
            <a:off x="2072860" y="617934"/>
            <a:ext cx="1950244" cy="360759"/>
          </a:xfrm>
          <a:prstGeom prst="rect">
            <a:avLst/>
          </a:prstGeom>
          <a:solidFill>
            <a:srgbClr val="1E293B">
              <a:alpha val="50000"/>
            </a:srgbClr>
          </a:solidFill>
          <a:ln w="9144">
            <a:solidFill>
              <a:srgbClr val="38BDF8">
                <a:alpha val="30000"/>
              </a:srgbClr>
            </a:solidFill>
            <a:prstDash val="solid"/>
          </a:ln>
        </p:spPr>
      </p:sp>
      <p:sp>
        <p:nvSpPr>
          <p:cNvPr id="7" name="Text 3"/>
          <p:cNvSpPr/>
          <p:nvPr/>
        </p:nvSpPr>
        <p:spPr>
          <a:xfrm>
            <a:off x="2072860" y="617934"/>
            <a:ext cx="1950244" cy="360759"/>
          </a:xfrm>
          <a:prstGeom prst="rect">
            <a:avLst/>
          </a:prstGeom>
          <a:noFill/>
          <a:ln/>
        </p:spPr>
        <p:txBody>
          <a:bodyPr wrap="square" lIns="212598" tIns="127508" rIns="212598" bIns="127508" rtlCol="0" anchor="t">
            <a:spAutoFit/>
          </a:bodyPr>
          <a:lstStyle/>
          <a:p>
            <a:pPr algn="ctr"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Client (React / ERP / API)</a:t>
            </a:r>
            <a:endParaRPr lang="en-US" sz="727" dirty="0"/>
          </a:p>
        </p:txBody>
      </p:sp>
      <p:sp>
        <p:nvSpPr>
          <p:cNvPr id="8" name="Shape 4"/>
          <p:cNvSpPr/>
          <p:nvPr/>
        </p:nvSpPr>
        <p:spPr>
          <a:xfrm>
            <a:off x="2437191" y="1328738"/>
            <a:ext cx="1221581" cy="360759"/>
          </a:xfrm>
          <a:prstGeom prst="rect">
            <a:avLst/>
          </a:prstGeom>
          <a:solidFill>
            <a:srgbClr val="38BDF8">
              <a:alpha val="10000"/>
            </a:srgbClr>
          </a:solidFill>
          <a:ln w="9144">
            <a:solidFill>
              <a:srgbClr val="38BDF8"/>
            </a:solidFill>
            <a:prstDash val="solid"/>
          </a:ln>
        </p:spPr>
      </p:sp>
      <p:sp>
        <p:nvSpPr>
          <p:cNvPr id="9" name="Text 5"/>
          <p:cNvSpPr/>
          <p:nvPr/>
        </p:nvSpPr>
        <p:spPr>
          <a:xfrm>
            <a:off x="2437191" y="1328738"/>
            <a:ext cx="1221581" cy="360759"/>
          </a:xfrm>
          <a:prstGeom prst="rect">
            <a:avLst/>
          </a:prstGeom>
          <a:noFill/>
          <a:ln/>
        </p:spPr>
        <p:txBody>
          <a:bodyPr wrap="square" lIns="212598" tIns="127508" rIns="212598" bIns="127508" rtlCol="0" anchor="t">
            <a:spAutoFit/>
          </a:bodyPr>
          <a:lstStyle/>
          <a:p>
            <a:pPr algn="ctr" indent="0" marL="0">
              <a:lnSpc>
                <a:spcPts val="900"/>
              </a:lnSpc>
              <a:buNone/>
            </a:pPr>
            <a:r>
              <a:rPr lang="en-US" sz="683" b="1" dirty="0">
                <a:solidFill>
                  <a:srgbClr val="FFFFFF"/>
                </a:solidFill>
                <a:latin typeface="JetBrains Mono" pitchFamily="34" charset="0"/>
                <a:ea typeface="JetBrains Mono" pitchFamily="34" charset="-122"/>
                <a:cs typeface="JetBrains Mono" pitchFamily="34" charset="-120"/>
              </a:rPr>
              <a:t>FastAPI Router</a:t>
            </a:r>
            <a:endParaRPr lang="en-US" sz="683" dirty="0"/>
          </a:p>
        </p:txBody>
      </p:sp>
      <p:sp>
        <p:nvSpPr>
          <p:cNvPr id="10" name="Shape 6"/>
          <p:cNvSpPr/>
          <p:nvPr/>
        </p:nvSpPr>
        <p:spPr>
          <a:xfrm>
            <a:off x="1799611" y="2039541"/>
            <a:ext cx="2496741" cy="360759"/>
          </a:xfrm>
          <a:prstGeom prst="rect">
            <a:avLst/>
          </a:prstGeom>
          <a:solidFill>
            <a:srgbClr val="1E293B">
              <a:alpha val="50000"/>
            </a:srgbClr>
          </a:solidFill>
          <a:ln w="9144">
            <a:solidFill>
              <a:srgbClr val="38BDF8">
                <a:alpha val="30000"/>
              </a:srgbClr>
            </a:solidFill>
            <a:prstDash val="solid"/>
          </a:ln>
        </p:spPr>
      </p:sp>
      <p:sp>
        <p:nvSpPr>
          <p:cNvPr id="11" name="Text 7"/>
          <p:cNvSpPr/>
          <p:nvPr/>
        </p:nvSpPr>
        <p:spPr>
          <a:xfrm>
            <a:off x="1799611" y="2039541"/>
            <a:ext cx="2496741" cy="360759"/>
          </a:xfrm>
          <a:prstGeom prst="rect">
            <a:avLst/>
          </a:prstGeom>
          <a:noFill/>
          <a:ln/>
        </p:spPr>
        <p:txBody>
          <a:bodyPr wrap="square" lIns="212598" tIns="127508" rIns="212598" bIns="127508" rtlCol="0" anchor="t">
            <a:spAutoFit/>
          </a:bodyPr>
          <a:lstStyle/>
          <a:p>
            <a:pPr algn="ctr"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AOParserService + Brief Stratégique</a:t>
            </a:r>
            <a:endParaRPr lang="en-US" sz="727" dirty="0"/>
          </a:p>
        </p:txBody>
      </p:sp>
      <p:sp>
        <p:nvSpPr>
          <p:cNvPr id="12" name="Shape 8"/>
          <p:cNvSpPr/>
          <p:nvPr/>
        </p:nvSpPr>
        <p:spPr>
          <a:xfrm>
            <a:off x="1854082" y="2893219"/>
            <a:ext cx="2387798" cy="750094"/>
          </a:xfrm>
          <a:prstGeom prst="rect">
            <a:avLst/>
          </a:prstGeom>
          <a:solidFill>
            <a:srgbClr val="38BDF8">
              <a:alpha val="2000"/>
            </a:srgbClr>
          </a:solidFill>
          <a:ln w="9144">
            <a:solidFill>
              <a:srgbClr val="38BDF8"/>
            </a:solidFill>
            <a:prstDash val="dash"/>
          </a:ln>
        </p:spPr>
      </p:sp>
      <p:sp>
        <p:nvSpPr>
          <p:cNvPr id="13" name="Shape 9"/>
          <p:cNvSpPr/>
          <p:nvPr/>
        </p:nvSpPr>
        <p:spPr>
          <a:xfrm>
            <a:off x="2004101" y="2814638"/>
            <a:ext cx="1437680" cy="112514"/>
          </a:xfrm>
          <a:prstGeom prst="rect">
            <a:avLst/>
          </a:prstGeom>
          <a:solidFill>
            <a:srgbClr val="0B0F1A"/>
          </a:solidFill>
          <a:ln/>
        </p:spPr>
      </p:sp>
      <p:sp>
        <p:nvSpPr>
          <p:cNvPr id="14" name="Text 10"/>
          <p:cNvSpPr/>
          <p:nvPr/>
        </p:nvSpPr>
        <p:spPr>
          <a:xfrm>
            <a:off x="2004101" y="2814638"/>
            <a:ext cx="1437680" cy="112514"/>
          </a:xfrm>
          <a:prstGeom prst="rect">
            <a:avLst/>
          </a:prstGeom>
          <a:noFill/>
          <a:ln/>
        </p:spPr>
        <p:txBody>
          <a:bodyPr wrap="none" lIns="85090" tIns="0" rIns="85090" bIns="0" rtlCol="0" anchor="t">
            <a:spAutoFit/>
          </a:bodyPr>
          <a:lstStyle/>
          <a:p>
            <a:pPr algn="l" indent="0" marL="0">
              <a:lnSpc>
                <a:spcPts val="800"/>
              </a:lnSpc>
              <a:buNone/>
            </a:pPr>
            <a:r>
              <a:rPr lang="en-US" sz="584" b="1" dirty="0">
                <a:solidFill>
                  <a:srgbClr val="38BDF8"/>
                </a:solidFill>
                <a:latin typeface="JetBrains Mono" pitchFamily="34" charset="0"/>
                <a:ea typeface="JetBrains Mono" pitchFamily="34" charset="-122"/>
                <a:cs typeface="JetBrains Mono" pitchFamily="34" charset="-120"/>
              </a:rPr>
              <a:t>× 8 SECTIONS EN PARALLÈLE</a:t>
            </a:r>
            <a:endParaRPr lang="en-US" sz="584" dirty="0"/>
          </a:p>
        </p:txBody>
      </p:sp>
      <p:sp>
        <p:nvSpPr>
          <p:cNvPr id="15" name="Shape 11"/>
          <p:cNvSpPr/>
          <p:nvPr/>
        </p:nvSpPr>
        <p:spPr>
          <a:xfrm>
            <a:off x="2039820" y="3078956"/>
            <a:ext cx="655439" cy="378619"/>
          </a:xfrm>
          <a:prstGeom prst="rect">
            <a:avLst/>
          </a:prstGeom>
          <a:solidFill>
            <a:srgbClr val="1E293B">
              <a:alpha val="80000"/>
            </a:srgbClr>
          </a:solidFill>
          <a:ln w="9144">
            <a:solidFill>
              <a:srgbClr val="94A3B8">
                <a:alpha val="20000"/>
              </a:srgbClr>
            </a:solidFill>
            <a:prstDash val="solid"/>
          </a:ln>
        </p:spPr>
      </p:sp>
      <p:sp>
        <p:nvSpPr>
          <p:cNvPr id="16" name="Text 12"/>
          <p:cNvSpPr/>
          <p:nvPr/>
        </p:nvSpPr>
        <p:spPr>
          <a:xfrm>
            <a:off x="2039820" y="3078956"/>
            <a:ext cx="655439" cy="378619"/>
          </a:xfrm>
          <a:prstGeom prst="rect">
            <a:avLst/>
          </a:prstGeom>
          <a:noFill/>
          <a:ln/>
        </p:spPr>
        <p:txBody>
          <a:bodyPr wrap="square" lIns="102108" tIns="102108" rIns="102108" bIns="102108" rtlCol="0" anchor="t">
            <a:spAutoFit/>
          </a:bodyPr>
          <a:lstStyle/>
          <a:p>
            <a:pPr algn="ctr" indent="0" marL="0">
              <a:lnSpc>
                <a:spcPts val="700"/>
              </a:lnSpc>
              <a:buNone/>
            </a:pPr>
            <a:r>
              <a:rPr lang="en-US" sz="568" dirty="0">
                <a:solidFill>
                  <a:srgbClr val="94A3B8"/>
                </a:solidFill>
                <a:latin typeface="Inter" pitchFamily="34" charset="0"/>
                <a:ea typeface="Inter" pitchFamily="34" charset="-122"/>
                <a:cs typeface="Inter" pitchFamily="34" charset="-120"/>
              </a:rPr>
              <a:t>RAG Context</a:t>
            </a:r>
            <a:pPr algn="ctr" indent="0" marL="0">
              <a:lnSpc>
                <a:spcPts val="700"/>
              </a:lnSpc>
              <a:buNone/>
            </a:pPr>
            <a:r>
              <a:rPr lang="en-US" sz="568" dirty="0">
                <a:solidFill>
                  <a:srgbClr val="94A3B8"/>
                </a:solidFill>
                <a:latin typeface="Inter" pitchFamily="34" charset="0"/>
                <a:ea typeface="Inter" pitchFamily="34" charset="-122"/>
                <a:cs typeface="Inter" pitchFamily="34" charset="-120"/>
              </a:rPr>
              <a:t>
</a:t>
            </a:r>
            <a:pPr algn="ctr" indent="0" marL="0">
              <a:lnSpc>
                <a:spcPts val="700"/>
              </a:lnSpc>
              <a:buNone/>
            </a:pPr>
            <a:r>
              <a:rPr lang="en-US" sz="568" dirty="0">
                <a:solidFill>
                  <a:srgbClr val="94A3B8"/>
                </a:solidFill>
                <a:latin typeface="Inter" pitchFamily="34" charset="0"/>
                <a:ea typeface="Inter" pitchFamily="34" charset="-122"/>
                <a:cs typeface="Inter" pitchFamily="34" charset="-120"/>
              </a:rPr>
              <a:t>(Qdrant)</a:t>
            </a:r>
            <a:endParaRPr lang="en-US" sz="568" dirty="0"/>
          </a:p>
        </p:txBody>
      </p:sp>
      <p:sp>
        <p:nvSpPr>
          <p:cNvPr id="17" name="Shape 13"/>
          <p:cNvSpPr/>
          <p:nvPr/>
        </p:nvSpPr>
        <p:spPr>
          <a:xfrm>
            <a:off x="2795271" y="3078956"/>
            <a:ext cx="453628" cy="378619"/>
          </a:xfrm>
          <a:prstGeom prst="rect">
            <a:avLst/>
          </a:prstGeom>
          <a:solidFill>
            <a:srgbClr val="1E293B">
              <a:alpha val="80000"/>
            </a:srgbClr>
          </a:solidFill>
          <a:ln w="9144">
            <a:solidFill>
              <a:srgbClr val="94A3B8">
                <a:alpha val="20000"/>
              </a:srgbClr>
            </a:solidFill>
            <a:prstDash val="solid"/>
          </a:ln>
        </p:spPr>
      </p:sp>
      <p:sp>
        <p:nvSpPr>
          <p:cNvPr id="18" name="Text 14"/>
          <p:cNvSpPr/>
          <p:nvPr/>
        </p:nvSpPr>
        <p:spPr>
          <a:xfrm>
            <a:off x="2795271" y="3078956"/>
            <a:ext cx="453628" cy="378619"/>
          </a:xfrm>
          <a:prstGeom prst="rect">
            <a:avLst/>
          </a:prstGeom>
          <a:noFill/>
          <a:ln/>
        </p:spPr>
        <p:txBody>
          <a:bodyPr wrap="square" lIns="102108" tIns="102108" rIns="102108" bIns="102108" rtlCol="0" anchor="t">
            <a:spAutoFit/>
          </a:bodyPr>
          <a:lstStyle/>
          <a:p>
            <a:pPr algn="ctr" indent="0" marL="0">
              <a:lnSpc>
                <a:spcPts val="700"/>
              </a:lnSpc>
              <a:buNone/>
            </a:pPr>
            <a:r>
              <a:rPr lang="en-US" sz="568" dirty="0">
                <a:solidFill>
                  <a:srgbClr val="94A3B8"/>
                </a:solidFill>
                <a:latin typeface="Inter" pitchFamily="34" charset="0"/>
                <a:ea typeface="Inter" pitchFamily="34" charset="-122"/>
                <a:cs typeface="Inter" pitchFamily="34" charset="-120"/>
              </a:rPr>
              <a:t>Prompt</a:t>
            </a:r>
            <a:pPr algn="ctr" indent="0" marL="0">
              <a:lnSpc>
                <a:spcPts val="700"/>
              </a:lnSpc>
              <a:buNone/>
            </a:pPr>
            <a:r>
              <a:rPr lang="en-US" sz="568" dirty="0">
                <a:solidFill>
                  <a:srgbClr val="94A3B8"/>
                </a:solidFill>
                <a:latin typeface="Inter" pitchFamily="34" charset="0"/>
                <a:ea typeface="Inter" pitchFamily="34" charset="-122"/>
                <a:cs typeface="Inter" pitchFamily="34" charset="-120"/>
              </a:rPr>
              <a:t>
</a:t>
            </a:r>
            <a:pPr algn="ctr" indent="0" marL="0">
              <a:lnSpc>
                <a:spcPts val="700"/>
              </a:lnSpc>
              <a:buNone/>
            </a:pPr>
            <a:r>
              <a:rPr lang="en-US" sz="568" dirty="0">
                <a:solidFill>
                  <a:srgbClr val="94A3B8"/>
                </a:solidFill>
                <a:latin typeface="Inter" pitchFamily="34" charset="0"/>
                <a:ea typeface="Inter" pitchFamily="34" charset="-122"/>
                <a:cs typeface="Inter" pitchFamily="34" charset="-120"/>
              </a:rPr>
              <a:t>Builder</a:t>
            </a:r>
            <a:endParaRPr lang="en-US" sz="568" dirty="0"/>
          </a:p>
        </p:txBody>
      </p:sp>
      <p:sp>
        <p:nvSpPr>
          <p:cNvPr id="19" name="Shape 15"/>
          <p:cNvSpPr/>
          <p:nvPr/>
        </p:nvSpPr>
        <p:spPr>
          <a:xfrm>
            <a:off x="3348912" y="3078956"/>
            <a:ext cx="692944" cy="378619"/>
          </a:xfrm>
          <a:prstGeom prst="rect">
            <a:avLst/>
          </a:prstGeom>
          <a:solidFill>
            <a:srgbClr val="1E293B">
              <a:alpha val="80000"/>
            </a:srgbClr>
          </a:solidFill>
          <a:ln w="9144">
            <a:solidFill>
              <a:srgbClr val="94A3B8">
                <a:alpha val="20000"/>
              </a:srgbClr>
            </a:solidFill>
            <a:prstDash val="solid"/>
          </a:ln>
        </p:spPr>
      </p:sp>
      <p:sp>
        <p:nvSpPr>
          <p:cNvPr id="20" name="Text 16"/>
          <p:cNvSpPr/>
          <p:nvPr/>
        </p:nvSpPr>
        <p:spPr>
          <a:xfrm>
            <a:off x="3348912" y="3078956"/>
            <a:ext cx="692944" cy="378619"/>
          </a:xfrm>
          <a:prstGeom prst="rect">
            <a:avLst/>
          </a:prstGeom>
          <a:noFill/>
          <a:ln/>
        </p:spPr>
        <p:txBody>
          <a:bodyPr wrap="square" lIns="102108" tIns="102108" rIns="102108" bIns="102108" rtlCol="0" anchor="t">
            <a:spAutoFit/>
          </a:bodyPr>
          <a:lstStyle/>
          <a:p>
            <a:pPr algn="ctr" indent="0" marL="0">
              <a:lnSpc>
                <a:spcPts val="700"/>
              </a:lnSpc>
              <a:buNone/>
            </a:pPr>
            <a:r>
              <a:rPr lang="en-US" sz="568" dirty="0">
                <a:solidFill>
                  <a:srgbClr val="94A3B8"/>
                </a:solidFill>
                <a:latin typeface="Inter" pitchFamily="34" charset="0"/>
                <a:ea typeface="Inter" pitchFamily="34" charset="-122"/>
                <a:cs typeface="Inter" pitchFamily="34" charset="-120"/>
              </a:rPr>
              <a:t>Appel LLM</a:t>
            </a:r>
            <a:pPr algn="ctr" indent="0" marL="0">
              <a:lnSpc>
                <a:spcPts val="700"/>
              </a:lnSpc>
              <a:buNone/>
            </a:pPr>
            <a:r>
              <a:rPr lang="en-US" sz="568" dirty="0">
                <a:solidFill>
                  <a:srgbClr val="94A3B8"/>
                </a:solidFill>
                <a:latin typeface="Inter" pitchFamily="34" charset="0"/>
                <a:ea typeface="Inter" pitchFamily="34" charset="-122"/>
                <a:cs typeface="Inter" pitchFamily="34" charset="-120"/>
              </a:rPr>
              <a:t>
</a:t>
            </a:r>
            <a:pPr algn="ctr" indent="0" marL="0">
              <a:lnSpc>
                <a:spcPts val="700"/>
              </a:lnSpc>
              <a:buNone/>
            </a:pPr>
            <a:r>
              <a:rPr lang="en-US" sz="568" dirty="0">
                <a:solidFill>
                  <a:srgbClr val="94A3B8"/>
                </a:solidFill>
                <a:latin typeface="Inter" pitchFamily="34" charset="0"/>
                <a:ea typeface="Inter" pitchFamily="34" charset="-122"/>
                <a:cs typeface="Inter" pitchFamily="34" charset="-120"/>
              </a:rPr>
              <a:t>(Claude/GPT)</a:t>
            </a:r>
            <a:endParaRPr lang="en-US" sz="568" dirty="0"/>
          </a:p>
        </p:txBody>
      </p:sp>
      <p:sp>
        <p:nvSpPr>
          <p:cNvPr id="21" name="Shape 17"/>
          <p:cNvSpPr/>
          <p:nvPr/>
        </p:nvSpPr>
        <p:spPr>
          <a:xfrm>
            <a:off x="2042499" y="3986213"/>
            <a:ext cx="2010966" cy="360759"/>
          </a:xfrm>
          <a:prstGeom prst="rect">
            <a:avLst/>
          </a:prstGeom>
          <a:solidFill>
            <a:srgbClr val="1E293B">
              <a:alpha val="50000"/>
            </a:srgbClr>
          </a:solidFill>
          <a:ln w="9144">
            <a:solidFill>
              <a:srgbClr val="38BDF8">
                <a:alpha val="30000"/>
              </a:srgbClr>
            </a:solidFill>
            <a:prstDash val="solid"/>
          </a:ln>
        </p:spPr>
      </p:sp>
      <p:sp>
        <p:nvSpPr>
          <p:cNvPr id="22" name="Text 18"/>
          <p:cNvSpPr/>
          <p:nvPr/>
        </p:nvSpPr>
        <p:spPr>
          <a:xfrm>
            <a:off x="2042499" y="3986213"/>
            <a:ext cx="2010966" cy="360759"/>
          </a:xfrm>
          <a:prstGeom prst="rect">
            <a:avLst/>
          </a:prstGeom>
          <a:noFill/>
          <a:ln/>
        </p:spPr>
        <p:txBody>
          <a:bodyPr wrap="square" lIns="212598" tIns="127508" rIns="212598" bIns="127508" rtlCol="0" anchor="t">
            <a:spAutoFit/>
          </a:bodyPr>
          <a:lstStyle/>
          <a:p>
            <a:pPr algn="ctr" indent="0" marL="0">
              <a:lnSpc>
                <a:spcPts val="900"/>
              </a:lnSpc>
              <a:buNone/>
            </a:pPr>
            <a:r>
              <a:rPr lang="en-US" sz="727" dirty="0">
                <a:solidFill>
                  <a:srgbClr val="FFFFFF"/>
                </a:solidFill>
                <a:latin typeface="JetBrains Mono" pitchFamily="34" charset="0"/>
                <a:ea typeface="JetBrains Mono" pitchFamily="34" charset="-122"/>
                <a:cs typeface="JetBrains Mono" pitchFamily="34" charset="-120"/>
              </a:rPr>
              <a:t>GenerationResult (Markdown)</a:t>
            </a:r>
            <a:endParaRPr lang="en-US" sz="727" dirty="0"/>
          </a:p>
        </p:txBody>
      </p:sp>
      <p:sp>
        <p:nvSpPr>
          <p:cNvPr id="23" name="Shape 19"/>
          <p:cNvSpPr/>
          <p:nvPr/>
        </p:nvSpPr>
        <p:spPr>
          <a:xfrm>
            <a:off x="6095991" y="0"/>
            <a:ext cx="3047981" cy="5143500"/>
          </a:xfrm>
          <a:prstGeom prst="rect">
            <a:avLst/>
          </a:prstGeom>
          <a:solidFill>
            <a:srgbClr val="1E293B">
              <a:alpha val="20000"/>
            </a:srgbClr>
          </a:solidFill>
          <a:ln/>
        </p:spPr>
      </p:sp>
      <p:sp>
        <p:nvSpPr>
          <p:cNvPr id="24" name="Text 20"/>
          <p:cNvSpPr/>
          <p:nvPr/>
        </p:nvSpPr>
        <p:spPr>
          <a:xfrm>
            <a:off x="6524616" y="931199"/>
            <a:ext cx="2190731" cy="548618"/>
          </a:xfrm>
          <a:prstGeom prst="rect">
            <a:avLst/>
          </a:prstGeom>
          <a:noFill/>
          <a:ln/>
        </p:spPr>
        <p:txBody>
          <a:bodyPr wrap="square" lIns="0" tIns="0" rIns="0" bIns="0" rtlCol="0" anchor="t">
            <a:spAutoFit/>
          </a:bodyPr>
          <a:lstStyle/>
          <a:p>
            <a:pPr algn="l" indent="0" marL="0">
              <a:lnSpc>
                <a:spcPts val="2200"/>
              </a:lnSpc>
              <a:buNone/>
            </a:pPr>
            <a:r>
              <a:rPr lang="en-US" sz="1602" b="1" dirty="0">
                <a:solidFill>
                  <a:srgbClr val="FFFFFF"/>
                </a:solidFill>
                <a:latin typeface="Inter" pitchFamily="34" charset="0"/>
                <a:ea typeface="Inter" pitchFamily="34" charset="-122"/>
                <a:cs typeface="Inter" pitchFamily="34" charset="-120"/>
              </a:rPr>
              <a:t>Architecture Globale</a:t>
            </a:r>
            <a:endParaRPr lang="en-US" sz="1602" dirty="0"/>
          </a:p>
        </p:txBody>
      </p:sp>
      <p:sp>
        <p:nvSpPr>
          <p:cNvPr id="25" name="Text 21"/>
          <p:cNvSpPr/>
          <p:nvPr/>
        </p:nvSpPr>
        <p:spPr>
          <a:xfrm>
            <a:off x="6524616" y="1765567"/>
            <a:ext cx="2190731" cy="132159"/>
          </a:xfrm>
          <a:prstGeom prst="rect">
            <a:avLst/>
          </a:prstGeom>
          <a:noFill/>
          <a:ln/>
        </p:spPr>
        <p:txBody>
          <a:bodyPr wrap="none" lIns="0" tIns="0" rIns="0" bIns="0" rtlCol="0" anchor="t">
            <a:spAutoFit/>
          </a:bodyPr>
          <a:lstStyle/>
          <a:p>
            <a:pPr algn="l" indent="0" marL="0">
              <a:lnSpc>
                <a:spcPts val="900"/>
              </a:lnSpc>
              <a:buNone/>
            </a:pPr>
            <a:r>
              <a:rPr lang="en-US" sz="683" b="1" spc="2" kern="0" dirty="0">
                <a:solidFill>
                  <a:srgbClr val="38BDF8"/>
                </a:solidFill>
                <a:latin typeface="JetBrains Mono" pitchFamily="34" charset="0"/>
                <a:ea typeface="JetBrains Mono" pitchFamily="34" charset="-122"/>
                <a:cs typeface="JetBrains Mono" pitchFamily="34" charset="-120"/>
              </a:rPr>
              <a:t>STACK TECHNIQUE</a:t>
            </a:r>
            <a:endParaRPr lang="en-US" sz="683" dirty="0"/>
          </a:p>
        </p:txBody>
      </p:sp>
      <p:sp>
        <p:nvSpPr>
          <p:cNvPr id="26" name="Text 22"/>
          <p:cNvSpPr/>
          <p:nvPr/>
        </p:nvSpPr>
        <p:spPr>
          <a:xfrm>
            <a:off x="6524616" y="2040601"/>
            <a:ext cx="219073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94A3B8"/>
                </a:solidFill>
                <a:latin typeface="JetBrains Mono" pitchFamily="34" charset="0"/>
                <a:ea typeface="JetBrains Mono" pitchFamily="34" charset="-122"/>
                <a:cs typeface="JetBrains Mono" pitchFamily="34" charset="-120"/>
              </a:rPr>
              <a:t>Python 3.12 · FastAPI</a:t>
            </a:r>
            <a:endParaRPr lang="en-US" sz="834" dirty="0"/>
          </a:p>
        </p:txBody>
      </p:sp>
      <p:sp>
        <p:nvSpPr>
          <p:cNvPr id="27" name="Text 23"/>
          <p:cNvSpPr/>
          <p:nvPr/>
        </p:nvSpPr>
        <p:spPr>
          <a:xfrm>
            <a:off x="6524616" y="2297776"/>
            <a:ext cx="219073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94A3B8"/>
                </a:solidFill>
                <a:latin typeface="JetBrains Mono" pitchFamily="34" charset="0"/>
                <a:ea typeface="JetBrains Mono" pitchFamily="34" charset="-122"/>
                <a:cs typeface="JetBrains Mono" pitchFamily="34" charset="-120"/>
              </a:rPr>
              <a:t>React · Vite · Tailwind</a:t>
            </a:r>
            <a:endParaRPr lang="en-US" sz="834" dirty="0"/>
          </a:p>
        </p:txBody>
      </p:sp>
      <p:sp>
        <p:nvSpPr>
          <p:cNvPr id="28" name="Text 24"/>
          <p:cNvSpPr/>
          <p:nvPr/>
        </p:nvSpPr>
        <p:spPr>
          <a:xfrm>
            <a:off x="6524616" y="2554951"/>
            <a:ext cx="219073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94A3B8"/>
                </a:solidFill>
                <a:latin typeface="JetBrains Mono" pitchFamily="34" charset="0"/>
                <a:ea typeface="JetBrains Mono" pitchFamily="34" charset="-122"/>
                <a:cs typeface="JetBrains Mono" pitchFamily="34" charset="-120"/>
              </a:rPr>
              <a:t>Qdrant (Vector DB)</a:t>
            </a:r>
            <a:endParaRPr lang="en-US" sz="834" dirty="0"/>
          </a:p>
        </p:txBody>
      </p:sp>
      <p:sp>
        <p:nvSpPr>
          <p:cNvPr id="29" name="Text 25"/>
          <p:cNvSpPr/>
          <p:nvPr/>
        </p:nvSpPr>
        <p:spPr>
          <a:xfrm>
            <a:off x="6524616" y="2812126"/>
            <a:ext cx="219073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94A3B8"/>
                </a:solidFill>
                <a:latin typeface="JetBrains Mono" pitchFamily="34" charset="0"/>
                <a:ea typeface="JetBrains Mono" pitchFamily="34" charset="-122"/>
                <a:cs typeface="JetBrains Mono" pitchFamily="34" charset="-120"/>
              </a:rPr>
              <a:t>Docker · Multi-LLM</a:t>
            </a:r>
            <a:endParaRPr lang="en-US" sz="834" dirty="0"/>
          </a:p>
        </p:txBody>
      </p:sp>
      <p:sp>
        <p:nvSpPr>
          <p:cNvPr id="30" name="Shape 26"/>
          <p:cNvSpPr/>
          <p:nvPr/>
        </p:nvSpPr>
        <p:spPr>
          <a:xfrm>
            <a:off x="6524616" y="3355051"/>
            <a:ext cx="2190731" cy="857250"/>
          </a:xfrm>
          <a:prstGeom prst="rect">
            <a:avLst/>
          </a:prstGeom>
          <a:solidFill>
            <a:srgbClr val="38BDF8">
              <a:alpha val="5000"/>
            </a:srgbClr>
          </a:solidFill>
          <a:ln w="9144">
            <a:solidFill>
              <a:srgbClr val="38BDF8">
                <a:alpha val="20000"/>
              </a:srgbClr>
            </a:solidFill>
            <a:prstDash val="solid"/>
          </a:ln>
        </p:spPr>
      </p:sp>
      <p:sp>
        <p:nvSpPr>
          <p:cNvPr id="31" name="Text 27"/>
          <p:cNvSpPr/>
          <p:nvPr/>
        </p:nvSpPr>
        <p:spPr>
          <a:xfrm>
            <a:off x="6524616" y="3355051"/>
            <a:ext cx="2190731" cy="857250"/>
          </a:xfrm>
          <a:prstGeom prst="rect">
            <a:avLst/>
          </a:prstGeom>
          <a:noFill/>
          <a:ln/>
        </p:spPr>
        <p:txBody>
          <a:bodyPr wrap="square" lIns="170053" tIns="170053" rIns="170053" bIns="170053" rtlCol="0" anchor="t">
            <a:spAutoFit/>
          </a:bodyPr>
          <a:lstStyle/>
          <a:p>
            <a:pPr algn="l" indent="0" marL="0">
              <a:lnSpc>
                <a:spcPts val="1100"/>
              </a:lnSpc>
              <a:buNone/>
            </a:pPr>
            <a:pPr algn="l" indent="0" marL="0">
              <a:lnSpc>
                <a:spcPts val="1100"/>
              </a:lnSpc>
              <a:buNone/>
            </a:pPr>
            <a:r>
              <a:rPr lang="en-US" sz="634" b="1" dirty="0">
                <a:solidFill>
                  <a:srgbClr val="38BDF8"/>
                </a:solidFill>
                <a:latin typeface="JetBrains Mono" pitchFamily="34" charset="0"/>
                <a:ea typeface="JetBrains Mono" pitchFamily="34" charset="-122"/>
                <a:cs typeface="JetBrains Mono" pitchFamily="34" charset="-120"/>
              </a:rPr>
              <a:t>Microservice RAG-ETL</a:t>
            </a:r>
            <a:pPr algn="l" indent="0" marL="0">
              <a:lnSpc>
                <a:spcPts val="1100"/>
              </a:lnSpc>
              <a:buNone/>
            </a:pPr>
            <a:r>
              <a:rPr lang="en-US" sz="674" dirty="0">
                <a:solidFill>
                  <a:srgbClr val="94A3B8"/>
                </a:solidFill>
                <a:latin typeface="JetBrains Mono" pitchFamily="34" charset="0"/>
                <a:ea typeface="JetBrains Mono" pitchFamily="34" charset="-122"/>
                <a:cs typeface="JetBrains Mono" pitchFamily="34" charset="-120"/>
              </a:rPr>
              <a:t> indépendant </a:t>
            </a:r>
            <a:pPr algn="l" indent="0" marL="0">
              <a:lnSpc>
                <a:spcPts val="1100"/>
              </a:lnSpc>
              <a:buNone/>
            </a:pPr>
            <a:r>
              <a:rPr lang="en-US" sz="674" dirty="0">
                <a:solidFill>
                  <a:srgbClr val="94A3B8"/>
                </a:solidFill>
                <a:latin typeface="JetBrains Mono" pitchFamily="34" charset="0"/>
                <a:ea typeface="JetBrains Mono" pitchFamily="34" charset="-122"/>
                <a:cs typeface="JetBrains Mono" pitchFamily="34" charset="-120"/>
              </a:rPr>
              <a:t>pour l'indexation de vos documents </a:t>
            </a:r>
            <a:pPr algn="l" indent="0" marL="0">
              <a:lnSpc>
                <a:spcPts val="1100"/>
              </a:lnSpc>
              <a:buNone/>
            </a:pPr>
            <a:r>
              <a:rPr lang="en-US" sz="674" dirty="0">
                <a:solidFill>
                  <a:srgbClr val="94A3B8"/>
                </a:solidFill>
                <a:latin typeface="JetBrains Mono" pitchFamily="34" charset="0"/>
                <a:ea typeface="JetBrains Mono" pitchFamily="34" charset="-122"/>
                <a:cs typeface="JetBrains Mono" pitchFamily="34" charset="-120"/>
              </a:rPr>
              <a:t>(PDF, DOCX, TXT). Déploiement </a:t>
            </a:r>
            <a:pPr algn="l" indent="0" marL="0">
              <a:lnSpc>
                <a:spcPts val="1100"/>
              </a:lnSpc>
              <a:buNone/>
            </a:pPr>
            <a:r>
              <a:rPr lang="en-US" sz="634" b="1" dirty="0">
                <a:solidFill>
                  <a:srgbClr val="38BDF8"/>
                </a:solidFill>
                <a:latin typeface="JetBrains Mono" pitchFamily="34" charset="0"/>
                <a:ea typeface="JetBrains Mono" pitchFamily="34" charset="-122"/>
                <a:cs typeface="JetBrains Mono" pitchFamily="34" charset="-120"/>
              </a:rPr>
              <a:t>Docker</a:t>
            </a:r>
            <a:pPr algn="l" indent="0" marL="0">
              <a:lnSpc>
                <a:spcPts val="1100"/>
              </a:lnSpc>
              <a:buNone/>
            </a:pPr>
            <a:r>
              <a:rPr lang="en-US" sz="674" dirty="0">
                <a:solidFill>
                  <a:srgbClr val="94A3B8"/>
                </a:solidFill>
                <a:latin typeface="JetBrains Mono" pitchFamily="34" charset="0"/>
                <a:ea typeface="JetBrains Mono" pitchFamily="34" charset="-122"/>
                <a:cs typeface="JetBrains Mono" pitchFamily="34" charset="-120"/>
              </a:rPr>
              <a:t> en 5 minutes.</a:t>
            </a:r>
            <a:endParaRPr lang="en-US" sz="67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0"/>
            <a:ext cx="9144000" cy="411463"/>
          </a:xfrm>
          <a:prstGeom prst="rect">
            <a:avLst/>
          </a:prstGeom>
          <a:solidFill>
            <a:srgbClr val="000000">
              <a:alpha val="0"/>
            </a:srgbClr>
          </a:solidFill>
          <a:ln/>
        </p:spPr>
      </p:sp>
      <p:sp>
        <p:nvSpPr>
          <p:cNvPr id="5" name="Shape 1"/>
          <p:cNvSpPr/>
          <p:nvPr/>
        </p:nvSpPr>
        <p:spPr>
          <a:xfrm>
            <a:off x="0" y="571500"/>
            <a:ext cx="57150" cy="411463"/>
          </a:xfrm>
          <a:prstGeom prst="rect">
            <a:avLst/>
          </a:prstGeom>
          <a:solidFill>
            <a:srgbClr val="38BDF8"/>
          </a:solidFill>
          <a:ln/>
        </p:spPr>
      </p:sp>
      <p:sp>
        <p:nvSpPr>
          <p:cNvPr id="6" name="Text 2"/>
          <p:cNvSpPr/>
          <p:nvPr/>
        </p:nvSpPr>
        <p:spPr>
          <a:xfrm>
            <a:off x="0" y="571500"/>
            <a:ext cx="9144000" cy="411463"/>
          </a:xfrm>
          <a:prstGeom prst="rect">
            <a:avLst/>
          </a:prstGeom>
          <a:noFill/>
          <a:ln/>
        </p:spPr>
        <p:txBody>
          <a:bodyPr wrap="none" lIns="850392" tIns="0" rIns="0" bIns="0" rtlCol="0" anchor="t">
            <a:spAutoFit/>
          </a:bodyPr>
          <a:lstStyle/>
          <a:p>
            <a:pPr algn="l" indent="0" marL="0">
              <a:lnSpc>
                <a:spcPts val="3200"/>
              </a:lnSpc>
              <a:buNone/>
            </a:pPr>
            <a:r>
              <a:rPr lang="en-US" sz="2436" b="1" dirty="0">
                <a:solidFill>
                  <a:srgbClr val="FFFFFF"/>
                </a:solidFill>
                <a:latin typeface="Inter" pitchFamily="34" charset="0"/>
                <a:ea typeface="Inter" pitchFamily="34" charset="-122"/>
                <a:cs typeface="Inter" pitchFamily="34" charset="-120"/>
              </a:rPr>
              <a:t>Roadmap : Ce n'est que le début</a:t>
            </a:r>
            <a:endParaRPr lang="en-US" sz="2436" dirty="0"/>
          </a:p>
        </p:txBody>
      </p:sp>
      <p:sp>
        <p:nvSpPr>
          <p:cNvPr id="7" name="Text 3"/>
          <p:cNvSpPr/>
          <p:nvPr/>
        </p:nvSpPr>
        <p:spPr>
          <a:xfrm>
            <a:off x="714375" y="1411588"/>
            <a:ext cx="1157288" cy="278606"/>
          </a:xfrm>
          <a:prstGeom prst="rect">
            <a:avLst/>
          </a:prstGeom>
          <a:noFill/>
          <a:ln/>
        </p:spPr>
        <p:txBody>
          <a:bodyPr wrap="square" lIns="0" tIns="0" rIns="0" bIns="170053" rtlCol="0" anchor="ctr">
            <a:spAutoFit/>
          </a:bodyPr>
          <a:lstStyle/>
          <a:p>
            <a:pPr algn="l" indent="0" marL="0">
              <a:lnSpc>
                <a:spcPts val="900"/>
              </a:lnSpc>
              <a:buNone/>
            </a:pPr>
            <a:r>
              <a:rPr lang="en-US" sz="683" b="1" spc="2" kern="0" dirty="0">
                <a:solidFill>
                  <a:srgbClr val="38BDF8"/>
                </a:solidFill>
                <a:latin typeface="JetBrains Mono" pitchFamily="34" charset="0"/>
                <a:ea typeface="JetBrains Mono" pitchFamily="34" charset="-122"/>
                <a:cs typeface="JetBrains Mono" pitchFamily="34" charset="-120"/>
              </a:rPr>
              <a:t>VERSION</a:t>
            </a:r>
            <a:endParaRPr lang="en-US" sz="683" dirty="0"/>
          </a:p>
        </p:txBody>
      </p:sp>
      <p:sp>
        <p:nvSpPr>
          <p:cNvPr id="8" name="Text 4"/>
          <p:cNvSpPr/>
          <p:nvPr/>
        </p:nvSpPr>
        <p:spPr>
          <a:xfrm>
            <a:off x="1871663" y="1411588"/>
            <a:ext cx="1543050" cy="278606"/>
          </a:xfrm>
          <a:prstGeom prst="rect">
            <a:avLst/>
          </a:prstGeom>
          <a:noFill/>
          <a:ln/>
        </p:spPr>
        <p:txBody>
          <a:bodyPr wrap="square" lIns="0" tIns="0" rIns="0" bIns="170053" rtlCol="0" anchor="ctr">
            <a:spAutoFit/>
          </a:bodyPr>
          <a:lstStyle/>
          <a:p>
            <a:pPr algn="l" indent="0" marL="0">
              <a:lnSpc>
                <a:spcPts val="900"/>
              </a:lnSpc>
              <a:buNone/>
            </a:pPr>
            <a:r>
              <a:rPr lang="en-US" sz="683" b="1" spc="2" kern="0" dirty="0">
                <a:solidFill>
                  <a:srgbClr val="38BDF8"/>
                </a:solidFill>
                <a:latin typeface="JetBrains Mono" pitchFamily="34" charset="0"/>
                <a:ea typeface="JetBrains Mono" pitchFamily="34" charset="-122"/>
                <a:cs typeface="JetBrains Mono" pitchFamily="34" charset="-120"/>
              </a:rPr>
              <a:t>STATUT</a:t>
            </a:r>
            <a:endParaRPr lang="en-US" sz="683" dirty="0"/>
          </a:p>
        </p:txBody>
      </p:sp>
      <p:sp>
        <p:nvSpPr>
          <p:cNvPr id="9" name="Text 5"/>
          <p:cNvSpPr/>
          <p:nvPr/>
        </p:nvSpPr>
        <p:spPr>
          <a:xfrm>
            <a:off x="3414713" y="1411588"/>
            <a:ext cx="5014913" cy="278606"/>
          </a:xfrm>
          <a:prstGeom prst="rect">
            <a:avLst/>
          </a:prstGeom>
          <a:noFill/>
          <a:ln/>
        </p:spPr>
        <p:txBody>
          <a:bodyPr wrap="square" lIns="0" tIns="0" rIns="0" bIns="170053" rtlCol="0" anchor="ctr">
            <a:spAutoFit/>
          </a:bodyPr>
          <a:lstStyle/>
          <a:p>
            <a:pPr algn="l" indent="0" marL="0">
              <a:lnSpc>
                <a:spcPts val="900"/>
              </a:lnSpc>
              <a:buNone/>
            </a:pPr>
            <a:r>
              <a:rPr lang="en-US" sz="683" b="1" spc="2" kern="0" dirty="0">
                <a:solidFill>
                  <a:srgbClr val="38BDF8"/>
                </a:solidFill>
                <a:latin typeface="JetBrains Mono" pitchFamily="34" charset="0"/>
                <a:ea typeface="JetBrains Mono" pitchFamily="34" charset="-122"/>
                <a:cs typeface="JetBrains Mono" pitchFamily="34" charset="-120"/>
              </a:rPr>
              <a:t>FONCTIONNALITÉS CLÉS</a:t>
            </a:r>
            <a:endParaRPr lang="en-US" sz="683" dirty="0"/>
          </a:p>
        </p:txBody>
      </p:sp>
      <p:sp>
        <p:nvSpPr>
          <p:cNvPr id="10" name="Text 6"/>
          <p:cNvSpPr/>
          <p:nvPr/>
        </p:nvSpPr>
        <p:spPr>
          <a:xfrm>
            <a:off x="714375" y="1690195"/>
            <a:ext cx="1157288" cy="684349"/>
          </a:xfrm>
          <a:prstGeom prst="rect">
            <a:avLst/>
          </a:prstGeom>
          <a:noFill/>
          <a:ln/>
        </p:spPr>
        <p:txBody>
          <a:bodyPr wrap="square" lIns="0" tIns="212598" rIns="0" bIns="212598" rtlCol="0" anchor="t">
            <a:spAutoFit/>
          </a:bodyPr>
          <a:lstStyle/>
          <a:p>
            <a:pPr algn="l" indent="0" marL="0">
              <a:lnSpc>
                <a:spcPts val="1200"/>
              </a:lnSpc>
              <a:buNone/>
            </a:pPr>
            <a:r>
              <a:rPr lang="en-US" sz="885" b="1" dirty="0">
                <a:solidFill>
                  <a:srgbClr val="FFFFFF"/>
                </a:solidFill>
                <a:latin typeface="JetBrains Mono" pitchFamily="34" charset="0"/>
                <a:ea typeface="JetBrains Mono" pitchFamily="34" charset="-122"/>
                <a:cs typeface="JetBrains Mono" pitchFamily="34" charset="-120"/>
              </a:rPr>
              <a:t>v1.0 / v1.5</a:t>
            </a:r>
            <a:endParaRPr lang="en-US" sz="885" dirty="0"/>
          </a:p>
        </p:txBody>
      </p:sp>
      <p:sp>
        <p:nvSpPr>
          <p:cNvPr id="11" name="Shape 7"/>
          <p:cNvSpPr/>
          <p:nvPr/>
        </p:nvSpPr>
        <p:spPr>
          <a:xfrm>
            <a:off x="1871663" y="1843785"/>
            <a:ext cx="516136" cy="198239"/>
          </a:xfrm>
          <a:prstGeom prst="rect">
            <a:avLst/>
          </a:prstGeom>
          <a:solidFill>
            <a:srgbClr val="38BDF8">
              <a:alpha val="10000"/>
            </a:srgbClr>
          </a:solidFill>
          <a:ln w="9144">
            <a:solidFill>
              <a:srgbClr val="38BDF8">
                <a:alpha val="30000"/>
              </a:srgbClr>
            </a:solidFill>
            <a:prstDash val="solid"/>
          </a:ln>
        </p:spPr>
      </p:sp>
      <p:sp>
        <p:nvSpPr>
          <p:cNvPr id="12" name="Text 8"/>
          <p:cNvSpPr/>
          <p:nvPr/>
        </p:nvSpPr>
        <p:spPr>
          <a:xfrm>
            <a:off x="1871663" y="1843785"/>
            <a:ext cx="516136" cy="198239"/>
          </a:xfrm>
          <a:prstGeom prst="rect">
            <a:avLst/>
          </a:prstGeom>
          <a:noFill/>
          <a:ln/>
        </p:spPr>
        <p:txBody>
          <a:bodyPr wrap="square" lIns="102108" tIns="42545" rIns="102108" bIns="42545" rtlCol="0" anchor="t">
            <a:spAutoFit/>
          </a:bodyPr>
          <a:lstStyle/>
          <a:p>
            <a:pPr algn="l" indent="0" marL="0">
              <a:lnSpc>
                <a:spcPts val="800"/>
              </a:lnSpc>
              <a:buNone/>
            </a:pPr>
            <a:r>
              <a:rPr lang="en-US" sz="584" b="1" spc="2" kern="0" dirty="0">
                <a:solidFill>
                  <a:srgbClr val="38BDF8"/>
                </a:solidFill>
                <a:latin typeface="JetBrains Mono" pitchFamily="34" charset="0"/>
                <a:ea typeface="JetBrains Mono" pitchFamily="34" charset="-122"/>
                <a:cs typeface="JetBrains Mono" pitchFamily="34" charset="-120"/>
              </a:rPr>
              <a:t>LIVRÉ</a:t>
            </a:r>
            <a:endParaRPr lang="en-US" sz="584" dirty="0"/>
          </a:p>
        </p:txBody>
      </p:sp>
      <p:sp>
        <p:nvSpPr>
          <p:cNvPr id="13" name="Text 9"/>
          <p:cNvSpPr/>
          <p:nvPr/>
        </p:nvSpPr>
        <p:spPr>
          <a:xfrm>
            <a:off x="3414713" y="1690195"/>
            <a:ext cx="5014913" cy="684349"/>
          </a:xfrm>
          <a:prstGeom prst="rect">
            <a:avLst/>
          </a:prstGeom>
          <a:noFill/>
          <a:ln/>
        </p:spPr>
        <p:txBody>
          <a:bodyPr wrap="square" lIns="0" tIns="212598" rIns="0" bIns="212598"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API REST, parsing AO, multi-LLM, Interface React, upload PDF natif, génération multi-sections.</a:t>
            </a:r>
            <a:endParaRPr lang="en-US" sz="727" dirty="0"/>
          </a:p>
        </p:txBody>
      </p:sp>
      <p:sp>
        <p:nvSpPr>
          <p:cNvPr id="14" name="Text 10"/>
          <p:cNvSpPr/>
          <p:nvPr/>
        </p:nvSpPr>
        <p:spPr>
          <a:xfrm>
            <a:off x="714375" y="2374543"/>
            <a:ext cx="1157288" cy="684349"/>
          </a:xfrm>
          <a:prstGeom prst="rect">
            <a:avLst/>
          </a:prstGeom>
          <a:noFill/>
          <a:ln/>
        </p:spPr>
        <p:txBody>
          <a:bodyPr wrap="square" lIns="0" tIns="212598" rIns="0" bIns="212598" rtlCol="0" anchor="t">
            <a:spAutoFit/>
          </a:bodyPr>
          <a:lstStyle/>
          <a:p>
            <a:pPr algn="l" indent="0" marL="0">
              <a:lnSpc>
                <a:spcPts val="1200"/>
              </a:lnSpc>
              <a:buNone/>
            </a:pPr>
            <a:r>
              <a:rPr lang="en-US" sz="885" b="1" dirty="0">
                <a:solidFill>
                  <a:srgbClr val="FFFFFF"/>
                </a:solidFill>
                <a:latin typeface="JetBrains Mono" pitchFamily="34" charset="0"/>
                <a:ea typeface="JetBrains Mono" pitchFamily="34" charset="-122"/>
                <a:cs typeface="JetBrains Mono" pitchFamily="34" charset="-120"/>
              </a:rPr>
              <a:t>v2.0</a:t>
            </a:r>
            <a:endParaRPr lang="en-US" sz="885" dirty="0"/>
          </a:p>
        </p:txBody>
      </p:sp>
      <p:sp>
        <p:nvSpPr>
          <p:cNvPr id="15" name="Shape 11"/>
          <p:cNvSpPr/>
          <p:nvPr/>
        </p:nvSpPr>
        <p:spPr>
          <a:xfrm>
            <a:off x="1871663" y="2528134"/>
            <a:ext cx="516136" cy="198239"/>
          </a:xfrm>
          <a:prstGeom prst="rect">
            <a:avLst/>
          </a:prstGeom>
          <a:solidFill>
            <a:srgbClr val="38BDF8">
              <a:alpha val="10000"/>
            </a:srgbClr>
          </a:solidFill>
          <a:ln w="9144">
            <a:solidFill>
              <a:srgbClr val="38BDF8">
                <a:alpha val="30000"/>
              </a:srgbClr>
            </a:solidFill>
            <a:prstDash val="solid"/>
          </a:ln>
        </p:spPr>
      </p:sp>
      <p:sp>
        <p:nvSpPr>
          <p:cNvPr id="16" name="Text 12"/>
          <p:cNvSpPr/>
          <p:nvPr/>
        </p:nvSpPr>
        <p:spPr>
          <a:xfrm>
            <a:off x="1871663" y="2528134"/>
            <a:ext cx="516136" cy="198239"/>
          </a:xfrm>
          <a:prstGeom prst="rect">
            <a:avLst/>
          </a:prstGeom>
          <a:noFill/>
          <a:ln/>
        </p:spPr>
        <p:txBody>
          <a:bodyPr wrap="square" lIns="102108" tIns="42545" rIns="102108" bIns="42545" rtlCol="0" anchor="t">
            <a:spAutoFit/>
          </a:bodyPr>
          <a:lstStyle/>
          <a:p>
            <a:pPr algn="l" indent="0" marL="0">
              <a:lnSpc>
                <a:spcPts val="800"/>
              </a:lnSpc>
              <a:buNone/>
            </a:pPr>
            <a:r>
              <a:rPr lang="en-US" sz="584" b="1" spc="2" kern="0" dirty="0">
                <a:solidFill>
                  <a:srgbClr val="38BDF8"/>
                </a:solidFill>
                <a:latin typeface="JetBrains Mono" pitchFamily="34" charset="0"/>
                <a:ea typeface="JetBrains Mono" pitchFamily="34" charset="-122"/>
                <a:cs typeface="JetBrains Mono" pitchFamily="34" charset="-120"/>
              </a:rPr>
              <a:t>LIVRÉ</a:t>
            </a:r>
            <a:endParaRPr lang="en-US" sz="584" dirty="0"/>
          </a:p>
        </p:txBody>
      </p:sp>
      <p:sp>
        <p:nvSpPr>
          <p:cNvPr id="17" name="Text 13"/>
          <p:cNvSpPr/>
          <p:nvPr/>
        </p:nvSpPr>
        <p:spPr>
          <a:xfrm>
            <a:off x="3414713" y="2374543"/>
            <a:ext cx="5014913" cy="684349"/>
          </a:xfrm>
          <a:prstGeom prst="rect">
            <a:avLst/>
          </a:prstGeom>
          <a:noFill/>
          <a:ln/>
        </p:spPr>
        <p:txBody>
          <a:bodyPr wrap="square" lIns="0" tIns="212598" rIns="0" bIns="212598"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Base de connaissances RAG (Qdrant), microservice ETL indépendant, embeddings OpenAI.</a:t>
            </a:r>
            <a:endParaRPr lang="en-US" sz="727" dirty="0"/>
          </a:p>
        </p:txBody>
      </p:sp>
      <p:sp>
        <p:nvSpPr>
          <p:cNvPr id="18" name="Text 14"/>
          <p:cNvSpPr/>
          <p:nvPr/>
        </p:nvSpPr>
        <p:spPr>
          <a:xfrm>
            <a:off x="714375" y="3058892"/>
            <a:ext cx="1157288" cy="533995"/>
          </a:xfrm>
          <a:prstGeom prst="rect">
            <a:avLst/>
          </a:prstGeom>
          <a:noFill/>
          <a:ln/>
        </p:spPr>
        <p:txBody>
          <a:bodyPr wrap="square" lIns="0" tIns="212598" rIns="0" bIns="212598" rtlCol="0" anchor="t">
            <a:spAutoFit/>
          </a:bodyPr>
          <a:lstStyle/>
          <a:p>
            <a:pPr algn="l" indent="0" marL="0">
              <a:lnSpc>
                <a:spcPts val="1200"/>
              </a:lnSpc>
              <a:buNone/>
            </a:pPr>
            <a:r>
              <a:rPr lang="en-US" sz="885" b="1" dirty="0">
                <a:solidFill>
                  <a:srgbClr val="FFFFFF"/>
                </a:solidFill>
                <a:latin typeface="JetBrains Mono" pitchFamily="34" charset="0"/>
                <a:ea typeface="JetBrains Mono" pitchFamily="34" charset="-122"/>
                <a:cs typeface="JetBrains Mono" pitchFamily="34" charset="-120"/>
              </a:rPr>
              <a:t>v3.0</a:t>
            </a:r>
            <a:endParaRPr lang="en-US" sz="885" dirty="0"/>
          </a:p>
        </p:txBody>
      </p:sp>
      <p:sp>
        <p:nvSpPr>
          <p:cNvPr id="19" name="Shape 15"/>
          <p:cNvSpPr/>
          <p:nvPr/>
        </p:nvSpPr>
        <p:spPr>
          <a:xfrm>
            <a:off x="1871663" y="3212483"/>
            <a:ext cx="648295" cy="198239"/>
          </a:xfrm>
          <a:prstGeom prst="rect">
            <a:avLst/>
          </a:prstGeom>
          <a:solidFill>
            <a:srgbClr val="94A3B8">
              <a:alpha val="10000"/>
            </a:srgbClr>
          </a:solidFill>
          <a:ln w="9144">
            <a:solidFill>
              <a:srgbClr val="94A3B8">
                <a:alpha val="30000"/>
              </a:srgbClr>
            </a:solidFill>
            <a:prstDash val="solid"/>
          </a:ln>
        </p:spPr>
      </p:sp>
      <p:sp>
        <p:nvSpPr>
          <p:cNvPr id="20" name="Text 16"/>
          <p:cNvSpPr/>
          <p:nvPr/>
        </p:nvSpPr>
        <p:spPr>
          <a:xfrm>
            <a:off x="1871663" y="3212483"/>
            <a:ext cx="648295" cy="198239"/>
          </a:xfrm>
          <a:prstGeom prst="rect">
            <a:avLst/>
          </a:prstGeom>
          <a:noFill/>
          <a:ln/>
        </p:spPr>
        <p:txBody>
          <a:bodyPr wrap="square" lIns="102108" tIns="42545" rIns="102108" bIns="42545" rtlCol="0" anchor="t">
            <a:spAutoFit/>
          </a:bodyPr>
          <a:lstStyle/>
          <a:p>
            <a:pPr algn="l" indent="0" marL="0">
              <a:lnSpc>
                <a:spcPts val="800"/>
              </a:lnSpc>
              <a:buNone/>
            </a:pPr>
            <a:r>
              <a:rPr lang="en-US" sz="584" b="1" spc="2" kern="0" dirty="0">
                <a:solidFill>
                  <a:srgbClr val="FFFFFF"/>
                </a:solidFill>
                <a:latin typeface="JetBrains Mono" pitchFamily="34" charset="0"/>
                <a:ea typeface="JetBrains Mono" pitchFamily="34" charset="-122"/>
                <a:cs typeface="JetBrains Mono" pitchFamily="34" charset="-120"/>
              </a:rPr>
              <a:t>EN DÉV.</a:t>
            </a:r>
            <a:endParaRPr lang="en-US" sz="584" dirty="0"/>
          </a:p>
        </p:txBody>
      </p:sp>
      <p:sp>
        <p:nvSpPr>
          <p:cNvPr id="21" name="Text 17"/>
          <p:cNvSpPr/>
          <p:nvPr/>
        </p:nvSpPr>
        <p:spPr>
          <a:xfrm>
            <a:off x="3414713" y="3058892"/>
            <a:ext cx="5014913" cy="533995"/>
          </a:xfrm>
          <a:prstGeom prst="rect">
            <a:avLst/>
          </a:prstGeom>
          <a:noFill/>
          <a:ln/>
        </p:spPr>
        <p:txBody>
          <a:bodyPr wrap="square" lIns="0" tIns="212598" rIns="0" bIns="212598"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Fine-tuning sur corpus d'AO remportés, scoring prédictif, exports Word/PDF.</a:t>
            </a:r>
            <a:endParaRPr lang="en-US" sz="727" dirty="0"/>
          </a:p>
        </p:txBody>
      </p:sp>
      <p:sp>
        <p:nvSpPr>
          <p:cNvPr id="22" name="Text 18"/>
          <p:cNvSpPr/>
          <p:nvPr/>
        </p:nvSpPr>
        <p:spPr>
          <a:xfrm>
            <a:off x="714375" y="3592888"/>
            <a:ext cx="1157288" cy="533995"/>
          </a:xfrm>
          <a:prstGeom prst="rect">
            <a:avLst/>
          </a:prstGeom>
          <a:noFill/>
          <a:ln/>
        </p:spPr>
        <p:txBody>
          <a:bodyPr wrap="square" lIns="0" tIns="212598" rIns="0" bIns="212598" rtlCol="0" anchor="t">
            <a:spAutoFit/>
          </a:bodyPr>
          <a:lstStyle/>
          <a:p>
            <a:pPr algn="l" indent="0" marL="0">
              <a:lnSpc>
                <a:spcPts val="1200"/>
              </a:lnSpc>
              <a:buNone/>
            </a:pPr>
            <a:r>
              <a:rPr lang="en-US" sz="885" b="1" dirty="0">
                <a:solidFill>
                  <a:srgbClr val="FFFFFF"/>
                </a:solidFill>
                <a:latin typeface="JetBrains Mono" pitchFamily="34" charset="0"/>
                <a:ea typeface="JetBrains Mono" pitchFamily="34" charset="-122"/>
                <a:cs typeface="JetBrains Mono" pitchFamily="34" charset="-120"/>
              </a:rPr>
              <a:t>v4.0</a:t>
            </a:r>
            <a:endParaRPr lang="en-US" sz="885" dirty="0"/>
          </a:p>
        </p:txBody>
      </p:sp>
      <p:sp>
        <p:nvSpPr>
          <p:cNvPr id="23" name="Shape 19"/>
          <p:cNvSpPr/>
          <p:nvPr/>
        </p:nvSpPr>
        <p:spPr>
          <a:xfrm>
            <a:off x="1871663" y="3746478"/>
            <a:ext cx="714375" cy="198239"/>
          </a:xfrm>
          <a:prstGeom prst="rect">
            <a:avLst/>
          </a:prstGeom>
          <a:solidFill>
            <a:srgbClr val="94A3B8">
              <a:alpha val="10000"/>
            </a:srgbClr>
          </a:solidFill>
          <a:ln w="9144">
            <a:solidFill>
              <a:srgbClr val="94A3B8">
                <a:alpha val="30000"/>
              </a:srgbClr>
            </a:solidFill>
            <a:prstDash val="solid"/>
          </a:ln>
        </p:spPr>
      </p:sp>
      <p:sp>
        <p:nvSpPr>
          <p:cNvPr id="24" name="Text 20"/>
          <p:cNvSpPr/>
          <p:nvPr/>
        </p:nvSpPr>
        <p:spPr>
          <a:xfrm>
            <a:off x="1871663" y="3746478"/>
            <a:ext cx="714375" cy="198239"/>
          </a:xfrm>
          <a:prstGeom prst="rect">
            <a:avLst/>
          </a:prstGeom>
          <a:noFill/>
          <a:ln/>
        </p:spPr>
        <p:txBody>
          <a:bodyPr wrap="square" lIns="102108" tIns="42545" rIns="102108" bIns="42545" rtlCol="0" anchor="t">
            <a:spAutoFit/>
          </a:bodyPr>
          <a:lstStyle/>
          <a:p>
            <a:pPr algn="l" indent="0" marL="0">
              <a:lnSpc>
                <a:spcPts val="800"/>
              </a:lnSpc>
              <a:buNone/>
            </a:pPr>
            <a:r>
              <a:rPr lang="en-US" sz="584" b="1" spc="2" kern="0" dirty="0">
                <a:solidFill>
                  <a:srgbClr val="FFFFFF"/>
                </a:solidFill>
                <a:latin typeface="JetBrains Mono" pitchFamily="34" charset="0"/>
                <a:ea typeface="JetBrains Mono" pitchFamily="34" charset="-122"/>
                <a:cs typeface="JetBrains Mono" pitchFamily="34" charset="-120"/>
              </a:rPr>
              <a:t>PLANIFIÉ</a:t>
            </a:r>
            <a:endParaRPr lang="en-US" sz="584" dirty="0"/>
          </a:p>
        </p:txBody>
      </p:sp>
      <p:sp>
        <p:nvSpPr>
          <p:cNvPr id="25" name="Text 21"/>
          <p:cNvSpPr/>
          <p:nvPr/>
        </p:nvSpPr>
        <p:spPr>
          <a:xfrm>
            <a:off x="3414713" y="3592888"/>
            <a:ext cx="5014913" cy="533995"/>
          </a:xfrm>
          <a:prstGeom prst="rect">
            <a:avLst/>
          </a:prstGeom>
          <a:noFill/>
          <a:ln/>
        </p:spPr>
        <p:txBody>
          <a:bodyPr wrap="square" lIns="0" tIns="212598" rIns="0" bIns="212598"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Apprentissage continu (feedback loop), conformité RGPD certifiée.</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593949" y="815671"/>
            <a:ext cx="5956102" cy="414338"/>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FFFFFF"/>
                </a:solidFill>
                <a:latin typeface="Inter" pitchFamily="34" charset="0"/>
                <a:ea typeface="Inter" pitchFamily="34" charset="-122"/>
                <a:cs typeface="Inter" pitchFamily="34" charset="-120"/>
              </a:rPr>
              <a:t>Prêt à remporter plus de marchés ?</a:t>
            </a:r>
            <a:endParaRPr lang="en-US" sz="2436" dirty="0"/>
          </a:p>
        </p:txBody>
      </p:sp>
      <p:sp>
        <p:nvSpPr>
          <p:cNvPr id="5" name="Shape 1"/>
          <p:cNvSpPr/>
          <p:nvPr/>
        </p:nvSpPr>
        <p:spPr>
          <a:xfrm>
            <a:off x="2071688" y="1658634"/>
            <a:ext cx="5000625" cy="1274378"/>
          </a:xfrm>
          <a:prstGeom prst="rect">
            <a:avLst/>
          </a:prstGeom>
          <a:solidFill>
            <a:srgbClr val="05070A"/>
          </a:solidFill>
          <a:ln w="9144">
            <a:solidFill>
              <a:srgbClr val="38BDF8">
                <a:alpha val="30000"/>
              </a:srgbClr>
            </a:solidFill>
            <a:prstDash val="solid"/>
          </a:ln>
        </p:spPr>
      </p:sp>
      <p:sp>
        <p:nvSpPr>
          <p:cNvPr id="6" name="Shape 2"/>
          <p:cNvSpPr/>
          <p:nvPr/>
        </p:nvSpPr>
        <p:spPr>
          <a:xfrm>
            <a:off x="2071688" y="1665777"/>
            <a:ext cx="5000625" cy="214313"/>
          </a:xfrm>
          <a:prstGeom prst="rect">
            <a:avLst/>
          </a:prstGeom>
          <a:solidFill>
            <a:srgbClr val="1E293B"/>
          </a:solidFill>
          <a:ln/>
        </p:spPr>
      </p:sp>
      <p:sp>
        <p:nvSpPr>
          <p:cNvPr id="7" name="Text 3"/>
          <p:cNvSpPr/>
          <p:nvPr/>
        </p:nvSpPr>
        <p:spPr>
          <a:xfrm>
            <a:off x="2286000" y="2094402"/>
            <a:ext cx="4572000"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8BDF8"/>
                </a:solidFill>
                <a:latin typeface="JetBrains Mono" pitchFamily="34" charset="0"/>
                <a:ea typeface="JetBrains Mono" pitchFamily="34" charset="-122"/>
                <a:cs typeface="JetBrains Mono" pitchFamily="34" charset="-120"/>
              </a:rPr>
              <a:t>git clone</a:t>
            </a:r>
            <a:pPr algn="l" indent="0" marL="0">
              <a:lnSpc>
                <a:spcPts val="1600"/>
              </a:lnSpc>
              <a:buNone/>
            </a:pPr>
            <a:r>
              <a:rPr lang="en-US" sz="942" dirty="0">
                <a:solidFill>
                  <a:srgbClr val="FFFFFF"/>
                </a:solidFill>
                <a:latin typeface="JetBrains Mono" pitchFamily="34" charset="0"/>
                <a:ea typeface="JetBrains Mono" pitchFamily="34" charset="-122"/>
                <a:cs typeface="JetBrains Mono" pitchFamily="34" charset="-120"/>
              </a:rPr>
              <a:t> https://github.com/offria/offria-api</a:t>
            </a:r>
            <a:endParaRPr lang="en-US" sz="942" dirty="0"/>
          </a:p>
        </p:txBody>
      </p:sp>
      <p:sp>
        <p:nvSpPr>
          <p:cNvPr id="8" name="Text 4"/>
          <p:cNvSpPr/>
          <p:nvPr/>
        </p:nvSpPr>
        <p:spPr>
          <a:xfrm>
            <a:off x="2286000" y="2317979"/>
            <a:ext cx="1305520" cy="169664"/>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8BDF8"/>
                </a:solidFill>
                <a:latin typeface="JetBrains Mono" pitchFamily="34" charset="0"/>
                <a:ea typeface="JetBrains Mono" pitchFamily="34" charset="-122"/>
                <a:cs typeface="JetBrains Mono" pitchFamily="34" charset="-120"/>
              </a:rPr>
              <a:t>docker compose up</a:t>
            </a:r>
            <a:endParaRPr lang="en-US" sz="942" dirty="0"/>
          </a:p>
        </p:txBody>
      </p:sp>
      <p:sp>
        <p:nvSpPr>
          <p:cNvPr id="9" name="Text 5"/>
          <p:cNvSpPr/>
          <p:nvPr/>
        </p:nvSpPr>
        <p:spPr>
          <a:xfrm>
            <a:off x="2286000" y="2505838"/>
            <a:ext cx="4572000"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64748B"/>
                </a:solidFill>
                <a:latin typeface="JetBrains Mono" pitchFamily="34" charset="0"/>
                <a:ea typeface="JetBrains Mono" pitchFamily="34" charset="-122"/>
                <a:cs typeface="JetBrains Mono" pitchFamily="34" charset="-120"/>
              </a:rPr>
              <a:t># Votre premier AO généré en 90 secondes.</a:t>
            </a:r>
            <a:endParaRPr lang="en-US" sz="942" dirty="0"/>
          </a:p>
        </p:txBody>
      </p:sp>
      <p:sp>
        <p:nvSpPr>
          <p:cNvPr id="10" name="Text 6"/>
          <p:cNvSpPr/>
          <p:nvPr/>
        </p:nvSpPr>
        <p:spPr>
          <a:xfrm>
            <a:off x="2507456" y="3354493"/>
            <a:ext cx="4129088" cy="207169"/>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latin typeface="Inter" pitchFamily="34" charset="0"/>
                <a:ea typeface="Inter" pitchFamily="34" charset="-122"/>
                <a:cs typeface="Inter" pitchFamily="34" charset="-120"/>
              </a:rPr>
              <a:t>Mohamed Echcharif EL JAZOULI</a:t>
            </a:r>
            <a:endParaRPr lang="en-US" sz="1193" dirty="0"/>
          </a:p>
        </p:txBody>
      </p:sp>
      <p:sp>
        <p:nvSpPr>
          <p:cNvPr id="11" name="Text 7"/>
          <p:cNvSpPr/>
          <p:nvPr/>
        </p:nvSpPr>
        <p:spPr>
          <a:xfrm>
            <a:off x="2507456" y="3597380"/>
            <a:ext cx="4129088" cy="132159"/>
          </a:xfrm>
          <a:prstGeom prst="rect">
            <a:avLst/>
          </a:prstGeom>
          <a:noFill/>
          <a:ln/>
        </p:spPr>
        <p:txBody>
          <a:bodyPr wrap="none" lIns="0" tIns="0" rIns="0" bIns="0" rtlCol="0" anchor="t">
            <a:spAutoFit/>
          </a:bodyPr>
          <a:lstStyle/>
          <a:p>
            <a:pPr algn="ctr" indent="0" marL="0">
              <a:lnSpc>
                <a:spcPts val="900"/>
              </a:lnSpc>
              <a:buNone/>
            </a:pPr>
            <a:r>
              <a:rPr lang="en-US" sz="727" spc="2" kern="0" dirty="0">
                <a:solidFill>
                  <a:srgbClr val="38BDF8"/>
                </a:solidFill>
                <a:latin typeface="JetBrains Mono" pitchFamily="34" charset="0"/>
                <a:ea typeface="JetBrains Mono" pitchFamily="34" charset="-122"/>
                <a:cs typeface="JetBrains Mono" pitchFamily="34" charset="-120"/>
              </a:rPr>
              <a:t>LEAD DATA SCIENTIST — ARCHITECTE OFFRIA</a:t>
            </a:r>
            <a:endParaRPr lang="en-US" sz="727" dirty="0"/>
          </a:p>
        </p:txBody>
      </p:sp>
      <p:sp>
        <p:nvSpPr>
          <p:cNvPr id="12" name="Text 8"/>
          <p:cNvSpPr/>
          <p:nvPr/>
        </p:nvSpPr>
        <p:spPr>
          <a:xfrm>
            <a:off x="2507456" y="3943852"/>
            <a:ext cx="4129088" cy="376833"/>
          </a:xfrm>
          <a:prstGeom prst="rect">
            <a:avLst/>
          </a:prstGeom>
          <a:noFill/>
          <a:ln/>
        </p:spPr>
        <p:txBody>
          <a:bodyPr wrap="square" lIns="0" tIns="255143" rIns="0" bIns="0" rtlCol="0" anchor="t">
            <a:spAutoFit/>
          </a:bodyPr>
          <a:lstStyle/>
          <a:p>
            <a:pPr algn="ctr" indent="0" marL="0">
              <a:lnSpc>
                <a:spcPts val="1200"/>
              </a:lnSpc>
              <a:buNone/>
            </a:pPr>
            <a:r>
              <a:rPr lang="en-US" sz="942" i="1" dirty="0">
                <a:solidFill>
                  <a:srgbClr val="94A3B8"/>
                </a:solidFill>
                <a:latin typeface="Inter" pitchFamily="34" charset="0"/>
                <a:ea typeface="Inter" pitchFamily="34" charset="-122"/>
                <a:cs typeface="Inter" pitchFamily="34" charset="-120"/>
              </a:rPr>
              <a:t>OffrIA — Parce que chaque appel d'offres mérite une vraie réponse.</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571500"/>
            <a:ext cx="9144000" cy="274309"/>
          </a:xfrm>
          <a:prstGeom prst="rect">
            <a:avLst/>
          </a:prstGeom>
          <a:solidFill>
            <a:srgbClr val="000000">
              <a:alpha val="0"/>
            </a:srgbClr>
          </a:solidFill>
          <a:ln/>
        </p:spPr>
      </p:sp>
      <p:sp>
        <p:nvSpPr>
          <p:cNvPr id="5" name="Shape 1"/>
          <p:cNvSpPr/>
          <p:nvPr/>
        </p:nvSpPr>
        <p:spPr>
          <a:xfrm>
            <a:off x="0" y="571500"/>
            <a:ext cx="28575" cy="274309"/>
          </a:xfrm>
          <a:prstGeom prst="rect">
            <a:avLst/>
          </a:prstGeom>
          <a:solidFill>
            <a:srgbClr val="38BDF8"/>
          </a:solidFill>
          <a:ln/>
        </p:spPr>
      </p:sp>
      <p:sp>
        <p:nvSpPr>
          <p:cNvPr id="6" name="Text 2"/>
          <p:cNvSpPr/>
          <p:nvPr/>
        </p:nvSpPr>
        <p:spPr>
          <a:xfrm>
            <a:off x="0" y="571500"/>
            <a:ext cx="9144000" cy="274309"/>
          </a:xfrm>
          <a:prstGeom prst="rect">
            <a:avLst/>
          </a:prstGeom>
          <a:noFill/>
          <a:ln/>
        </p:spPr>
        <p:txBody>
          <a:bodyPr wrap="none" lIns="850392" tIns="0" rIns="0" bIns="0" rtlCol="0" anchor="t">
            <a:spAutoFit/>
          </a:bodyPr>
          <a:lstStyle/>
          <a:p>
            <a:pPr algn="l" indent="0" marL="0">
              <a:lnSpc>
                <a:spcPts val="2200"/>
              </a:lnSpc>
              <a:buNone/>
            </a:pPr>
            <a:r>
              <a:rPr lang="en-US" sz="1602" b="1" dirty="0">
                <a:solidFill>
                  <a:srgbClr val="FFFFFF"/>
                </a:solidFill>
                <a:latin typeface="Inter" pitchFamily="34" charset="0"/>
                <a:ea typeface="Inter" pitchFamily="34" charset="-122"/>
                <a:cs typeface="Inter" pitchFamily="34" charset="-120"/>
              </a:rPr>
              <a:t>Sources et Références</a:t>
            </a:r>
            <a:endParaRPr lang="en-US" sz="1602" dirty="0"/>
          </a:p>
        </p:txBody>
      </p:sp>
      <p:sp>
        <p:nvSpPr>
          <p:cNvPr id="7" name="Text 3"/>
          <p:cNvSpPr/>
          <p:nvPr/>
        </p:nvSpPr>
        <p:spPr>
          <a:xfrm>
            <a:off x="714375" y="1274434"/>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[1]</a:t>
            </a:r>
            <a:endParaRPr lang="en-US" sz="885" dirty="0"/>
          </a:p>
        </p:txBody>
      </p:sp>
      <p:sp>
        <p:nvSpPr>
          <p:cNvPr id="8" name="Text 4"/>
          <p:cNvSpPr/>
          <p:nvPr/>
        </p:nvSpPr>
        <p:spPr>
          <a:xfrm>
            <a:off x="1071563" y="1274434"/>
            <a:ext cx="3214688"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FFFFFF"/>
                </a:solidFill>
                <a:latin typeface="JetBrains Mono" pitchFamily="34" charset="0"/>
                <a:ea typeface="JetBrains Mono" pitchFamily="34" charset="-122"/>
                <a:cs typeface="JetBrains Mono" pitchFamily="34" charset="-120"/>
              </a:rPr>
              <a:t>Projet de Loi de Finances 2024</a:t>
            </a:r>
            <a:endParaRPr lang="en-US" sz="683" dirty="0"/>
          </a:p>
        </p:txBody>
      </p:sp>
      <p:sp>
        <p:nvSpPr>
          <p:cNvPr id="9" name="Text 5"/>
          <p:cNvSpPr/>
          <p:nvPr/>
        </p:nvSpPr>
        <p:spPr>
          <a:xfrm>
            <a:off x="1071563" y="1482663"/>
            <a:ext cx="315753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Données compilées sur l'investissement public record</a:t>
            </a:r>
            <a:endParaRPr lang="en-US" sz="727" dirty="0"/>
          </a:p>
        </p:txBody>
      </p:sp>
      <p:sp>
        <p:nvSpPr>
          <p:cNvPr id="10" name="Text 6"/>
          <p:cNvSpPr/>
          <p:nvPr/>
        </p:nvSpPr>
        <p:spPr>
          <a:xfrm>
            <a:off x="1071563" y="1642672"/>
            <a:ext cx="728663"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de 335 MMDH.</a:t>
            </a:r>
            <a:endParaRPr lang="en-US" sz="727" dirty="0"/>
          </a:p>
        </p:txBody>
      </p:sp>
      <p:sp>
        <p:nvSpPr>
          <p:cNvPr id="11" name="Text 7"/>
          <p:cNvSpPr/>
          <p:nvPr/>
        </p:nvSpPr>
        <p:spPr>
          <a:xfrm>
            <a:off x="4857750" y="1274434"/>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[2]</a:t>
            </a:r>
            <a:endParaRPr lang="en-US" sz="885" dirty="0"/>
          </a:p>
        </p:txBody>
      </p:sp>
      <p:sp>
        <p:nvSpPr>
          <p:cNvPr id="12" name="Text 8"/>
          <p:cNvSpPr/>
          <p:nvPr/>
        </p:nvSpPr>
        <p:spPr>
          <a:xfrm>
            <a:off x="5214938" y="1274434"/>
            <a:ext cx="3214688"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FFFFFF"/>
                </a:solidFill>
                <a:latin typeface="JetBrains Mono" pitchFamily="34" charset="0"/>
                <a:ea typeface="JetBrains Mono" pitchFamily="34" charset="-122"/>
                <a:cs typeface="JetBrains Mono" pitchFamily="34" charset="-120"/>
              </a:rPr>
              <a:t>Ministère de l'Économie et des Finances</a:t>
            </a:r>
            <a:endParaRPr lang="en-US" sz="683" dirty="0"/>
          </a:p>
        </p:txBody>
      </p:sp>
      <p:sp>
        <p:nvSpPr>
          <p:cNvPr id="13" name="Text 9"/>
          <p:cNvSpPr/>
          <p:nvPr/>
        </p:nvSpPr>
        <p:spPr>
          <a:xfrm>
            <a:off x="5214938" y="1482663"/>
            <a:ext cx="3036094"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Rapport 2023 sur l'attribution des marchés publics</a:t>
            </a:r>
            <a:endParaRPr lang="en-US" sz="727" dirty="0"/>
          </a:p>
        </p:txBody>
      </p:sp>
      <p:sp>
        <p:nvSpPr>
          <p:cNvPr id="14" name="Text 10"/>
          <p:cNvSpPr/>
          <p:nvPr/>
        </p:nvSpPr>
        <p:spPr>
          <a:xfrm>
            <a:off x="5214938" y="1642672"/>
            <a:ext cx="850106"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aux PME (35%).</a:t>
            </a:r>
            <a:endParaRPr lang="en-US" sz="727" dirty="0"/>
          </a:p>
        </p:txBody>
      </p:sp>
      <p:sp>
        <p:nvSpPr>
          <p:cNvPr id="15" name="Text 11"/>
          <p:cNvSpPr/>
          <p:nvPr/>
        </p:nvSpPr>
        <p:spPr>
          <a:xfrm>
            <a:off x="714375" y="2399798"/>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[3]</a:t>
            </a:r>
            <a:endParaRPr lang="en-US" sz="885" dirty="0"/>
          </a:p>
        </p:txBody>
      </p:sp>
      <p:sp>
        <p:nvSpPr>
          <p:cNvPr id="16" name="Text 12"/>
          <p:cNvSpPr/>
          <p:nvPr/>
        </p:nvSpPr>
        <p:spPr>
          <a:xfrm>
            <a:off x="1071563" y="2399798"/>
            <a:ext cx="3214688"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FFFFFF"/>
                </a:solidFill>
                <a:latin typeface="JetBrains Mono" pitchFamily="34" charset="0"/>
                <a:ea typeface="JetBrains Mono" pitchFamily="34" charset="-122"/>
                <a:cs typeface="JetBrains Mono" pitchFamily="34" charset="-120"/>
              </a:rPr>
              <a:t>Portail Marocain des Marchés Publics (PMMP)</a:t>
            </a:r>
            <a:endParaRPr lang="en-US" sz="683" dirty="0"/>
          </a:p>
        </p:txBody>
      </p:sp>
      <p:sp>
        <p:nvSpPr>
          <p:cNvPr id="17" name="Text 13"/>
          <p:cNvSpPr/>
          <p:nvPr/>
        </p:nvSpPr>
        <p:spPr>
          <a:xfrm>
            <a:off x="1071563" y="2608027"/>
            <a:ext cx="285392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Statistiques annuelles sur le volume des appels</a:t>
            </a:r>
            <a:endParaRPr lang="en-US" sz="727" dirty="0"/>
          </a:p>
        </p:txBody>
      </p:sp>
      <p:sp>
        <p:nvSpPr>
          <p:cNvPr id="18" name="Text 14"/>
          <p:cNvSpPr/>
          <p:nvPr/>
        </p:nvSpPr>
        <p:spPr>
          <a:xfrm>
            <a:off x="1071563" y="2768036"/>
            <a:ext cx="1032272"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d'offres publiés.</a:t>
            </a:r>
            <a:endParaRPr lang="en-US" sz="727" dirty="0"/>
          </a:p>
        </p:txBody>
      </p:sp>
      <p:sp>
        <p:nvSpPr>
          <p:cNvPr id="19" name="Text 15"/>
          <p:cNvSpPr/>
          <p:nvPr/>
        </p:nvSpPr>
        <p:spPr>
          <a:xfrm>
            <a:off x="4857750" y="2399798"/>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[4]</a:t>
            </a:r>
            <a:endParaRPr lang="en-US" sz="885" dirty="0"/>
          </a:p>
        </p:txBody>
      </p:sp>
      <p:sp>
        <p:nvSpPr>
          <p:cNvPr id="20" name="Text 16"/>
          <p:cNvSpPr/>
          <p:nvPr/>
        </p:nvSpPr>
        <p:spPr>
          <a:xfrm>
            <a:off x="5214938" y="2399798"/>
            <a:ext cx="3214688"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FFFFFF"/>
                </a:solidFill>
                <a:latin typeface="JetBrains Mono" pitchFamily="34" charset="0"/>
                <a:ea typeface="JetBrains Mono" pitchFamily="34" charset="-122"/>
                <a:cs typeface="JetBrains Mono" pitchFamily="34" charset="-120"/>
              </a:rPr>
              <a:t>Banque Mondiale (2020-2022)</a:t>
            </a:r>
            <a:endParaRPr lang="en-US" sz="683" dirty="0"/>
          </a:p>
        </p:txBody>
      </p:sp>
      <p:sp>
        <p:nvSpPr>
          <p:cNvPr id="21" name="Text 17"/>
          <p:cNvSpPr/>
          <p:nvPr/>
        </p:nvSpPr>
        <p:spPr>
          <a:xfrm>
            <a:off x="5214938" y="2608027"/>
            <a:ext cx="2428875"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Analyse de la concurrence : moyenne de 4</a:t>
            </a:r>
            <a:endParaRPr lang="en-US" sz="727" dirty="0"/>
          </a:p>
        </p:txBody>
      </p:sp>
      <p:sp>
        <p:nvSpPr>
          <p:cNvPr id="22" name="Text 18"/>
          <p:cNvSpPr/>
          <p:nvPr/>
        </p:nvSpPr>
        <p:spPr>
          <a:xfrm>
            <a:off x="5214938" y="2768036"/>
            <a:ext cx="1457325"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soumissionnaires par AO.</a:t>
            </a:r>
            <a:endParaRPr lang="en-US" sz="727" dirty="0"/>
          </a:p>
        </p:txBody>
      </p:sp>
      <p:sp>
        <p:nvSpPr>
          <p:cNvPr id="23" name="Text 19"/>
          <p:cNvSpPr/>
          <p:nvPr/>
        </p:nvSpPr>
        <p:spPr>
          <a:xfrm>
            <a:off x="714375" y="3525189"/>
            <a:ext cx="221289"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[5]</a:t>
            </a:r>
            <a:endParaRPr lang="en-US" sz="885" dirty="0"/>
          </a:p>
        </p:txBody>
      </p:sp>
      <p:sp>
        <p:nvSpPr>
          <p:cNvPr id="24" name="Text 20"/>
          <p:cNvSpPr/>
          <p:nvPr/>
        </p:nvSpPr>
        <p:spPr>
          <a:xfrm>
            <a:off x="1078539" y="3525189"/>
            <a:ext cx="3207711"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FFFFFF"/>
                </a:solidFill>
                <a:latin typeface="JetBrains Mono" pitchFamily="34" charset="0"/>
                <a:ea typeface="JetBrains Mono" pitchFamily="34" charset="-122"/>
                <a:cs typeface="JetBrains Mono" pitchFamily="34" charset="-120"/>
              </a:rPr>
              <a:t>Observatoire des Délais de Paiement (ODP)</a:t>
            </a:r>
            <a:endParaRPr lang="en-US" sz="683" dirty="0"/>
          </a:p>
        </p:txBody>
      </p:sp>
      <p:sp>
        <p:nvSpPr>
          <p:cNvPr id="25" name="Text 21"/>
          <p:cNvSpPr/>
          <p:nvPr/>
        </p:nvSpPr>
        <p:spPr>
          <a:xfrm>
            <a:off x="1078539" y="3733419"/>
            <a:ext cx="2914650"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Rapport annuel 2024 : délai moyen record de 17,5</a:t>
            </a:r>
            <a:endParaRPr lang="en-US" sz="727" dirty="0"/>
          </a:p>
        </p:txBody>
      </p:sp>
      <p:sp>
        <p:nvSpPr>
          <p:cNvPr id="26" name="Text 22"/>
          <p:cNvSpPr/>
          <p:nvPr/>
        </p:nvSpPr>
        <p:spPr>
          <a:xfrm>
            <a:off x="1078539" y="3893427"/>
            <a:ext cx="364331"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jours.</a:t>
            </a:r>
            <a:endParaRPr lang="en-US" sz="727" dirty="0"/>
          </a:p>
        </p:txBody>
      </p:sp>
      <p:sp>
        <p:nvSpPr>
          <p:cNvPr id="27" name="Text 23"/>
          <p:cNvSpPr/>
          <p:nvPr/>
        </p:nvSpPr>
        <p:spPr>
          <a:xfrm>
            <a:off x="4857750" y="3525189"/>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8BDF8"/>
                </a:solidFill>
                <a:latin typeface="JetBrains Mono" pitchFamily="34" charset="0"/>
                <a:ea typeface="JetBrains Mono" pitchFamily="34" charset="-122"/>
                <a:cs typeface="JetBrains Mono" pitchFamily="34" charset="-120"/>
              </a:rPr>
              <a:t>[6]</a:t>
            </a:r>
            <a:endParaRPr lang="en-US" sz="885" dirty="0"/>
          </a:p>
        </p:txBody>
      </p:sp>
      <p:sp>
        <p:nvSpPr>
          <p:cNvPr id="28" name="Text 24"/>
          <p:cNvSpPr/>
          <p:nvPr/>
        </p:nvSpPr>
        <p:spPr>
          <a:xfrm>
            <a:off x="5214938" y="3525189"/>
            <a:ext cx="3214688"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FFFFFF"/>
                </a:solidFill>
                <a:latin typeface="JetBrains Mono" pitchFamily="34" charset="0"/>
                <a:ea typeface="JetBrains Mono" pitchFamily="34" charset="-122"/>
                <a:cs typeface="JetBrains Mono" pitchFamily="34" charset="-120"/>
              </a:rPr>
              <a:t>Programme de Dématérialisation (PDCP)</a:t>
            </a:r>
            <a:endParaRPr lang="en-US" sz="683" dirty="0"/>
          </a:p>
        </p:txBody>
      </p:sp>
      <p:sp>
        <p:nvSpPr>
          <p:cNvPr id="29" name="Text 25"/>
          <p:cNvSpPr/>
          <p:nvPr/>
        </p:nvSpPr>
        <p:spPr>
          <a:xfrm>
            <a:off x="5214938" y="3733419"/>
            <a:ext cx="2975372"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Données sur la réduction des délais de traitement</a:t>
            </a:r>
            <a:endParaRPr lang="en-US" sz="727" dirty="0"/>
          </a:p>
        </p:txBody>
      </p:sp>
      <p:sp>
        <p:nvSpPr>
          <p:cNvPr id="30" name="Text 26"/>
          <p:cNvSpPr/>
          <p:nvPr/>
        </p:nvSpPr>
        <p:spPr>
          <a:xfrm>
            <a:off x="5214938" y="3893427"/>
            <a:ext cx="1153716"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94A3B8"/>
                </a:solidFill>
                <a:latin typeface="JetBrains Mono" pitchFamily="34" charset="0"/>
                <a:ea typeface="JetBrains Mono" pitchFamily="34" charset="-122"/>
                <a:cs typeface="JetBrains Mono" pitchFamily="34" charset="-120"/>
              </a:rPr>
              <a:t>via le système GID.</a:t>
            </a:r>
            <a:endParaRPr lang="en-US" sz="727" dirty="0"/>
          </a:p>
        </p:txBody>
      </p:sp>
      <p:sp>
        <p:nvSpPr>
          <p:cNvPr id="31" name="Text 27"/>
          <p:cNvSpPr/>
          <p:nvPr/>
        </p:nvSpPr>
        <p:spPr>
          <a:xfrm>
            <a:off x="0" y="4364831"/>
            <a:ext cx="9144000" cy="778669"/>
          </a:xfrm>
          <a:prstGeom prst="rect">
            <a:avLst/>
          </a:prstGeom>
          <a:noFill/>
          <a:ln/>
        </p:spPr>
        <p:txBody>
          <a:bodyPr wrap="square" lIns="850392" tIns="340233" rIns="850392" bIns="340233" rtlCol="0" anchor="t">
            <a:spAutoFit/>
          </a:bodyPr>
          <a:lstStyle/>
          <a:p>
            <a:pPr algn="r" indent="0" marL="0">
              <a:lnSpc>
                <a:spcPts val="1600"/>
              </a:lnSpc>
              <a:buNone/>
            </a:pPr>
            <a:r>
              <a:rPr lang="en-US" sz="1193" b="1" spc="-1" kern="0" dirty="0">
                <a:solidFill>
                  <a:srgbClr val="38BDF8">
                    <a:alpha val="20000"/>
                  </a:srgbClr>
                </a:solidFill>
                <a:latin typeface="Inter" pitchFamily="34" charset="0"/>
                <a:ea typeface="Inter" pitchFamily="34" charset="-122"/>
                <a:cs typeface="Inter" pitchFamily="34" charset="-120"/>
              </a:rPr>
              <a:t>C</a:t>
            </a:r>
            <a:pPr algn="r" indent="0" marL="0">
              <a:lnSpc>
                <a:spcPts val="1600"/>
              </a:lnSpc>
              <a:buNone/>
            </a:pPr>
            <a:r>
              <a:rPr lang="en-US" sz="1193" b="1" spc="-1" kern="0" dirty="0">
                <a:solidFill>
                  <a:srgbClr val="38BDF8">
                    <a:alpha val="20000"/>
                  </a:srgbClr>
                </a:solidFill>
                <a:latin typeface="Inter" pitchFamily="34" charset="0"/>
                <a:ea typeface="Inter" pitchFamily="34" charset="-122"/>
                <a:cs typeface="Inter" pitchFamily="34" charset="-120"/>
              </a:rPr>
              <a:t>.</a:t>
            </a:r>
            <a:pPr algn="r" indent="0" marL="0">
              <a:lnSpc>
                <a:spcPts val="1600"/>
              </a:lnSpc>
              <a:buNone/>
            </a:pPr>
            <a:r>
              <a:rPr lang="en-US" sz="1193" b="1" spc="-1" kern="0" dirty="0">
                <a:solidFill>
                  <a:srgbClr val="38BDF8">
                    <a:alpha val="20000"/>
                  </a:srgbClr>
                </a:solidFill>
                <a:latin typeface="Inter" pitchFamily="34" charset="0"/>
                <a:ea typeface="Inter" pitchFamily="34" charset="-122"/>
                <a:cs typeface="Inter" pitchFamily="34" charset="-120"/>
              </a:rPr>
              <a:t>EJ</a:t>
            </a:r>
            <a:endParaRPr lang="en-US" sz="119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2026-03-07T10:33:20Z</dcterms:created>
  <dcterms:modified xsi:type="dcterms:W3CDTF">2026-03-07T10:33:20Z</dcterms:modified>
</cp:coreProperties>
</file>